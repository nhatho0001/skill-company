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67"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Open Sans" panose="020B0606030504020204" pitchFamily="34" charset="0"/>
      <p:regular r:id="rId13"/>
      <p:bold r:id="rId14"/>
      <p:italic r:id="rId15"/>
      <p:boldItalic r:id="rId16"/>
    </p:embeddedFont>
    <p:embeddedFont>
      <p:font typeface="Open Sans Bold" panose="020B0806030504020204" pitchFamily="34" charset="0"/>
      <p:bold r:id="rId17"/>
    </p:embeddedFont>
    <p:embeddedFont>
      <p:font typeface="Verdana" panose="020B0604030504040204" pitchFamily="34" charset="0"/>
      <p:regular r:id="rId18"/>
      <p:bold r:id="rId19"/>
      <p:italic r:id="rId20"/>
      <p:boldItalic r:id="rId21"/>
    </p:embeddedFont>
  </p:embeddedFontLst>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4" d="100"/>
          <a:sy n="64" d="100"/>
        </p:scale>
        <p:origin x="115"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 Id="rId17" Type="http://schemas.openxmlformats.org/officeDocument/2006/relationships/font" Target="fonts/font5.fntdata"/><Relationship Id="rId18" Type="http://schemas.openxmlformats.org/officeDocument/2006/relationships/font" Target="fonts/font6.fntdata"/><Relationship Id="rId19" Type="http://schemas.openxmlformats.org/officeDocument/2006/relationships/font" Target="fonts/font7.fntdata"/><Relationship Id="rId20" Type="http://schemas.openxmlformats.org/officeDocument/2006/relationships/font" Target="fonts/font8.fntdata"/><Relationship Id="rId21" Type="http://schemas.openxmlformats.org/officeDocument/2006/relationships/font" Target="fonts/font9.fntdata"/><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41353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txBody>
          <a:bodyPr/>
          <a:lstStyle/>
          <a:p>
            <a:endParaRPr lang="vi-VN"/>
          </a:p>
        </p:txBody>
      </p:sp>
      <p:sp>
        <p:nvSpPr>
          <p:cNvPr id="3" name="Shape 1"/>
          <p:cNvSpPr/>
          <p:nvPr/>
        </p:nvSpPr>
        <p:spPr>
          <a:xfrm>
            <a:off x="0" y="0"/>
            <a:ext cx="14630400" cy="8229600"/>
          </a:xfrm>
          <a:prstGeom prst="rect">
            <a:avLst/>
          </a:prstGeom>
          <a:solidFill>
            <a:srgbClr val="FFFFFF"/>
          </a:solidFill>
          <a:ln/>
        </p:spPr>
        <p:txBody>
          <a:bodyPr/>
          <a:lstStyle/>
          <a:p>
            <a:endParaRPr lang="vi-V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1346836"/>
            <a:ext cx="12435840" cy="2865120"/>
          </a:xfrm>
        </p:spPr>
        <p:txBody>
          <a:bodyPr anchor="b"/>
          <a:lstStyle>
            <a:lvl1pPr algn="ctr">
              <a:defRPr sz="7200"/>
            </a:lvl1pPr>
          </a:lstStyle>
          <a:p>
            <a:r>
              <a:rPr lang="en-US"/>
              <a:t>Click to edit Master title style</a:t>
            </a:r>
            <a:endParaRPr lang="en-US" dirty="0"/>
          </a:p>
        </p:txBody>
      </p:sp>
      <p:sp>
        <p:nvSpPr>
          <p:cNvPr id="3" name="Subtitle 2"/>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B033A-2E39-4488-A683-FDAB6C7346A0}" type="datetime1">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6FAC11-6AC0-46CD-B7C6-37089ECA0AC1}" type="slidenum">
              <a:rPr lang="en-US" smtClean="0"/>
              <a:t>‹#›</a:t>
            </a:fld>
            <a:endParaRPr lang="en-US"/>
          </a:p>
        </p:txBody>
      </p:sp>
    </p:spTree>
    <p:extLst>
      <p:ext uri="{BB962C8B-B14F-4D97-AF65-F5344CB8AC3E}">
        <p14:creationId xmlns:p14="http://schemas.microsoft.com/office/powerpoint/2010/main" val="285425106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t="-4000" b="-17000"/>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4.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b="-17000"/>
          </a:stretch>
        </a:blipFill>
        <a:effectLst/>
      </p:bgPr>
    </p:bg>
    <p:spTree>
      <p:nvGrpSpPr>
        <p:cNvPr id="1" name=""/>
        <p:cNvGrpSpPr/>
        <p:nvPr/>
      </p:nvGrpSpPr>
      <p:grpSpPr>
        <a:xfrm>
          <a:off x="0" y="0"/>
          <a:ext cx="0" cy="0"/>
          <a:chOff x="0" y="0"/>
          <a:chExt cx="0" cy="0"/>
        </a:xfrm>
      </p:grpSpPr>
      <p:sp>
        <p:nvSpPr>
          <p:cNvPr id="4" name="Text Placeholder 2"/>
          <p:cNvSpPr txBox="1">
            <a:spLocks/>
          </p:cNvSpPr>
          <p:nvPr/>
        </p:nvSpPr>
        <p:spPr>
          <a:xfrm>
            <a:off x="2639833" y="2557009"/>
            <a:ext cx="9875520" cy="4525963"/>
          </a:xfrm>
          <a:prstGeom prst="rect">
            <a:avLst/>
          </a:prstGeom>
        </p:spPr>
        <p:txBody>
          <a:bodyPr vert="horz" lIns="109728" tIns="54864" rIns="109728" bIns="54864"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0"/>
              </a:spcBef>
            </a:pPr>
            <a:endParaRPr lang="en-US" sz="4200" dirty="0">
              <a:latin typeface="Arial" panose="020B0604020202020204" pitchFamily="34" charset="0"/>
              <a:cs typeface="Arial" panose="020B0604020202020204" pitchFamily="34" charset="0"/>
            </a:endParaRPr>
          </a:p>
          <a:p>
            <a:pPr>
              <a:spcBef>
                <a:spcPts val="0"/>
              </a:spcBef>
            </a:pPr>
            <a:r>
              <a:rPr lang="en-US" sz="3600" b="1" dirty="0">
                <a:solidFill>
                  <a:srgbClr val="0000CC"/>
                </a:solidFill>
                <a:latin typeface="Verdana" pitchFamily="34" charset="0"/>
                <a:ea typeface="Verdana" pitchFamily="34" charset="0"/>
                <a:cs typeface="Verdana" pitchFamily="34" charset="0"/>
              </a:rPr>
              <a:t>BÁO CÁO</a:t>
            </a:r>
          </a:p>
          <a:p>
            <a:pPr>
              <a:spcBef>
                <a:spcPts val="0"/>
              </a:spcBef>
            </a:pPr>
            <a:r>
              <a:rPr lang="en-US" sz="3840" b="1" dirty="0">
                <a:solidFill>
                  <a:srgbClr val="0000CC"/>
                </a:solidFill>
                <a:latin typeface="Arial" panose="020B0604020202020204" pitchFamily="34" charset="0"/>
                <a:cs typeface="Arial" panose="020B0604020202020204" pitchFamily="34" charset="0"/>
              </a:rPr>
              <a:t>KẾT QUẢ </a:t>
            </a:r>
            <a:r>
              <a:rPr lang="en-US" sz="3840" b="1" dirty="0" err="1">
                <a:solidFill>
                  <a:srgbClr val="0000CC"/>
                </a:solidFill>
                <a:latin typeface="Arial" panose="020B0604020202020204" pitchFamily="34" charset="0"/>
                <a:cs typeface="Arial" panose="020B0604020202020204" pitchFamily="34" charset="0"/>
              </a:rPr>
              <a:t>THÁNG</a:t>
            </a:r>
            <a:r>
              <a:rPr lang="en-US" sz="3840" b="1" dirty="0">
                <a:solidFill>
                  <a:srgbClr val="0000CC"/>
                </a:solidFill>
                <a:latin typeface="Arial" panose="020B0604020202020204" pitchFamily="34" charset="0"/>
                <a:cs typeface="Arial" panose="020B0604020202020204" pitchFamily="34" charset="0"/>
              </a:rPr>
              <a:t> 10/2025</a:t>
            </a:r>
            <a:br>
              <a:rPr lang="en-US" sz="3840" b="1" dirty="0">
                <a:solidFill>
                  <a:srgbClr val="0000CC"/>
                </a:solidFill>
                <a:latin typeface="Arial" panose="020B0604020202020204" pitchFamily="34" charset="0"/>
                <a:cs typeface="Arial" panose="020B0604020202020204" pitchFamily="34" charset="0"/>
              </a:rPr>
            </a:br>
            <a:r>
              <a:rPr lang="en-US" sz="3840" b="1" dirty="0">
                <a:solidFill>
                  <a:srgbClr val="0000CC"/>
                </a:solidFill>
                <a:latin typeface="Arial" panose="020B0604020202020204" pitchFamily="34" charset="0"/>
                <a:cs typeface="Arial" panose="020B0604020202020204" pitchFamily="34" charset="0"/>
              </a:rPr>
              <a:t>VÀ KẾ HOẠCH </a:t>
            </a:r>
            <a:r>
              <a:rPr lang="en-US" sz="3840" b="1" dirty="0" err="1">
                <a:solidFill>
                  <a:srgbClr val="0000CC"/>
                </a:solidFill>
                <a:latin typeface="Arial" panose="020B0604020202020204" pitchFamily="34" charset="0"/>
                <a:cs typeface="Arial" panose="020B0604020202020204" pitchFamily="34" charset="0"/>
              </a:rPr>
              <a:t>THÁNG</a:t>
            </a:r>
            <a:r>
              <a:rPr lang="en-US" sz="3840" b="1" dirty="0">
                <a:solidFill>
                  <a:srgbClr val="0000CC"/>
                </a:solidFill>
                <a:latin typeface="Arial" panose="020B0604020202020204" pitchFamily="34" charset="0"/>
                <a:cs typeface="Arial" panose="020B0604020202020204" pitchFamily="34" charset="0"/>
              </a:rPr>
              <a:t> 11/2025</a:t>
            </a:r>
          </a:p>
          <a:p>
            <a:pPr>
              <a:spcBef>
                <a:spcPts val="0"/>
              </a:spcBef>
            </a:pPr>
            <a:endParaRPr lang="en-US" sz="3840" b="1" dirty="0">
              <a:solidFill>
                <a:srgbClr val="0000CC"/>
              </a:solidFill>
              <a:latin typeface="Arial" panose="020B0604020202020204" pitchFamily="34" charset="0"/>
              <a:cs typeface="Arial" panose="020B0604020202020204" pitchFamily="34" charset="0"/>
            </a:endParaRPr>
          </a:p>
          <a:p>
            <a:pPr>
              <a:spcBef>
                <a:spcPts val="0"/>
              </a:spcBef>
            </a:pPr>
            <a:r>
              <a:rPr lang="en-US" sz="3840" b="1" dirty="0">
                <a:solidFill>
                  <a:srgbClr val="0000CC"/>
                </a:solidFill>
                <a:latin typeface="Arial" panose="020B0604020202020204" pitchFamily="34" charset="0"/>
                <a:cs typeface="Arial" panose="020B0604020202020204" pitchFamily="34" charset="0"/>
              </a:rPr>
              <a:t>PHÒNG CÔNG NGHỆ THÔNG TIN</a:t>
            </a:r>
          </a:p>
        </p:txBody>
      </p:sp>
    </p:spTree>
    <p:extLst>
      <p:ext uri="{BB962C8B-B14F-4D97-AF65-F5344CB8AC3E}">
        <p14:creationId xmlns:p14="http://schemas.microsoft.com/office/powerpoint/2010/main" val="3422568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anim calcmode="lin" valueType="num">
                                      <p:cBhvr additive="base">
                                        <p:cTn id="1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anim calcmode="lin" valueType="num">
                                      <p:cBhvr additive="base">
                                        <p:cTn id="1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name="Slide 2">
    <p:spTree>
      <p:nvGrpSpPr>
        <p:cNvPr id="1" name=""/>
        <p:cNvGrpSpPr/>
        <p:nvPr/>
      </p:nvGrpSpPr>
      <p:grpSpPr>
        <a:xfrm>
          <a:off x="0" y="0"/>
          <a:ext cx="0" cy="0"/>
          <a:chOff x="0" y="0"/>
          <a:chExt cx="0" cy="0"/>
        </a:xfrm>
      </p:grpSpPr>
      <p:sp>
        <p:nvSpPr>
          <p:cNvPr id="2" name="Text 0"/>
          <p:cNvSpPr/>
          <p:nvPr/>
        </p:nvSpPr>
        <p:spPr>
          <a:xfrm>
            <a:off x="793790" y="772954"/>
            <a:ext cx="10894219" cy="496133"/>
          </a:xfrm>
          <a:prstGeom prst="rect">
            <a:avLst/>
          </a:prstGeom>
          <a:noFill/>
          <a:ln/>
        </p:spPr>
        <p:txBody>
          <a:bodyPr wrap="none" lIns="0" tIns="0" rIns="0" bIns="0" rtlCol="0" anchor="t"/>
          <a:lstStyle/>
          <a:p>
            <a:pPr marL="0" indent="0" algn="l">
              <a:lnSpc>
                <a:spcPts val="3900"/>
              </a:lnSpc>
              <a:buNone/>
            </a:pPr>
            <a:r>
              <a:rPr lang="en-US" sz="3100" b="1" dirty="0">
                <a:solidFill>
                  <a:srgbClr val="FF0000"/>
                </a:solidFill>
                <a:latin typeface="Open Sans Bold" pitchFamily="34" charset="0"/>
                <a:ea typeface="Open Sans Bold" pitchFamily="34" charset="-122"/>
                <a:cs typeface="Open Sans Bold" pitchFamily="34" charset="-120"/>
              </a:rPr>
              <a:t>MỤC LỤC: CÁC HOẠT ĐỘNG TRỌNG TÂM TRONG THÁNG</a:t>
            </a:r>
            <a:endParaRPr lang="en-US" sz="3100" dirty="0"/>
          </a:p>
        </p:txBody>
      </p:sp>
      <p:sp>
        <p:nvSpPr>
          <p:cNvPr id="3" name="Text 1"/>
          <p:cNvSpPr/>
          <p:nvPr/>
        </p:nvSpPr>
        <p:spPr>
          <a:xfrm>
            <a:off x="793790" y="1586627"/>
            <a:ext cx="13042821" cy="254079"/>
          </a:xfrm>
          <a:prstGeom prst="rect">
            <a:avLst/>
          </a:prstGeom>
          <a:noFill/>
          <a:ln/>
        </p:spPr>
        <p:txBody>
          <a:bodyPr wrap="none" lIns="0" tIns="0" rIns="0" bIns="0" rtlCol="0" anchor="t"/>
          <a:lstStyle/>
          <a:p>
            <a:pPr marL="0" indent="0" algn="l">
              <a:lnSpc>
                <a:spcPts val="2000"/>
              </a:lnSpc>
              <a:buNone/>
            </a:pPr>
            <a:r>
              <a:rPr lang="en-US" sz="1250" dirty="0">
                <a:solidFill>
                  <a:srgbClr val="000099"/>
                </a:solidFill>
                <a:latin typeface="Open Sans" pitchFamily="34" charset="0"/>
                <a:ea typeface="Open Sans" pitchFamily="34" charset="-122"/>
                <a:cs typeface="Open Sans" pitchFamily="34" charset="-120"/>
              </a:rPr>
              <a:t>Báo cáo này tập trung vào các kết quả đã đạt được và kế hoạch hành động chính của Phòng CNTT trong tháng 10 và định hướng cho tháng 11.</a:t>
            </a:r>
            <a:endParaRPr lang="en-US" sz="1250" dirty="0"/>
          </a:p>
        </p:txBody>
      </p:sp>
      <p:sp>
        <p:nvSpPr>
          <p:cNvPr id="4" name="Shape 2"/>
          <p:cNvSpPr/>
          <p:nvPr/>
        </p:nvSpPr>
        <p:spPr>
          <a:xfrm>
            <a:off x="793790" y="2019300"/>
            <a:ext cx="13042821" cy="960477"/>
          </a:xfrm>
          <a:prstGeom prst="roundRect">
            <a:avLst>
              <a:gd name="adj" fmla="val 6943"/>
            </a:avLst>
          </a:prstGeom>
          <a:solidFill>
            <a:srgbClr val="FFFFFF"/>
          </a:solidFill>
          <a:ln w="22860">
            <a:solidFill>
              <a:srgbClr val="E5B2B2"/>
            </a:solidFill>
            <a:prstDash val="solid"/>
          </a:ln>
        </p:spPr>
        <p:txBody>
          <a:bodyPr/>
          <a:lstStyle/>
          <a:p>
            <a:endParaRPr lang="vi-VN"/>
          </a:p>
        </p:txBody>
      </p:sp>
      <p:sp>
        <p:nvSpPr>
          <p:cNvPr id="5" name="Shape 3"/>
          <p:cNvSpPr/>
          <p:nvPr/>
        </p:nvSpPr>
        <p:spPr>
          <a:xfrm>
            <a:off x="816650" y="2042160"/>
            <a:ext cx="635079" cy="914757"/>
          </a:xfrm>
          <a:prstGeom prst="roundRect">
            <a:avLst>
              <a:gd name="adj" fmla="val 6181"/>
            </a:avLst>
          </a:prstGeom>
          <a:solidFill>
            <a:srgbClr val="FFCCCC"/>
          </a:solidFill>
          <a:ln/>
        </p:spPr>
        <p:txBody>
          <a:bodyPr/>
          <a:lstStyle/>
          <a:p>
            <a:endParaRPr lang="vi-VN"/>
          </a:p>
        </p:txBody>
      </p:sp>
      <p:sp>
        <p:nvSpPr>
          <p:cNvPr id="6" name="Text 4"/>
          <p:cNvSpPr/>
          <p:nvPr/>
        </p:nvSpPr>
        <p:spPr>
          <a:xfrm>
            <a:off x="1011317" y="2350651"/>
            <a:ext cx="238125" cy="297656"/>
          </a:xfrm>
          <a:prstGeom prst="rect">
            <a:avLst/>
          </a:prstGeom>
          <a:noFill/>
          <a:ln/>
        </p:spPr>
        <p:txBody>
          <a:bodyPr wrap="none" lIns="0" tIns="0" rIns="0" bIns="0" rtlCol="0" anchor="t"/>
          <a:lstStyle/>
          <a:p>
            <a:pPr marL="0" indent="0" algn="l">
              <a:lnSpc>
                <a:spcPts val="1850"/>
              </a:lnSpc>
              <a:buNone/>
            </a:pPr>
            <a:r>
              <a:rPr lang="en-US" sz="1850" b="1" dirty="0">
                <a:solidFill>
                  <a:srgbClr val="000099"/>
                </a:solidFill>
                <a:latin typeface="Open Sans Bold" pitchFamily="34" charset="0"/>
                <a:ea typeface="Open Sans Bold" pitchFamily="34" charset="-122"/>
                <a:cs typeface="Open Sans Bold" pitchFamily="34" charset="-120"/>
              </a:rPr>
              <a:t>1</a:t>
            </a:r>
            <a:endParaRPr lang="en-US" sz="1850" dirty="0"/>
          </a:p>
        </p:txBody>
      </p:sp>
      <p:sp>
        <p:nvSpPr>
          <p:cNvPr id="7" name="Text 5"/>
          <p:cNvSpPr/>
          <p:nvPr/>
        </p:nvSpPr>
        <p:spPr>
          <a:xfrm>
            <a:off x="1610439" y="2200870"/>
            <a:ext cx="1984653" cy="248007"/>
          </a:xfrm>
          <a:prstGeom prst="rect">
            <a:avLst/>
          </a:prstGeom>
          <a:noFill/>
          <a:ln/>
        </p:spPr>
        <p:txBody>
          <a:bodyPr wrap="none" lIns="0" tIns="0" rIns="0" bIns="0" rtlCol="0" anchor="t"/>
          <a:lstStyle/>
          <a:p>
            <a:pPr marL="0" indent="0" algn="l">
              <a:lnSpc>
                <a:spcPts val="1950"/>
              </a:lnSpc>
              <a:buNone/>
            </a:pPr>
            <a:r>
              <a:rPr lang="en-US" sz="1550" b="1" dirty="0">
                <a:solidFill>
                  <a:srgbClr val="000099"/>
                </a:solidFill>
                <a:latin typeface="Open Sans Bold" pitchFamily="34" charset="0"/>
                <a:ea typeface="Open Sans Bold" pitchFamily="34" charset="-122"/>
                <a:cs typeface="Open Sans Bold" pitchFamily="34" charset="-120"/>
              </a:rPr>
              <a:t>A. Hạ tầng CNTT</a:t>
            </a:r>
            <a:endParaRPr lang="en-US" sz="1550" dirty="0"/>
          </a:p>
        </p:txBody>
      </p:sp>
      <p:sp>
        <p:nvSpPr>
          <p:cNvPr id="8" name="Text 6"/>
          <p:cNvSpPr/>
          <p:nvPr/>
        </p:nvSpPr>
        <p:spPr>
          <a:xfrm>
            <a:off x="1610439" y="2544128"/>
            <a:ext cx="12044601" cy="254079"/>
          </a:xfrm>
          <a:prstGeom prst="rect">
            <a:avLst/>
          </a:prstGeom>
          <a:noFill/>
          <a:ln/>
        </p:spPr>
        <p:txBody>
          <a:bodyPr wrap="none" lIns="0" tIns="0" rIns="0" bIns="0" rtlCol="0" anchor="t"/>
          <a:lstStyle/>
          <a:p>
            <a:pPr marL="0" indent="0" algn="l">
              <a:lnSpc>
                <a:spcPts val="2000"/>
              </a:lnSpc>
              <a:buNone/>
            </a:pPr>
            <a:r>
              <a:rPr lang="en-US" sz="1250" dirty="0">
                <a:solidFill>
                  <a:srgbClr val="000099"/>
                </a:solidFill>
                <a:latin typeface="Open Sans" pitchFamily="34" charset="0"/>
                <a:ea typeface="Open Sans" pitchFamily="34" charset="-122"/>
                <a:cs typeface="Open Sans" pitchFamily="34" charset="-120"/>
              </a:rPr>
              <a:t>Kết quả công việc Hệ thống Mạng, Server, Backup &amp; Bảo trì.</a:t>
            </a:r>
            <a:endParaRPr lang="en-US" sz="1250" dirty="0"/>
          </a:p>
        </p:txBody>
      </p:sp>
      <p:sp>
        <p:nvSpPr>
          <p:cNvPr id="9" name="Shape 7"/>
          <p:cNvSpPr/>
          <p:nvPr/>
        </p:nvSpPr>
        <p:spPr>
          <a:xfrm>
            <a:off x="793790" y="3138488"/>
            <a:ext cx="13042821" cy="960477"/>
          </a:xfrm>
          <a:prstGeom prst="roundRect">
            <a:avLst>
              <a:gd name="adj" fmla="val 6943"/>
            </a:avLst>
          </a:prstGeom>
          <a:solidFill>
            <a:srgbClr val="FFFFFF"/>
          </a:solidFill>
          <a:ln w="22860">
            <a:solidFill>
              <a:srgbClr val="E5B2B2"/>
            </a:solidFill>
            <a:prstDash val="solid"/>
          </a:ln>
        </p:spPr>
        <p:txBody>
          <a:bodyPr/>
          <a:lstStyle/>
          <a:p>
            <a:endParaRPr lang="vi-VN"/>
          </a:p>
        </p:txBody>
      </p:sp>
      <p:sp>
        <p:nvSpPr>
          <p:cNvPr id="10" name="Shape 8"/>
          <p:cNvSpPr/>
          <p:nvPr/>
        </p:nvSpPr>
        <p:spPr>
          <a:xfrm>
            <a:off x="816650" y="3161348"/>
            <a:ext cx="635079" cy="914757"/>
          </a:xfrm>
          <a:prstGeom prst="roundRect">
            <a:avLst>
              <a:gd name="adj" fmla="val 6181"/>
            </a:avLst>
          </a:prstGeom>
          <a:solidFill>
            <a:srgbClr val="FFCCCC"/>
          </a:solidFill>
          <a:ln/>
        </p:spPr>
        <p:txBody>
          <a:bodyPr/>
          <a:lstStyle/>
          <a:p>
            <a:endParaRPr lang="vi-VN"/>
          </a:p>
        </p:txBody>
      </p:sp>
      <p:sp>
        <p:nvSpPr>
          <p:cNvPr id="11" name="Text 9"/>
          <p:cNvSpPr/>
          <p:nvPr/>
        </p:nvSpPr>
        <p:spPr>
          <a:xfrm>
            <a:off x="1011317" y="3469838"/>
            <a:ext cx="238125" cy="297656"/>
          </a:xfrm>
          <a:prstGeom prst="rect">
            <a:avLst/>
          </a:prstGeom>
          <a:noFill/>
          <a:ln/>
        </p:spPr>
        <p:txBody>
          <a:bodyPr wrap="none" lIns="0" tIns="0" rIns="0" bIns="0" rtlCol="0" anchor="t"/>
          <a:lstStyle/>
          <a:p>
            <a:pPr marL="0" indent="0" algn="l">
              <a:lnSpc>
                <a:spcPts val="1850"/>
              </a:lnSpc>
              <a:buNone/>
            </a:pPr>
            <a:r>
              <a:rPr lang="en-US" sz="1850" b="1" dirty="0">
                <a:solidFill>
                  <a:srgbClr val="000099"/>
                </a:solidFill>
                <a:latin typeface="Open Sans Bold" pitchFamily="34" charset="0"/>
                <a:ea typeface="Open Sans Bold" pitchFamily="34" charset="-122"/>
                <a:cs typeface="Open Sans Bold" pitchFamily="34" charset="-120"/>
              </a:rPr>
              <a:t>2</a:t>
            </a:r>
            <a:endParaRPr lang="en-US" sz="1850" dirty="0"/>
          </a:p>
        </p:txBody>
      </p:sp>
      <p:sp>
        <p:nvSpPr>
          <p:cNvPr id="12" name="Text 10"/>
          <p:cNvSpPr/>
          <p:nvPr/>
        </p:nvSpPr>
        <p:spPr>
          <a:xfrm>
            <a:off x="1610439" y="3320058"/>
            <a:ext cx="1984653" cy="248007"/>
          </a:xfrm>
          <a:prstGeom prst="rect">
            <a:avLst/>
          </a:prstGeom>
          <a:noFill/>
          <a:ln/>
        </p:spPr>
        <p:txBody>
          <a:bodyPr wrap="none" lIns="0" tIns="0" rIns="0" bIns="0" rtlCol="0" anchor="t"/>
          <a:lstStyle/>
          <a:p>
            <a:pPr marL="0" indent="0" algn="l">
              <a:lnSpc>
                <a:spcPts val="1950"/>
              </a:lnSpc>
              <a:buNone/>
            </a:pPr>
            <a:r>
              <a:rPr lang="en-US" sz="1550" b="1" dirty="0">
                <a:solidFill>
                  <a:srgbClr val="000099"/>
                </a:solidFill>
                <a:latin typeface="Open Sans Bold" pitchFamily="34" charset="0"/>
                <a:ea typeface="Open Sans Bold" pitchFamily="34" charset="-122"/>
                <a:cs typeface="Open Sans Bold" pitchFamily="34" charset="-120"/>
              </a:rPr>
              <a:t>B. Hệ thống ERP</a:t>
            </a:r>
            <a:endParaRPr lang="en-US" sz="1550" dirty="0"/>
          </a:p>
        </p:txBody>
      </p:sp>
      <p:sp>
        <p:nvSpPr>
          <p:cNvPr id="13" name="Text 11"/>
          <p:cNvSpPr/>
          <p:nvPr/>
        </p:nvSpPr>
        <p:spPr>
          <a:xfrm>
            <a:off x="1610439" y="3663315"/>
            <a:ext cx="12044601" cy="254079"/>
          </a:xfrm>
          <a:prstGeom prst="rect">
            <a:avLst/>
          </a:prstGeom>
          <a:noFill/>
          <a:ln/>
        </p:spPr>
        <p:txBody>
          <a:bodyPr wrap="none" lIns="0" tIns="0" rIns="0" bIns="0" rtlCol="0" anchor="t"/>
          <a:lstStyle/>
          <a:p>
            <a:pPr marL="0" indent="0" algn="l">
              <a:lnSpc>
                <a:spcPts val="2000"/>
              </a:lnSpc>
              <a:buNone/>
            </a:pPr>
            <a:r>
              <a:rPr lang="en-US" sz="1250" dirty="0">
                <a:solidFill>
                  <a:srgbClr val="000099"/>
                </a:solidFill>
                <a:latin typeface="Open Sans" pitchFamily="34" charset="0"/>
                <a:ea typeface="Open Sans" pitchFamily="34" charset="-122"/>
                <a:cs typeface="Open Sans" pitchFamily="34" charset="-120"/>
              </a:rPr>
              <a:t>Vận hành, bảo trì, và tiến độ Nâng cấp hệ thống ERP cốt lõi.</a:t>
            </a:r>
            <a:endParaRPr lang="en-US" sz="1250" dirty="0"/>
          </a:p>
        </p:txBody>
      </p:sp>
      <p:sp>
        <p:nvSpPr>
          <p:cNvPr id="14" name="Shape 12"/>
          <p:cNvSpPr/>
          <p:nvPr/>
        </p:nvSpPr>
        <p:spPr>
          <a:xfrm>
            <a:off x="793790" y="4257675"/>
            <a:ext cx="13042821" cy="960477"/>
          </a:xfrm>
          <a:prstGeom prst="roundRect">
            <a:avLst>
              <a:gd name="adj" fmla="val 6943"/>
            </a:avLst>
          </a:prstGeom>
          <a:solidFill>
            <a:srgbClr val="FFFFFF"/>
          </a:solidFill>
          <a:ln w="22860">
            <a:solidFill>
              <a:srgbClr val="E5B2B2"/>
            </a:solidFill>
            <a:prstDash val="solid"/>
          </a:ln>
        </p:spPr>
        <p:txBody>
          <a:bodyPr/>
          <a:lstStyle/>
          <a:p>
            <a:endParaRPr lang="vi-VN"/>
          </a:p>
        </p:txBody>
      </p:sp>
      <p:sp>
        <p:nvSpPr>
          <p:cNvPr id="15" name="Shape 13"/>
          <p:cNvSpPr/>
          <p:nvPr/>
        </p:nvSpPr>
        <p:spPr>
          <a:xfrm>
            <a:off x="816650" y="4280535"/>
            <a:ext cx="635079" cy="914757"/>
          </a:xfrm>
          <a:prstGeom prst="roundRect">
            <a:avLst>
              <a:gd name="adj" fmla="val 6181"/>
            </a:avLst>
          </a:prstGeom>
          <a:solidFill>
            <a:srgbClr val="FFCCCC"/>
          </a:solidFill>
          <a:ln/>
        </p:spPr>
        <p:txBody>
          <a:bodyPr/>
          <a:lstStyle/>
          <a:p>
            <a:endParaRPr lang="vi-VN"/>
          </a:p>
        </p:txBody>
      </p:sp>
      <p:sp>
        <p:nvSpPr>
          <p:cNvPr id="16" name="Text 14"/>
          <p:cNvSpPr/>
          <p:nvPr/>
        </p:nvSpPr>
        <p:spPr>
          <a:xfrm>
            <a:off x="1011317" y="4589026"/>
            <a:ext cx="238125" cy="297656"/>
          </a:xfrm>
          <a:prstGeom prst="rect">
            <a:avLst/>
          </a:prstGeom>
          <a:noFill/>
          <a:ln/>
        </p:spPr>
        <p:txBody>
          <a:bodyPr wrap="none" lIns="0" tIns="0" rIns="0" bIns="0" rtlCol="0" anchor="t"/>
          <a:lstStyle/>
          <a:p>
            <a:pPr marL="0" indent="0" algn="l">
              <a:lnSpc>
                <a:spcPts val="1850"/>
              </a:lnSpc>
              <a:buNone/>
            </a:pPr>
            <a:r>
              <a:rPr lang="en-US" sz="1850" b="1" dirty="0">
                <a:solidFill>
                  <a:srgbClr val="000099"/>
                </a:solidFill>
                <a:latin typeface="Open Sans Bold" pitchFamily="34" charset="0"/>
                <a:ea typeface="Open Sans Bold" pitchFamily="34" charset="-122"/>
                <a:cs typeface="Open Sans Bold" pitchFamily="34" charset="-120"/>
              </a:rPr>
              <a:t>3</a:t>
            </a:r>
            <a:endParaRPr lang="en-US" sz="1850" dirty="0"/>
          </a:p>
        </p:txBody>
      </p:sp>
      <p:sp>
        <p:nvSpPr>
          <p:cNvPr id="17" name="Text 15"/>
          <p:cNvSpPr/>
          <p:nvPr/>
        </p:nvSpPr>
        <p:spPr>
          <a:xfrm>
            <a:off x="1610439" y="4439245"/>
            <a:ext cx="2304931" cy="248007"/>
          </a:xfrm>
          <a:prstGeom prst="rect">
            <a:avLst/>
          </a:prstGeom>
          <a:noFill/>
          <a:ln/>
        </p:spPr>
        <p:txBody>
          <a:bodyPr wrap="none" lIns="0" tIns="0" rIns="0" bIns="0" rtlCol="0" anchor="t"/>
          <a:lstStyle/>
          <a:p>
            <a:pPr marL="0" indent="0" algn="l">
              <a:lnSpc>
                <a:spcPts val="1950"/>
              </a:lnSpc>
              <a:buNone/>
            </a:pPr>
            <a:r>
              <a:rPr lang="en-US" sz="1550" b="1" dirty="0">
                <a:solidFill>
                  <a:srgbClr val="000099"/>
                </a:solidFill>
                <a:latin typeface="Open Sans Bold" pitchFamily="34" charset="0"/>
                <a:ea typeface="Open Sans Bold" pitchFamily="34" charset="-122"/>
                <a:cs typeface="Open Sans Bold" pitchFamily="34" charset="-120"/>
              </a:rPr>
              <a:t>C. Eoffice – HCM &amp; Khác</a:t>
            </a:r>
            <a:endParaRPr lang="en-US" sz="1550" dirty="0"/>
          </a:p>
        </p:txBody>
      </p:sp>
      <p:sp>
        <p:nvSpPr>
          <p:cNvPr id="18" name="Text 16"/>
          <p:cNvSpPr/>
          <p:nvPr/>
        </p:nvSpPr>
        <p:spPr>
          <a:xfrm>
            <a:off x="1610439" y="4782503"/>
            <a:ext cx="12044601" cy="254079"/>
          </a:xfrm>
          <a:prstGeom prst="rect">
            <a:avLst/>
          </a:prstGeom>
          <a:noFill/>
          <a:ln/>
        </p:spPr>
        <p:txBody>
          <a:bodyPr wrap="none" lIns="0" tIns="0" rIns="0" bIns="0" rtlCol="0" anchor="t"/>
          <a:lstStyle/>
          <a:p>
            <a:pPr marL="0" indent="0" algn="l">
              <a:lnSpc>
                <a:spcPts val="2000"/>
              </a:lnSpc>
              <a:buNone/>
            </a:pPr>
            <a:r>
              <a:rPr lang="en-US" sz="1250" dirty="0">
                <a:solidFill>
                  <a:srgbClr val="000099"/>
                </a:solidFill>
                <a:latin typeface="Open Sans" pitchFamily="34" charset="0"/>
                <a:ea typeface="Open Sans" pitchFamily="34" charset="-122"/>
                <a:cs typeface="Open Sans" pitchFamily="34" charset="-120"/>
              </a:rPr>
              <a:t>Cập nhật các điều chỉnh hệ thống nhân sự và quản lý văn phòng.</a:t>
            </a:r>
            <a:endParaRPr lang="en-US" sz="1250" dirty="0"/>
          </a:p>
        </p:txBody>
      </p:sp>
      <p:sp>
        <p:nvSpPr>
          <p:cNvPr id="19" name="Shape 17"/>
          <p:cNvSpPr/>
          <p:nvPr/>
        </p:nvSpPr>
        <p:spPr>
          <a:xfrm>
            <a:off x="793790" y="5376863"/>
            <a:ext cx="13042821" cy="960477"/>
          </a:xfrm>
          <a:prstGeom prst="roundRect">
            <a:avLst>
              <a:gd name="adj" fmla="val 6943"/>
            </a:avLst>
          </a:prstGeom>
          <a:solidFill>
            <a:srgbClr val="FFFFFF"/>
          </a:solidFill>
          <a:ln w="22860">
            <a:solidFill>
              <a:srgbClr val="E5B2B2"/>
            </a:solidFill>
            <a:prstDash val="solid"/>
          </a:ln>
        </p:spPr>
        <p:txBody>
          <a:bodyPr/>
          <a:lstStyle/>
          <a:p>
            <a:endParaRPr lang="vi-VN"/>
          </a:p>
        </p:txBody>
      </p:sp>
      <p:sp>
        <p:nvSpPr>
          <p:cNvPr id="20" name="Shape 18"/>
          <p:cNvSpPr/>
          <p:nvPr/>
        </p:nvSpPr>
        <p:spPr>
          <a:xfrm>
            <a:off x="816650" y="5399723"/>
            <a:ext cx="635079" cy="914757"/>
          </a:xfrm>
          <a:prstGeom prst="roundRect">
            <a:avLst>
              <a:gd name="adj" fmla="val 6181"/>
            </a:avLst>
          </a:prstGeom>
          <a:solidFill>
            <a:srgbClr val="FFCCCC"/>
          </a:solidFill>
          <a:ln/>
        </p:spPr>
        <p:txBody>
          <a:bodyPr/>
          <a:lstStyle/>
          <a:p>
            <a:endParaRPr lang="vi-VN"/>
          </a:p>
        </p:txBody>
      </p:sp>
      <p:sp>
        <p:nvSpPr>
          <p:cNvPr id="21" name="Text 19"/>
          <p:cNvSpPr/>
          <p:nvPr/>
        </p:nvSpPr>
        <p:spPr>
          <a:xfrm>
            <a:off x="1011317" y="5708213"/>
            <a:ext cx="238125" cy="297656"/>
          </a:xfrm>
          <a:prstGeom prst="rect">
            <a:avLst/>
          </a:prstGeom>
          <a:noFill/>
          <a:ln/>
        </p:spPr>
        <p:txBody>
          <a:bodyPr wrap="none" lIns="0" tIns="0" rIns="0" bIns="0" rtlCol="0" anchor="t"/>
          <a:lstStyle/>
          <a:p>
            <a:pPr marL="0" indent="0" algn="l">
              <a:lnSpc>
                <a:spcPts val="1850"/>
              </a:lnSpc>
              <a:buNone/>
            </a:pPr>
            <a:r>
              <a:rPr lang="en-US" sz="1850" b="1" dirty="0">
                <a:solidFill>
                  <a:srgbClr val="000099"/>
                </a:solidFill>
                <a:latin typeface="Open Sans Bold" pitchFamily="34" charset="0"/>
                <a:ea typeface="Open Sans Bold" pitchFamily="34" charset="-122"/>
                <a:cs typeface="Open Sans Bold" pitchFamily="34" charset="-120"/>
              </a:rPr>
              <a:t>4</a:t>
            </a:r>
            <a:endParaRPr lang="en-US" sz="1850" dirty="0"/>
          </a:p>
        </p:txBody>
      </p:sp>
      <p:sp>
        <p:nvSpPr>
          <p:cNvPr id="22" name="Text 20"/>
          <p:cNvSpPr/>
          <p:nvPr/>
        </p:nvSpPr>
        <p:spPr>
          <a:xfrm>
            <a:off x="1610439" y="5558433"/>
            <a:ext cx="2093357" cy="248007"/>
          </a:xfrm>
          <a:prstGeom prst="rect">
            <a:avLst/>
          </a:prstGeom>
          <a:noFill/>
          <a:ln/>
        </p:spPr>
        <p:txBody>
          <a:bodyPr wrap="none" lIns="0" tIns="0" rIns="0" bIns="0" rtlCol="0" anchor="t"/>
          <a:lstStyle/>
          <a:p>
            <a:pPr marL="0" indent="0" algn="l">
              <a:lnSpc>
                <a:spcPts val="1950"/>
              </a:lnSpc>
              <a:buNone/>
            </a:pPr>
            <a:r>
              <a:rPr lang="en-US" sz="1550" b="1" dirty="0">
                <a:solidFill>
                  <a:srgbClr val="000099"/>
                </a:solidFill>
                <a:latin typeface="Open Sans Bold" pitchFamily="34" charset="0"/>
                <a:ea typeface="Open Sans Bold" pitchFamily="34" charset="-122"/>
                <a:cs typeface="Open Sans Bold" pitchFamily="34" charset="-120"/>
              </a:rPr>
              <a:t>D. Chuyển đổi số &amp; AI</a:t>
            </a:r>
            <a:endParaRPr lang="en-US" sz="1550" dirty="0"/>
          </a:p>
        </p:txBody>
      </p:sp>
      <p:sp>
        <p:nvSpPr>
          <p:cNvPr id="23" name="Text 21"/>
          <p:cNvSpPr/>
          <p:nvPr/>
        </p:nvSpPr>
        <p:spPr>
          <a:xfrm>
            <a:off x="1610439" y="5901690"/>
            <a:ext cx="12044601" cy="254079"/>
          </a:xfrm>
          <a:prstGeom prst="rect">
            <a:avLst/>
          </a:prstGeom>
          <a:noFill/>
          <a:ln/>
        </p:spPr>
        <p:txBody>
          <a:bodyPr wrap="none" lIns="0" tIns="0" rIns="0" bIns="0" rtlCol="0" anchor="t"/>
          <a:lstStyle/>
          <a:p>
            <a:pPr marL="0" indent="0" algn="l">
              <a:lnSpc>
                <a:spcPts val="2000"/>
              </a:lnSpc>
              <a:buNone/>
            </a:pPr>
            <a:r>
              <a:rPr lang="en-US" sz="1250" dirty="0">
                <a:solidFill>
                  <a:srgbClr val="000099"/>
                </a:solidFill>
                <a:latin typeface="Open Sans" pitchFamily="34" charset="0"/>
                <a:ea typeface="Open Sans" pitchFamily="34" charset="-122"/>
                <a:cs typeface="Open Sans" pitchFamily="34" charset="-120"/>
              </a:rPr>
              <a:t>Các hoạt động liên quan đến Sáng kiến Chuyển đổi số và AI.</a:t>
            </a:r>
            <a:endParaRPr lang="en-US" sz="1250" dirty="0"/>
          </a:p>
        </p:txBody>
      </p:sp>
      <p:sp>
        <p:nvSpPr>
          <p:cNvPr id="24" name="Shape 22"/>
          <p:cNvSpPr/>
          <p:nvPr/>
        </p:nvSpPr>
        <p:spPr>
          <a:xfrm>
            <a:off x="793790" y="6496050"/>
            <a:ext cx="13042821" cy="960477"/>
          </a:xfrm>
          <a:prstGeom prst="roundRect">
            <a:avLst>
              <a:gd name="adj" fmla="val 6943"/>
            </a:avLst>
          </a:prstGeom>
          <a:solidFill>
            <a:srgbClr val="FFFFFF"/>
          </a:solidFill>
          <a:ln w="22860">
            <a:solidFill>
              <a:srgbClr val="E5B2B2"/>
            </a:solidFill>
            <a:prstDash val="solid"/>
          </a:ln>
        </p:spPr>
        <p:txBody>
          <a:bodyPr/>
          <a:lstStyle/>
          <a:p>
            <a:endParaRPr lang="vi-VN"/>
          </a:p>
        </p:txBody>
      </p:sp>
      <p:sp>
        <p:nvSpPr>
          <p:cNvPr id="25" name="Shape 23"/>
          <p:cNvSpPr/>
          <p:nvPr/>
        </p:nvSpPr>
        <p:spPr>
          <a:xfrm>
            <a:off x="816650" y="6518910"/>
            <a:ext cx="635079" cy="914757"/>
          </a:xfrm>
          <a:prstGeom prst="roundRect">
            <a:avLst>
              <a:gd name="adj" fmla="val 6181"/>
            </a:avLst>
          </a:prstGeom>
          <a:solidFill>
            <a:srgbClr val="FFCCCC"/>
          </a:solidFill>
          <a:ln/>
        </p:spPr>
        <p:txBody>
          <a:bodyPr/>
          <a:lstStyle/>
          <a:p>
            <a:endParaRPr lang="vi-VN"/>
          </a:p>
        </p:txBody>
      </p:sp>
      <p:sp>
        <p:nvSpPr>
          <p:cNvPr id="26" name="Text 24"/>
          <p:cNvSpPr/>
          <p:nvPr/>
        </p:nvSpPr>
        <p:spPr>
          <a:xfrm>
            <a:off x="1011317" y="6827401"/>
            <a:ext cx="238125" cy="297656"/>
          </a:xfrm>
          <a:prstGeom prst="rect">
            <a:avLst/>
          </a:prstGeom>
          <a:noFill/>
          <a:ln/>
        </p:spPr>
        <p:txBody>
          <a:bodyPr wrap="none" lIns="0" tIns="0" rIns="0" bIns="0" rtlCol="0" anchor="t"/>
          <a:lstStyle/>
          <a:p>
            <a:pPr marL="0" indent="0" algn="l">
              <a:lnSpc>
                <a:spcPts val="1850"/>
              </a:lnSpc>
              <a:buNone/>
            </a:pPr>
            <a:r>
              <a:rPr lang="en-US" sz="1850" b="1" dirty="0">
                <a:solidFill>
                  <a:srgbClr val="000099"/>
                </a:solidFill>
                <a:latin typeface="Open Sans Bold" pitchFamily="34" charset="0"/>
                <a:ea typeface="Open Sans Bold" pitchFamily="34" charset="-122"/>
                <a:cs typeface="Open Sans Bold" pitchFamily="34" charset="-120"/>
              </a:rPr>
              <a:t>5</a:t>
            </a:r>
            <a:endParaRPr lang="en-US" sz="1850" dirty="0"/>
          </a:p>
        </p:txBody>
      </p:sp>
      <p:sp>
        <p:nvSpPr>
          <p:cNvPr id="27" name="Text 25"/>
          <p:cNvSpPr/>
          <p:nvPr/>
        </p:nvSpPr>
        <p:spPr>
          <a:xfrm>
            <a:off x="1610439" y="6677620"/>
            <a:ext cx="3227784" cy="248007"/>
          </a:xfrm>
          <a:prstGeom prst="rect">
            <a:avLst/>
          </a:prstGeom>
          <a:noFill/>
          <a:ln/>
        </p:spPr>
        <p:txBody>
          <a:bodyPr wrap="none" lIns="0" tIns="0" rIns="0" bIns="0" rtlCol="0" anchor="t"/>
          <a:lstStyle/>
          <a:p>
            <a:pPr marL="0" indent="0" algn="l">
              <a:lnSpc>
                <a:spcPts val="1950"/>
              </a:lnSpc>
              <a:buNone/>
            </a:pPr>
            <a:r>
              <a:rPr lang="en-US" sz="1550" b="1" dirty="0">
                <a:solidFill>
                  <a:srgbClr val="000099"/>
                </a:solidFill>
                <a:latin typeface="Open Sans Bold" pitchFamily="34" charset="0"/>
                <a:ea typeface="Open Sans Bold" pitchFamily="34" charset="-122"/>
                <a:cs typeface="Open Sans Bold" pitchFamily="34" charset="-120"/>
              </a:rPr>
              <a:t>E. Tồn đọng &amp; Kế hoạch Tháng 11</a:t>
            </a:r>
            <a:endParaRPr lang="en-US" sz="1550" dirty="0"/>
          </a:p>
        </p:txBody>
      </p:sp>
      <p:sp>
        <p:nvSpPr>
          <p:cNvPr id="28" name="Text 26"/>
          <p:cNvSpPr/>
          <p:nvPr/>
        </p:nvSpPr>
        <p:spPr>
          <a:xfrm>
            <a:off x="1610439" y="7020878"/>
            <a:ext cx="12044601" cy="254079"/>
          </a:xfrm>
          <a:prstGeom prst="rect">
            <a:avLst/>
          </a:prstGeom>
          <a:noFill/>
          <a:ln/>
        </p:spPr>
        <p:txBody>
          <a:bodyPr wrap="none" lIns="0" tIns="0" rIns="0" bIns="0" rtlCol="0" anchor="t"/>
          <a:lstStyle/>
          <a:p>
            <a:pPr marL="0" indent="0" algn="l">
              <a:lnSpc>
                <a:spcPts val="2000"/>
              </a:lnSpc>
              <a:buNone/>
            </a:pPr>
            <a:r>
              <a:rPr lang="en-US" sz="1250" dirty="0">
                <a:solidFill>
                  <a:srgbClr val="000099"/>
                </a:solidFill>
                <a:latin typeface="Open Sans" pitchFamily="34" charset="0"/>
                <a:ea typeface="Open Sans" pitchFamily="34" charset="-122"/>
                <a:cs typeface="Open Sans" pitchFamily="34" charset="-120"/>
              </a:rPr>
              <a:t>Tổng hợp các vấn đề tồn đọng và định hướng công việc sắp tới.</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name="Slide 3">
    <p:spTree>
      <p:nvGrpSpPr>
        <p:cNvPr id="1" name=""/>
        <p:cNvGrpSpPr/>
        <p:nvPr/>
      </p:nvGrpSpPr>
      <p:grpSpPr>
        <a:xfrm>
          <a:off x="0" y="0"/>
          <a:ext cx="0" cy="0"/>
          <a:chOff x="0" y="0"/>
          <a:chExt cx="0" cy="0"/>
        </a:xfrm>
      </p:grpSpPr>
      <p:sp>
        <p:nvSpPr>
          <p:cNvPr id="2" name="Text 0"/>
          <p:cNvSpPr/>
          <p:nvPr/>
        </p:nvSpPr>
        <p:spPr>
          <a:xfrm>
            <a:off x="632103" y="496610"/>
            <a:ext cx="6434138" cy="410289"/>
          </a:xfrm>
          <a:prstGeom prst="rect">
            <a:avLst/>
          </a:prstGeom>
          <a:noFill/>
          <a:ln/>
        </p:spPr>
        <p:txBody>
          <a:bodyPr wrap="none" lIns="0" tIns="0" rIns="0" bIns="0" rtlCol="0" anchor="t"/>
          <a:lstStyle/>
          <a:p>
            <a:pPr marL="0" indent="0" algn="l">
              <a:lnSpc>
                <a:spcPts val="3100"/>
              </a:lnSpc>
              <a:buNone/>
            </a:pPr>
            <a:r>
              <a:rPr lang="en-US" sz="2450" b="1" dirty="0">
                <a:solidFill>
                  <a:srgbClr val="FF0000"/>
                </a:solidFill>
                <a:latin typeface="Open Sans Bold" pitchFamily="34" charset="0"/>
                <a:ea typeface="Open Sans Bold" pitchFamily="34" charset="-122"/>
                <a:cs typeface="Open Sans Bold" pitchFamily="34" charset="-120"/>
              </a:rPr>
              <a:t>A. KẾT QUẢ CÔNG VIỆC HẠ TẦNG CNTT </a:t>
            </a:r>
            <a:r>
              <a:rPr lang="en-US" sz="2450" b="1" dirty="0">
                <a:solidFill>
                  <a:srgbClr val="000000"/>
                </a:solidFill>
                <a:latin typeface="Open Sans Bold" pitchFamily="34" charset="0"/>
                <a:ea typeface="Open Sans Bold" pitchFamily="34" charset="-122"/>
                <a:cs typeface="Open Sans Bold" pitchFamily="34" charset="-120"/>
              </a:rPr>
              <a:t>🛠️</a:t>
            </a:r>
            <a:endParaRPr lang="en-US" sz="24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9490" y="1417320"/>
            <a:ext cx="189548" cy="189548"/>
          </a:xfrm>
          <a:prstGeom prst="rect">
            <a:avLst/>
          </a:prstGeom>
        </p:spPr>
      </p:pic>
      <p:sp>
        <p:nvSpPr>
          <p:cNvPr id="4" name="Text 1"/>
          <p:cNvSpPr/>
          <p:nvPr/>
        </p:nvSpPr>
        <p:spPr>
          <a:xfrm>
            <a:off x="1042868" y="1371600"/>
            <a:ext cx="7955279" cy="320040"/>
          </a:xfrm>
          <a:prstGeom prst="rect">
            <a:avLst/>
          </a:prstGeom>
          <a:noFill/>
          <a:ln/>
        </p:spPr>
        <p:txBody>
          <a:bodyPr wrap="none" lIns="0" tIns="0" rIns="0" bIns="0" rtlCol="0" anchor="t"/>
          <a:lstStyle/>
          <a:p>
            <a:pPr marL="0" indent="0" algn="l">
              <a:lnSpc>
                <a:spcPts val="1550"/>
              </a:lnSpc>
              <a:buNone/>
            </a:pPr>
            <a:r>
              <a:rPr lang="en-US" sz="1500" b="1" dirty="0">
                <a:solidFill>
                  <a:srgbClr val="000099"/>
                </a:solidFill>
                <a:latin typeface="Open Sans Bold" pitchFamily="34" charset="0"/>
                <a:ea typeface="Open Sans Bold" pitchFamily="34" charset="-122"/>
                <a:cs typeface="Open Sans Bold" pitchFamily="34" charset="-120"/>
              </a:rPr>
              <a:t>Hệ thống Mạng &amp; Server</a:t>
            </a:r>
            <a:endParaRPr lang="en-US" sz="1200" dirty="0"/>
          </a:p>
        </p:txBody>
      </p:sp>
      <p:sp>
        <p:nvSpPr>
          <p:cNvPr id="5" name="Text 2"/>
          <p:cNvSpPr/>
          <p:nvPr/>
        </p:nvSpPr>
        <p:spPr>
          <a:xfrm>
            <a:off x="1042868" y="1737360"/>
            <a:ext cx="7955279" cy="594360"/>
          </a:xfrm>
          <a:prstGeom prst="rect">
            <a:avLst/>
          </a:prstGeom>
          <a:noFill/>
          <a:ln/>
        </p:spPr>
        <p:txBody>
          <a:bodyPr wrap="square" lIns="0" tIns="0" rIns="0" bIns="0" rtlCol="0" anchor="t">
            <a:noAutofit/>
          </a:bodyPr>
          <a:lstStyle/>
          <a:p>
            <a:pPr marL="0" indent="0" algn="l">
              <a:lnSpc>
                <a:spcPts val="1550"/>
              </a:lnSpc>
              <a:buNone/>
            </a:pPr>
            <a:r>
              <a:rPr lang="en-US" sz="1300" dirty="0">
                <a:solidFill>
                  <a:srgbClr val="000099"/>
                </a:solidFill>
                <a:latin typeface="Open Sans" pitchFamily="34" charset="0"/>
                <a:ea typeface="Open Sans" pitchFamily="34" charset="-122"/>
                <a:cs typeface="Open Sans" pitchFamily="34" charset="-120"/>
              </a:rPr>
              <a:t>Các site hoạt động ổn định. Đã cấu hình liên kết mail phê duyệt EBS và chuyển Backup app 8007 qua Sanbox APP để tối ưu hóa tài nguyên.</a:t>
            </a:r>
            <a:endParaRPr lang="en-US" sz="9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9490" y="2377440"/>
            <a:ext cx="189548" cy="189548"/>
          </a:xfrm>
          <a:prstGeom prst="rect">
            <a:avLst/>
          </a:prstGeom>
        </p:spPr>
      </p:pic>
      <p:sp>
        <p:nvSpPr>
          <p:cNvPr id="7" name="Text 3"/>
          <p:cNvSpPr/>
          <p:nvPr/>
        </p:nvSpPr>
        <p:spPr>
          <a:xfrm>
            <a:off x="1042868" y="2331720"/>
            <a:ext cx="7955279" cy="320040"/>
          </a:xfrm>
          <a:prstGeom prst="rect">
            <a:avLst/>
          </a:prstGeom>
          <a:noFill/>
          <a:ln/>
        </p:spPr>
        <p:txBody>
          <a:bodyPr wrap="none" lIns="0" tIns="0" rIns="0" bIns="0" rtlCol="0" anchor="t"/>
          <a:lstStyle/>
          <a:p>
            <a:pPr marL="0" indent="0" algn="l">
              <a:lnSpc>
                <a:spcPts val="1550"/>
              </a:lnSpc>
              <a:buNone/>
            </a:pPr>
            <a:r>
              <a:rPr lang="en-US" sz="1500" b="1" dirty="0">
                <a:solidFill>
                  <a:srgbClr val="000099"/>
                </a:solidFill>
                <a:latin typeface="Open Sans Bold" pitchFamily="34" charset="0"/>
                <a:ea typeface="Open Sans Bold" pitchFamily="34" charset="-122"/>
                <a:cs typeface="Open Sans Bold" pitchFamily="34" charset="-120"/>
              </a:rPr>
              <a:t>Backup &amp; Lưu trữ</a:t>
            </a:r>
            <a:endParaRPr lang="en-US" sz="1200" dirty="0"/>
          </a:p>
        </p:txBody>
      </p:sp>
      <p:sp>
        <p:nvSpPr>
          <p:cNvPr id="8" name="Text 4"/>
          <p:cNvSpPr/>
          <p:nvPr/>
        </p:nvSpPr>
        <p:spPr>
          <a:xfrm>
            <a:off x="1042868" y="2697480"/>
            <a:ext cx="7955279" cy="594360"/>
          </a:xfrm>
          <a:prstGeom prst="rect">
            <a:avLst/>
          </a:prstGeom>
          <a:noFill/>
          <a:ln/>
        </p:spPr>
        <p:txBody>
          <a:bodyPr wrap="square" lIns="0" tIns="0" rIns="0" bIns="0" rtlCol="0" anchor="t">
            <a:noAutofit/>
          </a:bodyPr>
          <a:lstStyle/>
          <a:p>
            <a:pPr marL="0" indent="0" algn="l">
              <a:lnSpc>
                <a:spcPts val="1550"/>
              </a:lnSpc>
              <a:buNone/>
            </a:pPr>
            <a:r>
              <a:rPr lang="en-US" sz="1300" dirty="0">
                <a:solidFill>
                  <a:srgbClr val="000099"/>
                </a:solidFill>
                <a:latin typeface="Open Sans" pitchFamily="34" charset="0"/>
                <a:ea typeface="Open Sans" pitchFamily="34" charset="-122"/>
                <a:cs typeface="Open Sans" pitchFamily="34" charset="-120"/>
              </a:rPr>
              <a:t>Hệ thống Backup được theo dõi hàng ngày, tình trạng hoạt động ổn định, đảm bảo khả năng phục hồi dữ liệu.</a:t>
            </a:r>
            <a:endParaRPr lang="en-US" sz="95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9490" y="3337560"/>
            <a:ext cx="189548" cy="189548"/>
          </a:xfrm>
          <a:prstGeom prst="rect">
            <a:avLst/>
          </a:prstGeom>
        </p:spPr>
      </p:pic>
      <p:sp>
        <p:nvSpPr>
          <p:cNvPr id="10" name="Text 5"/>
          <p:cNvSpPr/>
          <p:nvPr/>
        </p:nvSpPr>
        <p:spPr>
          <a:xfrm>
            <a:off x="1042868" y="3291840"/>
            <a:ext cx="7955279" cy="320040"/>
          </a:xfrm>
          <a:prstGeom prst="rect">
            <a:avLst/>
          </a:prstGeom>
          <a:noFill/>
          <a:ln/>
        </p:spPr>
        <p:txBody>
          <a:bodyPr wrap="none" lIns="0" tIns="0" rIns="0" bIns="0" rtlCol="0" anchor="t"/>
          <a:lstStyle/>
          <a:p>
            <a:pPr marL="0" indent="0" algn="l">
              <a:lnSpc>
                <a:spcPts val="1550"/>
              </a:lnSpc>
              <a:buNone/>
            </a:pPr>
            <a:r>
              <a:rPr lang="en-US" sz="1500" b="1" dirty="0">
                <a:solidFill>
                  <a:srgbClr val="000099"/>
                </a:solidFill>
                <a:latin typeface="Open Sans Bold" pitchFamily="34" charset="0"/>
                <a:ea typeface="Open Sans Bold" pitchFamily="34" charset="-122"/>
                <a:cs typeface="Open Sans Bold" pitchFamily="34" charset="-120"/>
              </a:rPr>
              <a:t>Bảo trì &amp; License</a:t>
            </a:r>
            <a:endParaRPr lang="en-US" sz="1200" dirty="0"/>
          </a:p>
        </p:txBody>
      </p:sp>
      <p:sp>
        <p:nvSpPr>
          <p:cNvPr id="11" name="Text 6"/>
          <p:cNvSpPr/>
          <p:nvPr/>
        </p:nvSpPr>
        <p:spPr>
          <a:xfrm>
            <a:off x="1042868" y="3657600"/>
            <a:ext cx="7955279" cy="594360"/>
          </a:xfrm>
          <a:prstGeom prst="rect">
            <a:avLst/>
          </a:prstGeom>
          <a:noFill/>
          <a:ln/>
        </p:spPr>
        <p:txBody>
          <a:bodyPr wrap="square" lIns="0" tIns="0" rIns="0" bIns="0" rtlCol="0" anchor="t">
            <a:noAutofit/>
          </a:bodyPr>
          <a:lstStyle/>
          <a:p>
            <a:pPr marL="0" indent="0" algn="l">
              <a:lnSpc>
                <a:spcPts val="1550"/>
              </a:lnSpc>
              <a:buNone/>
            </a:pPr>
            <a:r>
              <a:rPr lang="en-US" sz="1300" dirty="0">
                <a:solidFill>
                  <a:srgbClr val="000099"/>
                </a:solidFill>
                <a:latin typeface="Open Sans" pitchFamily="34" charset="0"/>
                <a:ea typeface="Open Sans" pitchFamily="34" charset="-122"/>
                <a:cs typeface="Open Sans" pitchFamily="34" charset="-120"/>
              </a:rPr>
              <a:t>Đã hoàn tất trình </a:t>
            </a:r>
            <a:r>
              <a:rPr lang="en-US" sz="1300" dirty="0">
                <a:solidFill>
                  <a:srgbClr val="FF0101"/>
                </a:solidFill>
                <a:latin typeface="Open Sans" pitchFamily="34" charset="0"/>
                <a:ea typeface="Open Sans" pitchFamily="34" charset="-122"/>
                <a:cs typeface="Open Sans" pitchFamily="34" charset="-120"/>
              </a:rPr>
              <a:t>Kế hoạch bảo trì 2025 (đã được duyệt)</a:t>
            </a:r>
            <a:r>
              <a:rPr lang="en-US" sz="1300" dirty="0">
                <a:solidFill>
                  <a:srgbClr val="000099"/>
                </a:solidFill>
                <a:latin typeface="Open Sans" pitchFamily="34" charset="0"/>
                <a:ea typeface="Open Sans" pitchFamily="34" charset="-122"/>
                <a:cs typeface="Open Sans" pitchFamily="34" charset="-120"/>
              </a:rPr>
              <a:t>. Đồng thời, hoàn tất chuẩn bị Tờ trình gia hạn License Microsoft sắp tới.</a:t>
            </a:r>
            <a:endParaRPr lang="en-US" sz="95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9490" y="4297680"/>
            <a:ext cx="189548" cy="189548"/>
          </a:xfrm>
          <a:prstGeom prst="rect">
            <a:avLst/>
          </a:prstGeom>
        </p:spPr>
      </p:pic>
      <p:sp>
        <p:nvSpPr>
          <p:cNvPr id="13" name="Text 7"/>
          <p:cNvSpPr/>
          <p:nvPr/>
        </p:nvSpPr>
        <p:spPr>
          <a:xfrm>
            <a:off x="1042868" y="4251960"/>
            <a:ext cx="7955279" cy="320040"/>
          </a:xfrm>
          <a:prstGeom prst="rect">
            <a:avLst/>
          </a:prstGeom>
          <a:noFill/>
          <a:ln/>
        </p:spPr>
        <p:txBody>
          <a:bodyPr wrap="none" lIns="0" tIns="0" rIns="0" bIns="0" rtlCol="0" anchor="t"/>
          <a:lstStyle/>
          <a:p>
            <a:pPr marL="0" indent="0" algn="l">
              <a:lnSpc>
                <a:spcPts val="1550"/>
              </a:lnSpc>
              <a:buNone/>
            </a:pPr>
            <a:r>
              <a:rPr lang="en-US" sz="1500" b="1" dirty="0">
                <a:solidFill>
                  <a:srgbClr val="000099"/>
                </a:solidFill>
                <a:latin typeface="Open Sans Bold" pitchFamily="34" charset="0"/>
                <a:ea typeface="Open Sans Bold" pitchFamily="34" charset="-122"/>
                <a:cs typeface="Open Sans Bold" pitchFamily="34" charset="-120"/>
              </a:rPr>
              <a:t>Hệ thống Camera</a:t>
            </a:r>
            <a:endParaRPr lang="en-US" sz="1200" dirty="0"/>
          </a:p>
        </p:txBody>
      </p:sp>
      <p:sp>
        <p:nvSpPr>
          <p:cNvPr id="14" name="Text 8"/>
          <p:cNvSpPr/>
          <p:nvPr/>
        </p:nvSpPr>
        <p:spPr>
          <a:xfrm>
            <a:off x="1042868" y="4617720"/>
            <a:ext cx="7955279" cy="594360"/>
          </a:xfrm>
          <a:prstGeom prst="rect">
            <a:avLst/>
          </a:prstGeom>
          <a:noFill/>
          <a:ln/>
        </p:spPr>
        <p:txBody>
          <a:bodyPr wrap="square" lIns="0" tIns="0" rIns="0" bIns="0" rtlCol="0" anchor="t">
            <a:noAutofit/>
          </a:bodyPr>
          <a:lstStyle/>
          <a:p>
            <a:pPr marL="0" indent="0" algn="l">
              <a:lnSpc>
                <a:spcPts val="1550"/>
              </a:lnSpc>
              <a:buNone/>
            </a:pPr>
            <a:r>
              <a:rPr lang="en-US" sz="1300" dirty="0">
                <a:solidFill>
                  <a:srgbClr val="000099"/>
                </a:solidFill>
                <a:latin typeface="Open Sans" pitchFamily="34" charset="0"/>
                <a:ea typeface="Open Sans" pitchFamily="34" charset="-122"/>
                <a:cs typeface="Open Sans" pitchFamily="34" charset="-120"/>
              </a:rPr>
              <a:t>Tiếp tục thống kê tổng thể hệ thống camera tại các site. Ghi nhận tại TDM đã kiểm tra </a:t>
            </a:r>
            <a:r>
              <a:rPr lang="en-US" sz="1300" b="1" dirty="0">
                <a:solidFill>
                  <a:srgbClr val="000099"/>
                </a:solidFill>
                <a:latin typeface="Open Sans" pitchFamily="34" charset="0"/>
                <a:ea typeface="Open Sans" pitchFamily="34" charset="-122"/>
                <a:cs typeface="Open Sans" pitchFamily="34" charset="-120"/>
              </a:rPr>
              <a:t>199/205 kênh</a:t>
            </a:r>
            <a:r>
              <a:rPr lang="en-US" sz="1300" dirty="0">
                <a:solidFill>
                  <a:srgbClr val="000099"/>
                </a:solidFill>
                <a:latin typeface="Open Sans" pitchFamily="34" charset="0"/>
                <a:ea typeface="Open Sans" pitchFamily="34" charset="-122"/>
                <a:cs typeface="Open Sans" pitchFamily="34" charset="-120"/>
              </a:rPr>
              <a:t> hoạt động.</a:t>
            </a:r>
            <a:endParaRPr lang="en-US" sz="950" dirty="0"/>
          </a:p>
        </p:txBody>
      </p:sp>
      <p:pic>
        <p:nvPicPr>
          <p:cNvPr id="15"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9490" y="5257800"/>
            <a:ext cx="189548" cy="189548"/>
          </a:xfrm>
          <a:prstGeom prst="rect">
            <a:avLst/>
          </a:prstGeom>
        </p:spPr>
      </p:pic>
      <p:sp>
        <p:nvSpPr>
          <p:cNvPr id="16" name="Text 9"/>
          <p:cNvSpPr/>
          <p:nvPr/>
        </p:nvSpPr>
        <p:spPr>
          <a:xfrm>
            <a:off x="1042868" y="5212080"/>
            <a:ext cx="7955279" cy="320040"/>
          </a:xfrm>
          <a:prstGeom prst="rect">
            <a:avLst/>
          </a:prstGeom>
          <a:noFill/>
          <a:ln/>
        </p:spPr>
        <p:txBody>
          <a:bodyPr wrap="none" lIns="0" tIns="0" rIns="0" bIns="0" rtlCol="0" anchor="t"/>
          <a:lstStyle/>
          <a:p>
            <a:pPr marL="0" indent="0" algn="l">
              <a:lnSpc>
                <a:spcPts val="1550"/>
              </a:lnSpc>
              <a:buNone/>
            </a:pPr>
            <a:r>
              <a:rPr lang="en-US" sz="1500" b="1" dirty="0">
                <a:solidFill>
                  <a:srgbClr val="000099"/>
                </a:solidFill>
                <a:latin typeface="Open Sans Bold" pitchFamily="34" charset="0"/>
                <a:ea typeface="Open Sans Bold" pitchFamily="34" charset="-122"/>
                <a:cs typeface="Open Sans Bold" pitchFamily="34" charset="-120"/>
              </a:rPr>
              <a:t>Hỗ trợ Đặc biệt</a:t>
            </a:r>
            <a:endParaRPr lang="en-US" sz="1200" dirty="0"/>
          </a:p>
        </p:txBody>
      </p:sp>
      <p:sp>
        <p:nvSpPr>
          <p:cNvPr id="17" name="Text 10"/>
          <p:cNvSpPr/>
          <p:nvPr/>
        </p:nvSpPr>
        <p:spPr>
          <a:xfrm>
            <a:off x="1042868" y="5577840"/>
            <a:ext cx="7955279" cy="594360"/>
          </a:xfrm>
          <a:prstGeom prst="rect">
            <a:avLst/>
          </a:prstGeom>
          <a:noFill/>
          <a:ln/>
        </p:spPr>
        <p:txBody>
          <a:bodyPr wrap="square" lIns="0" tIns="0" rIns="0" bIns="0" rtlCol="0" anchor="t">
            <a:noAutofit/>
          </a:bodyPr>
          <a:lstStyle/>
          <a:p>
            <a:pPr marL="0" indent="0" algn="l">
              <a:lnSpc>
                <a:spcPts val="1550"/>
              </a:lnSpc>
              <a:buNone/>
            </a:pPr>
            <a:r>
              <a:rPr lang="en-US" sz="1300" dirty="0">
                <a:solidFill>
                  <a:srgbClr val="000099"/>
                </a:solidFill>
                <a:latin typeface="Open Sans" pitchFamily="34" charset="0"/>
                <a:ea typeface="Open Sans" pitchFamily="34" charset="-122"/>
                <a:cs typeface="Open Sans" pitchFamily="34" charset="-120"/>
              </a:rPr>
              <a:t>Đã lên hợp đồng mua Chữ ký số VNPT SmartCA phục vụ cho các cơ quan chức năng (COCQ).</a:t>
            </a:r>
            <a:endParaRPr lang="en-US" sz="950" dirty="0"/>
          </a:p>
        </p:txBody>
      </p:sp>
      <p:pic>
        <p:nvPicPr>
          <p:cNvPr id="18" name="Image 5" descr="preencoded.png"/>
          <p:cNvPicPr>
            <a:picLocks noChangeAspect="1"/>
          </p:cNvPicPr>
          <p:nvPr/>
        </p:nvPicPr>
        <p:blipFill>
          <a:blip r:embed="rId4"/>
          <a:stretch>
            <a:fillRect/>
          </a:stretch>
        </p:blipFill>
        <p:spPr>
          <a:xfrm>
            <a:off x="8844439" y="1238607"/>
            <a:ext cx="3612952" cy="361295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name="Slide 4">
    <p:spTree>
      <p:nvGrpSpPr>
        <p:cNvPr id="1" name=""/>
        <p:cNvGrpSpPr/>
        <p:nvPr/>
      </p:nvGrpSpPr>
      <p:grpSpPr>
        <a:xfrm>
          <a:off x="0" y="0"/>
          <a:ext cx="0" cy="0"/>
          <a:chOff x="0" y="0"/>
          <a:chExt cx="0" cy="0"/>
        </a:xfrm>
      </p:grpSpPr>
      <p:sp>
        <p:nvSpPr>
          <p:cNvPr id="2" name="Text 0"/>
          <p:cNvSpPr/>
          <p:nvPr/>
        </p:nvSpPr>
        <p:spPr>
          <a:xfrm>
            <a:off x="793790" y="753070"/>
            <a:ext cx="9488448" cy="637937"/>
          </a:xfrm>
          <a:prstGeom prst="rect">
            <a:avLst/>
          </a:prstGeom>
          <a:noFill/>
          <a:ln/>
        </p:spPr>
        <p:txBody>
          <a:bodyPr wrap="none" lIns="0" tIns="0" rIns="0" bIns="0" rtlCol="0" anchor="t"/>
          <a:lstStyle/>
          <a:p>
            <a:pPr marL="0" indent="0" algn="l">
              <a:lnSpc>
                <a:spcPts val="5000"/>
              </a:lnSpc>
              <a:buNone/>
            </a:pPr>
            <a:r>
              <a:rPr lang="en-US" sz="4000" b="1" dirty="0">
                <a:solidFill>
                  <a:srgbClr val="FF0000"/>
                </a:solidFill>
                <a:latin typeface="Open Sans Bold" pitchFamily="34" charset="0"/>
                <a:ea typeface="Open Sans Bold" pitchFamily="34" charset="-122"/>
                <a:cs typeface="Open Sans Bold" pitchFamily="34" charset="-120"/>
              </a:rPr>
              <a:t>B. TIẾN ĐỘ CÔNG VIỆC HỆ THỐNG ERP</a:t>
            </a:r>
            <a:endParaRPr lang="en-US" sz="4000" dirty="0"/>
          </a:p>
        </p:txBody>
      </p:sp>
      <p:sp>
        <p:nvSpPr>
          <p:cNvPr id="3" name="Text 1"/>
          <p:cNvSpPr/>
          <p:nvPr/>
        </p:nvSpPr>
        <p:spPr>
          <a:xfrm>
            <a:off x="793790" y="1799273"/>
            <a:ext cx="13042821" cy="408146"/>
          </a:xfrm>
          <a:prstGeom prst="rect">
            <a:avLst/>
          </a:prstGeom>
          <a:noFill/>
          <a:ln/>
        </p:spPr>
        <p:txBody>
          <a:bodyPr wrap="none" lIns="0" tIns="0" rIns="0" bIns="0" rtlCol="0" anchor="t"/>
          <a:lstStyle/>
          <a:p>
            <a:pPr marL="0" indent="0" algn="l">
              <a:lnSpc>
                <a:spcPts val="3200"/>
              </a:lnSpc>
              <a:buNone/>
            </a:pPr>
            <a:r>
              <a:rPr lang="en-US" sz="2000" dirty="0">
                <a:solidFill>
                  <a:srgbClr val="000099"/>
                </a:solidFill>
                <a:latin typeface="Open Sans" pitchFamily="34" charset="0"/>
                <a:ea typeface="Open Sans" pitchFamily="34" charset="-122"/>
                <a:cs typeface="Open Sans" pitchFamily="34" charset="-120"/>
              </a:rPr>
              <a:t>Đảm bảo vận hành ổn định và tiến hành các dự án nâng cấp chiến lược.</a:t>
            </a:r>
            <a:endParaRPr lang="en-US" sz="2000" dirty="0"/>
          </a:p>
        </p:txBody>
      </p:sp>
      <p:sp>
        <p:nvSpPr>
          <p:cNvPr id="4" name="Shape 2"/>
          <p:cNvSpPr/>
          <p:nvPr/>
        </p:nvSpPr>
        <p:spPr>
          <a:xfrm>
            <a:off x="7303770" y="2436971"/>
            <a:ext cx="22860" cy="5039439"/>
          </a:xfrm>
          <a:prstGeom prst="roundRect">
            <a:avLst>
              <a:gd name="adj" fmla="val 375070"/>
            </a:avLst>
          </a:prstGeom>
          <a:solidFill>
            <a:srgbClr val="E5B2B2"/>
          </a:solidFill>
          <a:ln/>
        </p:spPr>
        <p:txBody>
          <a:bodyPr/>
          <a:lstStyle/>
          <a:p>
            <a:endParaRPr lang="vi-VN"/>
          </a:p>
        </p:txBody>
      </p:sp>
      <p:sp>
        <p:nvSpPr>
          <p:cNvPr id="5" name="Shape 3"/>
          <p:cNvSpPr/>
          <p:nvPr/>
        </p:nvSpPr>
        <p:spPr>
          <a:xfrm>
            <a:off x="6496110" y="2655094"/>
            <a:ext cx="612338" cy="22860"/>
          </a:xfrm>
          <a:prstGeom prst="roundRect">
            <a:avLst>
              <a:gd name="adj" fmla="val 375070"/>
            </a:avLst>
          </a:prstGeom>
          <a:solidFill>
            <a:srgbClr val="E5B2B2"/>
          </a:solidFill>
          <a:ln/>
        </p:spPr>
        <p:txBody>
          <a:bodyPr/>
          <a:lstStyle/>
          <a:p>
            <a:endParaRPr lang="vi-VN"/>
          </a:p>
        </p:txBody>
      </p:sp>
      <p:sp>
        <p:nvSpPr>
          <p:cNvPr id="6" name="Shape 4"/>
          <p:cNvSpPr/>
          <p:nvPr/>
        </p:nvSpPr>
        <p:spPr>
          <a:xfrm>
            <a:off x="7085588" y="2436971"/>
            <a:ext cx="459224" cy="459224"/>
          </a:xfrm>
          <a:prstGeom prst="roundRect">
            <a:avLst>
              <a:gd name="adj" fmla="val 18671"/>
            </a:avLst>
          </a:prstGeom>
          <a:solidFill>
            <a:srgbClr val="FFCCCC"/>
          </a:solidFill>
          <a:ln w="7620">
            <a:solidFill>
              <a:srgbClr val="E5B2B2"/>
            </a:solidFill>
            <a:prstDash val="solid"/>
          </a:ln>
        </p:spPr>
        <p:txBody>
          <a:bodyPr/>
          <a:lstStyle/>
          <a:p>
            <a:endParaRPr lang="vi-VN"/>
          </a:p>
        </p:txBody>
      </p:sp>
      <p:sp>
        <p:nvSpPr>
          <p:cNvPr id="7" name="Text 5"/>
          <p:cNvSpPr/>
          <p:nvPr/>
        </p:nvSpPr>
        <p:spPr>
          <a:xfrm>
            <a:off x="7162086" y="2475190"/>
            <a:ext cx="306110" cy="382667"/>
          </a:xfrm>
          <a:prstGeom prst="rect">
            <a:avLst/>
          </a:prstGeom>
          <a:noFill/>
          <a:ln/>
        </p:spPr>
        <p:txBody>
          <a:bodyPr wrap="none" lIns="0" tIns="0" rIns="0" bIns="0" rtlCol="0" anchor="t"/>
          <a:lstStyle/>
          <a:p>
            <a:pPr marL="0" indent="0" algn="ctr">
              <a:lnSpc>
                <a:spcPts val="2400"/>
              </a:lnSpc>
              <a:buNone/>
            </a:pPr>
            <a:r>
              <a:rPr lang="en-US" sz="2400" b="1" dirty="0">
                <a:solidFill>
                  <a:srgbClr val="000099"/>
                </a:solidFill>
                <a:latin typeface="Open Sans Bold" pitchFamily="34" charset="0"/>
                <a:ea typeface="Open Sans Bold" pitchFamily="34" charset="-122"/>
                <a:cs typeface="Open Sans Bold" pitchFamily="34" charset="-120"/>
              </a:rPr>
              <a:t>1</a:t>
            </a:r>
            <a:endParaRPr lang="en-US" sz="2400" dirty="0"/>
          </a:p>
        </p:txBody>
      </p:sp>
      <p:sp>
        <p:nvSpPr>
          <p:cNvPr id="8" name="Text 6"/>
          <p:cNvSpPr/>
          <p:nvPr/>
        </p:nvSpPr>
        <p:spPr>
          <a:xfrm>
            <a:off x="3742730" y="2507099"/>
            <a:ext cx="2551748" cy="318849"/>
          </a:xfrm>
          <a:prstGeom prst="rect">
            <a:avLst/>
          </a:prstGeom>
          <a:noFill/>
          <a:ln/>
        </p:spPr>
        <p:txBody>
          <a:bodyPr wrap="none" lIns="0" tIns="0" rIns="0" bIns="0" rtlCol="0" anchor="t"/>
          <a:lstStyle/>
          <a:p>
            <a:pPr marL="0" indent="0" algn="r">
              <a:lnSpc>
                <a:spcPts val="2500"/>
              </a:lnSpc>
              <a:buNone/>
            </a:pPr>
            <a:r>
              <a:rPr lang="en-US" sz="2000" b="1" dirty="0">
                <a:solidFill>
                  <a:srgbClr val="000099"/>
                </a:solidFill>
                <a:latin typeface="Open Sans Bold" pitchFamily="34" charset="0"/>
                <a:ea typeface="Open Sans Bold" pitchFamily="34" charset="-122"/>
                <a:cs typeface="Open Sans Bold" pitchFamily="34" charset="-120"/>
              </a:rPr>
              <a:t>Vận hành &amp; Bảo trì</a:t>
            </a:r>
            <a:endParaRPr lang="en-US" sz="2000" dirty="0"/>
          </a:p>
        </p:txBody>
      </p:sp>
      <p:sp>
        <p:nvSpPr>
          <p:cNvPr id="9" name="Text 7"/>
          <p:cNvSpPr/>
          <p:nvPr/>
        </p:nvSpPr>
        <p:spPr>
          <a:xfrm>
            <a:off x="793790" y="2948345"/>
            <a:ext cx="5500688" cy="980123"/>
          </a:xfrm>
          <a:prstGeom prst="rect">
            <a:avLst/>
          </a:prstGeom>
          <a:noFill/>
          <a:ln/>
        </p:spPr>
        <p:txBody>
          <a:bodyPr wrap="square" lIns="0" tIns="0" rIns="0" bIns="0" rtlCol="0" anchor="t"/>
          <a:lstStyle/>
          <a:p>
            <a:pPr marL="0" indent="0" algn="r">
              <a:lnSpc>
                <a:spcPts val="2550"/>
              </a:lnSpc>
              <a:buNone/>
            </a:pPr>
            <a:r>
              <a:rPr lang="en-US" sz="1600" dirty="0">
                <a:solidFill>
                  <a:srgbClr val="000099"/>
                </a:solidFill>
                <a:latin typeface="Open Sans" pitchFamily="34" charset="0"/>
                <a:ea typeface="Open Sans" pitchFamily="34" charset="-122"/>
                <a:cs typeface="Open Sans" pitchFamily="34" charset="-120"/>
              </a:rPr>
              <a:t>Hoàn thành ký duyệt </a:t>
            </a:r>
            <a:r>
              <a:rPr lang="en-US" sz="1600" b="1" dirty="0">
                <a:solidFill>
                  <a:srgbClr val="000099"/>
                </a:solidFill>
                <a:latin typeface="Open Sans" pitchFamily="34" charset="0"/>
                <a:ea typeface="Open Sans" pitchFamily="34" charset="-122"/>
                <a:cs typeface="Open Sans" pitchFamily="34" charset="-120"/>
              </a:rPr>
              <a:t>Hợp đồng bảo trì 06 tháng Database + DRSite</a:t>
            </a:r>
            <a:r>
              <a:rPr lang="en-US" sz="1600" dirty="0">
                <a:solidFill>
                  <a:srgbClr val="000099"/>
                </a:solidFill>
                <a:latin typeface="Open Sans" pitchFamily="34" charset="0"/>
                <a:ea typeface="Open Sans" pitchFamily="34" charset="-122"/>
                <a:cs typeface="Open Sans" pitchFamily="34" charset="-120"/>
              </a:rPr>
              <a:t>, đảm bảo tính liên tục và an toàn dữ liệu cho hệ thống ERP cốt lõi.</a:t>
            </a:r>
            <a:endParaRPr lang="en-US" sz="1600" dirty="0"/>
          </a:p>
        </p:txBody>
      </p:sp>
      <p:sp>
        <p:nvSpPr>
          <p:cNvPr id="10" name="Shape 8"/>
          <p:cNvSpPr/>
          <p:nvPr/>
        </p:nvSpPr>
        <p:spPr>
          <a:xfrm>
            <a:off x="7521952" y="3879890"/>
            <a:ext cx="612338" cy="22860"/>
          </a:xfrm>
          <a:prstGeom prst="roundRect">
            <a:avLst>
              <a:gd name="adj" fmla="val 375070"/>
            </a:avLst>
          </a:prstGeom>
          <a:solidFill>
            <a:srgbClr val="E5B2B2"/>
          </a:solidFill>
          <a:ln/>
        </p:spPr>
        <p:txBody>
          <a:bodyPr/>
          <a:lstStyle/>
          <a:p>
            <a:endParaRPr lang="vi-VN"/>
          </a:p>
        </p:txBody>
      </p:sp>
      <p:sp>
        <p:nvSpPr>
          <p:cNvPr id="11" name="Shape 9"/>
          <p:cNvSpPr/>
          <p:nvPr/>
        </p:nvSpPr>
        <p:spPr>
          <a:xfrm>
            <a:off x="7085588" y="3661767"/>
            <a:ext cx="459224" cy="459224"/>
          </a:xfrm>
          <a:prstGeom prst="roundRect">
            <a:avLst>
              <a:gd name="adj" fmla="val 18671"/>
            </a:avLst>
          </a:prstGeom>
          <a:solidFill>
            <a:srgbClr val="FFCCCC"/>
          </a:solidFill>
          <a:ln w="7620">
            <a:solidFill>
              <a:srgbClr val="E5B2B2"/>
            </a:solidFill>
            <a:prstDash val="solid"/>
          </a:ln>
        </p:spPr>
        <p:txBody>
          <a:bodyPr/>
          <a:lstStyle/>
          <a:p>
            <a:endParaRPr lang="vi-VN"/>
          </a:p>
        </p:txBody>
      </p:sp>
      <p:sp>
        <p:nvSpPr>
          <p:cNvPr id="12" name="Text 10"/>
          <p:cNvSpPr/>
          <p:nvPr/>
        </p:nvSpPr>
        <p:spPr>
          <a:xfrm>
            <a:off x="7162086" y="3699986"/>
            <a:ext cx="306110" cy="382667"/>
          </a:xfrm>
          <a:prstGeom prst="rect">
            <a:avLst/>
          </a:prstGeom>
          <a:noFill/>
          <a:ln/>
        </p:spPr>
        <p:txBody>
          <a:bodyPr wrap="none" lIns="0" tIns="0" rIns="0" bIns="0" rtlCol="0" anchor="t"/>
          <a:lstStyle/>
          <a:p>
            <a:pPr marL="0" indent="0" algn="ctr">
              <a:lnSpc>
                <a:spcPts val="2400"/>
              </a:lnSpc>
              <a:buNone/>
            </a:pPr>
            <a:r>
              <a:rPr lang="en-US" sz="2400" b="1" dirty="0">
                <a:solidFill>
                  <a:srgbClr val="000099"/>
                </a:solidFill>
                <a:latin typeface="Open Sans Bold" pitchFamily="34" charset="0"/>
                <a:ea typeface="Open Sans Bold" pitchFamily="34" charset="-122"/>
                <a:cs typeface="Open Sans Bold" pitchFamily="34" charset="-120"/>
              </a:rPr>
              <a:t>2</a:t>
            </a:r>
            <a:endParaRPr lang="en-US" sz="2400" dirty="0"/>
          </a:p>
        </p:txBody>
      </p:sp>
      <p:sp>
        <p:nvSpPr>
          <p:cNvPr id="13" name="Text 11"/>
          <p:cNvSpPr/>
          <p:nvPr/>
        </p:nvSpPr>
        <p:spPr>
          <a:xfrm>
            <a:off x="8335923" y="3731895"/>
            <a:ext cx="3061097" cy="318849"/>
          </a:xfrm>
          <a:prstGeom prst="rect">
            <a:avLst/>
          </a:prstGeom>
          <a:noFill/>
          <a:ln/>
        </p:spPr>
        <p:txBody>
          <a:bodyPr wrap="none" lIns="0" tIns="0" rIns="0" bIns="0" rtlCol="0" anchor="t"/>
          <a:lstStyle/>
          <a:p>
            <a:pPr marL="0" indent="0" algn="l">
              <a:lnSpc>
                <a:spcPts val="2500"/>
              </a:lnSpc>
              <a:buNone/>
            </a:pPr>
            <a:r>
              <a:rPr lang="en-US" sz="2000" b="1" dirty="0">
                <a:solidFill>
                  <a:srgbClr val="000099"/>
                </a:solidFill>
                <a:latin typeface="Open Sans Bold" pitchFamily="34" charset="0"/>
                <a:ea typeface="Open Sans Bold" pitchFamily="34" charset="-122"/>
                <a:cs typeface="Open Sans Bold" pitchFamily="34" charset="-120"/>
              </a:rPr>
              <a:t>Hóa đơn Điện tử (HĐĐT)</a:t>
            </a:r>
            <a:endParaRPr lang="en-US" sz="2000" dirty="0"/>
          </a:p>
        </p:txBody>
      </p:sp>
      <p:sp>
        <p:nvSpPr>
          <p:cNvPr id="14" name="Text 12"/>
          <p:cNvSpPr/>
          <p:nvPr/>
        </p:nvSpPr>
        <p:spPr>
          <a:xfrm>
            <a:off x="8335923" y="4173141"/>
            <a:ext cx="5500688" cy="980123"/>
          </a:xfrm>
          <a:prstGeom prst="rect">
            <a:avLst/>
          </a:prstGeom>
          <a:noFill/>
          <a:ln/>
        </p:spPr>
        <p:txBody>
          <a:bodyPr wrap="square" lIns="0" tIns="0" rIns="0" bIns="0" rtlCol="0" anchor="t"/>
          <a:lstStyle/>
          <a:p>
            <a:pPr marL="0" indent="0" algn="l">
              <a:lnSpc>
                <a:spcPts val="2550"/>
              </a:lnSpc>
              <a:buNone/>
            </a:pPr>
            <a:r>
              <a:rPr lang="en-US" sz="1600" dirty="0">
                <a:solidFill>
                  <a:srgbClr val="000099"/>
                </a:solidFill>
                <a:latin typeface="Open Sans" pitchFamily="34" charset="0"/>
                <a:ea typeface="Open Sans" pitchFamily="34" charset="-122"/>
                <a:cs typeface="Open Sans" pitchFamily="34" charset="-120"/>
              </a:rPr>
              <a:t>Theo dõi ổn định sau Golive HĐĐT cải tiến ND70. Đã </a:t>
            </a:r>
            <a:r>
              <a:rPr lang="en-US" sz="1600" dirty="0">
                <a:solidFill>
                  <a:srgbClr val="FF0101"/>
                </a:solidFill>
                <a:latin typeface="Open Sans" pitchFamily="34" charset="0"/>
                <a:ea typeface="Open Sans" pitchFamily="34" charset="-122"/>
                <a:cs typeface="Open Sans" pitchFamily="34" charset="-120"/>
              </a:rPr>
              <a:t>Hoàn thành và ký duyệt các biên bản nghiệm thu</a:t>
            </a:r>
            <a:r>
              <a:rPr lang="en-US" sz="1600" dirty="0">
                <a:solidFill>
                  <a:srgbClr val="000099"/>
                </a:solidFill>
                <a:latin typeface="Open Sans" pitchFamily="34" charset="0"/>
                <a:ea typeface="Open Sans" pitchFamily="34" charset="-122"/>
                <a:cs typeface="Open Sans" pitchFamily="34" charset="-120"/>
              </a:rPr>
              <a:t> liên quan đến dự án này.</a:t>
            </a:r>
            <a:endParaRPr lang="en-US" sz="1600" dirty="0"/>
          </a:p>
        </p:txBody>
      </p:sp>
      <p:sp>
        <p:nvSpPr>
          <p:cNvPr id="15" name="Shape 13"/>
          <p:cNvSpPr/>
          <p:nvPr/>
        </p:nvSpPr>
        <p:spPr>
          <a:xfrm>
            <a:off x="6496110" y="4935617"/>
            <a:ext cx="612338" cy="22860"/>
          </a:xfrm>
          <a:prstGeom prst="roundRect">
            <a:avLst>
              <a:gd name="adj" fmla="val 375070"/>
            </a:avLst>
          </a:prstGeom>
          <a:solidFill>
            <a:srgbClr val="E5B2B2"/>
          </a:solidFill>
          <a:ln/>
        </p:spPr>
        <p:txBody>
          <a:bodyPr/>
          <a:lstStyle/>
          <a:p>
            <a:endParaRPr lang="vi-VN"/>
          </a:p>
        </p:txBody>
      </p:sp>
      <p:sp>
        <p:nvSpPr>
          <p:cNvPr id="16" name="Shape 14"/>
          <p:cNvSpPr/>
          <p:nvPr/>
        </p:nvSpPr>
        <p:spPr>
          <a:xfrm>
            <a:off x="7085588" y="4717494"/>
            <a:ext cx="459224" cy="459224"/>
          </a:xfrm>
          <a:prstGeom prst="roundRect">
            <a:avLst>
              <a:gd name="adj" fmla="val 18671"/>
            </a:avLst>
          </a:prstGeom>
          <a:solidFill>
            <a:srgbClr val="FFCCCC"/>
          </a:solidFill>
          <a:ln w="7620">
            <a:solidFill>
              <a:srgbClr val="E5B2B2"/>
            </a:solidFill>
            <a:prstDash val="solid"/>
          </a:ln>
        </p:spPr>
        <p:txBody>
          <a:bodyPr/>
          <a:lstStyle/>
          <a:p>
            <a:endParaRPr lang="vi-VN"/>
          </a:p>
        </p:txBody>
      </p:sp>
      <p:sp>
        <p:nvSpPr>
          <p:cNvPr id="17" name="Text 15"/>
          <p:cNvSpPr/>
          <p:nvPr/>
        </p:nvSpPr>
        <p:spPr>
          <a:xfrm>
            <a:off x="7162086" y="4755713"/>
            <a:ext cx="306110" cy="382667"/>
          </a:xfrm>
          <a:prstGeom prst="rect">
            <a:avLst/>
          </a:prstGeom>
          <a:noFill/>
          <a:ln/>
        </p:spPr>
        <p:txBody>
          <a:bodyPr wrap="none" lIns="0" tIns="0" rIns="0" bIns="0" rtlCol="0" anchor="t"/>
          <a:lstStyle/>
          <a:p>
            <a:pPr marL="0" indent="0" algn="ctr">
              <a:lnSpc>
                <a:spcPts val="2400"/>
              </a:lnSpc>
              <a:buNone/>
            </a:pPr>
            <a:r>
              <a:rPr lang="en-US" sz="2400" b="1" dirty="0">
                <a:solidFill>
                  <a:srgbClr val="000099"/>
                </a:solidFill>
                <a:latin typeface="Open Sans Bold" pitchFamily="34" charset="0"/>
                <a:ea typeface="Open Sans Bold" pitchFamily="34" charset="-122"/>
                <a:cs typeface="Open Sans Bold" pitchFamily="34" charset="-120"/>
              </a:rPr>
              <a:t>3</a:t>
            </a:r>
            <a:endParaRPr lang="en-US" sz="2400" dirty="0"/>
          </a:p>
        </p:txBody>
      </p:sp>
      <p:sp>
        <p:nvSpPr>
          <p:cNvPr id="18" name="Text 16"/>
          <p:cNvSpPr/>
          <p:nvPr/>
        </p:nvSpPr>
        <p:spPr>
          <a:xfrm>
            <a:off x="3742730" y="4787622"/>
            <a:ext cx="2551748" cy="318849"/>
          </a:xfrm>
          <a:prstGeom prst="rect">
            <a:avLst/>
          </a:prstGeom>
          <a:noFill/>
          <a:ln/>
        </p:spPr>
        <p:txBody>
          <a:bodyPr wrap="none" lIns="0" tIns="0" rIns="0" bIns="0" rtlCol="0" anchor="t"/>
          <a:lstStyle/>
          <a:p>
            <a:pPr marL="0" indent="0" algn="r">
              <a:lnSpc>
                <a:spcPts val="2500"/>
              </a:lnSpc>
              <a:buNone/>
            </a:pPr>
            <a:r>
              <a:rPr lang="en-US" sz="2000" b="1" dirty="0">
                <a:solidFill>
                  <a:srgbClr val="000099"/>
                </a:solidFill>
                <a:latin typeface="Open Sans Bold" pitchFamily="34" charset="0"/>
                <a:ea typeface="Open Sans Bold" pitchFamily="34" charset="-122"/>
                <a:cs typeface="Open Sans Bold" pitchFamily="34" charset="-120"/>
              </a:rPr>
              <a:t>Nâng cấp ERP</a:t>
            </a:r>
            <a:endParaRPr lang="en-US" sz="2000" dirty="0"/>
          </a:p>
        </p:txBody>
      </p:sp>
      <p:sp>
        <p:nvSpPr>
          <p:cNvPr id="19" name="Text 17"/>
          <p:cNvSpPr/>
          <p:nvPr/>
        </p:nvSpPr>
        <p:spPr>
          <a:xfrm>
            <a:off x="793790" y="5228868"/>
            <a:ext cx="5500688" cy="980123"/>
          </a:xfrm>
          <a:prstGeom prst="rect">
            <a:avLst/>
          </a:prstGeom>
          <a:noFill/>
          <a:ln/>
        </p:spPr>
        <p:txBody>
          <a:bodyPr wrap="square" lIns="0" tIns="0" rIns="0" bIns="0" rtlCol="0" anchor="t"/>
          <a:lstStyle/>
          <a:p>
            <a:pPr marL="0" indent="0" algn="r">
              <a:lnSpc>
                <a:spcPts val="2550"/>
              </a:lnSpc>
              <a:buNone/>
            </a:pPr>
            <a:r>
              <a:rPr lang="en-US" sz="1600" dirty="0">
                <a:solidFill>
                  <a:srgbClr val="000099"/>
                </a:solidFill>
                <a:latin typeface="Open Sans" pitchFamily="34" charset="0"/>
                <a:ea typeface="Open Sans" pitchFamily="34" charset="-122"/>
                <a:cs typeface="Open Sans" pitchFamily="34" charset="-120"/>
              </a:rPr>
              <a:t>Hợp đồng dự án Nâng cấp ERP đã được phê duyệt. Đang thực hiện theo kế hoạch và đã hoàn thành các Biên bản Khảo sát (BBKS) sơ lược ban đầu.</a:t>
            </a:r>
            <a:endParaRPr lang="en-US" sz="1600" dirty="0"/>
          </a:p>
        </p:txBody>
      </p:sp>
      <p:sp>
        <p:nvSpPr>
          <p:cNvPr id="20" name="Shape 18"/>
          <p:cNvSpPr/>
          <p:nvPr/>
        </p:nvSpPr>
        <p:spPr>
          <a:xfrm>
            <a:off x="7521952" y="5991344"/>
            <a:ext cx="612338" cy="22860"/>
          </a:xfrm>
          <a:prstGeom prst="roundRect">
            <a:avLst>
              <a:gd name="adj" fmla="val 375070"/>
            </a:avLst>
          </a:prstGeom>
          <a:solidFill>
            <a:srgbClr val="E5B2B2"/>
          </a:solidFill>
          <a:ln/>
        </p:spPr>
        <p:txBody>
          <a:bodyPr/>
          <a:lstStyle/>
          <a:p>
            <a:endParaRPr lang="vi-VN"/>
          </a:p>
        </p:txBody>
      </p:sp>
      <p:sp>
        <p:nvSpPr>
          <p:cNvPr id="21" name="Shape 19"/>
          <p:cNvSpPr/>
          <p:nvPr/>
        </p:nvSpPr>
        <p:spPr>
          <a:xfrm>
            <a:off x="7085588" y="5773222"/>
            <a:ext cx="459224" cy="459224"/>
          </a:xfrm>
          <a:prstGeom prst="roundRect">
            <a:avLst>
              <a:gd name="adj" fmla="val 18671"/>
            </a:avLst>
          </a:prstGeom>
          <a:solidFill>
            <a:srgbClr val="FFCCCC"/>
          </a:solidFill>
          <a:ln w="7620">
            <a:solidFill>
              <a:srgbClr val="E5B2B2"/>
            </a:solidFill>
            <a:prstDash val="solid"/>
          </a:ln>
        </p:spPr>
        <p:txBody>
          <a:bodyPr/>
          <a:lstStyle/>
          <a:p>
            <a:endParaRPr lang="vi-VN"/>
          </a:p>
        </p:txBody>
      </p:sp>
      <p:sp>
        <p:nvSpPr>
          <p:cNvPr id="22" name="Text 20"/>
          <p:cNvSpPr/>
          <p:nvPr/>
        </p:nvSpPr>
        <p:spPr>
          <a:xfrm>
            <a:off x="7162086" y="5811441"/>
            <a:ext cx="306110" cy="382667"/>
          </a:xfrm>
          <a:prstGeom prst="rect">
            <a:avLst/>
          </a:prstGeom>
          <a:noFill/>
          <a:ln/>
        </p:spPr>
        <p:txBody>
          <a:bodyPr wrap="none" lIns="0" tIns="0" rIns="0" bIns="0" rtlCol="0" anchor="t"/>
          <a:lstStyle/>
          <a:p>
            <a:pPr marL="0" indent="0" algn="ctr">
              <a:lnSpc>
                <a:spcPts val="2400"/>
              </a:lnSpc>
              <a:buNone/>
            </a:pPr>
            <a:r>
              <a:rPr lang="en-US" sz="2400" b="1" dirty="0">
                <a:solidFill>
                  <a:srgbClr val="000099"/>
                </a:solidFill>
                <a:latin typeface="Open Sans Bold" pitchFamily="34" charset="0"/>
                <a:ea typeface="Open Sans Bold" pitchFamily="34" charset="-122"/>
                <a:cs typeface="Open Sans Bold" pitchFamily="34" charset="-120"/>
              </a:rPr>
              <a:t>4</a:t>
            </a:r>
            <a:endParaRPr lang="en-US" sz="2400" dirty="0"/>
          </a:p>
        </p:txBody>
      </p:sp>
      <p:sp>
        <p:nvSpPr>
          <p:cNvPr id="23" name="Text 21"/>
          <p:cNvSpPr/>
          <p:nvPr/>
        </p:nvSpPr>
        <p:spPr>
          <a:xfrm>
            <a:off x="8335923" y="5843349"/>
            <a:ext cx="2551748" cy="318849"/>
          </a:xfrm>
          <a:prstGeom prst="rect">
            <a:avLst/>
          </a:prstGeom>
          <a:noFill/>
          <a:ln/>
        </p:spPr>
        <p:txBody>
          <a:bodyPr wrap="none" lIns="0" tIns="0" rIns="0" bIns="0" rtlCol="0" anchor="t"/>
          <a:lstStyle/>
          <a:p>
            <a:pPr marL="0" indent="0" algn="l">
              <a:lnSpc>
                <a:spcPts val="2500"/>
              </a:lnSpc>
              <a:buNone/>
            </a:pPr>
            <a:r>
              <a:rPr lang="en-US" sz="2000" b="1" dirty="0">
                <a:solidFill>
                  <a:srgbClr val="000099"/>
                </a:solidFill>
                <a:latin typeface="Open Sans Bold" pitchFamily="34" charset="0"/>
                <a:ea typeface="Open Sans Bold" pitchFamily="34" charset="-122"/>
                <a:cs typeface="Open Sans Bold" pitchFamily="34" charset="-120"/>
              </a:rPr>
              <a:t>QR Code Thép Hộp</a:t>
            </a:r>
            <a:endParaRPr lang="en-US" sz="2000" dirty="0"/>
          </a:p>
        </p:txBody>
      </p:sp>
      <p:sp>
        <p:nvSpPr>
          <p:cNvPr id="24" name="Text 22"/>
          <p:cNvSpPr/>
          <p:nvPr/>
        </p:nvSpPr>
        <p:spPr>
          <a:xfrm>
            <a:off x="8335923" y="6284595"/>
            <a:ext cx="5500688" cy="653415"/>
          </a:xfrm>
          <a:prstGeom prst="rect">
            <a:avLst/>
          </a:prstGeom>
          <a:noFill/>
          <a:ln/>
        </p:spPr>
        <p:txBody>
          <a:bodyPr wrap="square" lIns="0" tIns="0" rIns="0" bIns="0" rtlCol="0" anchor="t"/>
          <a:lstStyle/>
          <a:p>
            <a:pPr marL="0" indent="0" algn="l">
              <a:lnSpc>
                <a:spcPts val="2550"/>
              </a:lnSpc>
              <a:buNone/>
            </a:pPr>
            <a:r>
              <a:rPr lang="en-US" sz="1600" b="1" dirty="0">
                <a:solidFill>
                  <a:srgbClr val="000099"/>
                </a:solidFill>
                <a:latin typeface="Open Sans" pitchFamily="34" charset="0"/>
                <a:ea typeface="Open Sans" pitchFamily="34" charset="-122"/>
                <a:cs typeface="Open Sans" pitchFamily="34" charset="-120"/>
              </a:rPr>
              <a:t>Hợp đồng triển khai đã hoàn thành ký duyệt</a:t>
            </a:r>
            <a:r>
              <a:rPr lang="en-US" sz="1600" dirty="0">
                <a:solidFill>
                  <a:srgbClr val="000099"/>
                </a:solidFill>
                <a:latin typeface="Open Sans" pitchFamily="34" charset="0"/>
                <a:ea typeface="Open Sans" pitchFamily="34" charset="-122"/>
                <a:cs typeface="Open Sans" pitchFamily="34" charset="-120"/>
              </a:rPr>
              <a:t>, chính thức bắt đầu dự án số hóa quản lý sản phẩm.</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name="Slide 5">
    <p:spTree>
      <p:nvGrpSpPr>
        <p:cNvPr id="1" name=""/>
        <p:cNvGrpSpPr/>
        <p:nvPr/>
      </p:nvGrpSpPr>
      <p:grpSpPr>
        <a:xfrm>
          <a:off x="0" y="0"/>
          <a:ext cx="0" cy="0"/>
          <a:chOff x="0" y="0"/>
          <a:chExt cx="0" cy="0"/>
        </a:xfrm>
      </p:grpSpPr>
      <p:sp>
        <p:nvSpPr>
          <p:cNvPr id="2" name="Text 0"/>
          <p:cNvSpPr/>
          <p:nvPr/>
        </p:nvSpPr>
        <p:spPr>
          <a:xfrm>
            <a:off x="793790" y="1575316"/>
            <a:ext cx="13042821" cy="1417558"/>
          </a:xfrm>
          <a:prstGeom prst="rect">
            <a:avLst/>
          </a:prstGeom>
          <a:noFill/>
          <a:ln/>
        </p:spPr>
        <p:txBody>
          <a:bodyPr wrap="square" lIns="0" tIns="0" rIns="0" bIns="0" rtlCol="0" anchor="t"/>
          <a:lstStyle/>
          <a:p>
            <a:pPr marL="0" indent="0" algn="l">
              <a:lnSpc>
                <a:spcPts val="5550"/>
              </a:lnSpc>
              <a:buNone/>
            </a:pPr>
            <a:r>
              <a:rPr lang="en-US" sz="4450" b="1" dirty="0">
                <a:solidFill>
                  <a:srgbClr val="FF0000"/>
                </a:solidFill>
                <a:latin typeface="Open Sans Bold" pitchFamily="34" charset="0"/>
                <a:ea typeface="Open Sans Bold" pitchFamily="34" charset="-122"/>
                <a:cs typeface="Open Sans Bold" pitchFamily="34" charset="-120"/>
              </a:rPr>
              <a:t>C. KẾT QUẢ CÔNG VIỆC EOFFICE – HCM &amp; PHÁT SINH</a:t>
            </a:r>
            <a:endParaRPr lang="en-US" sz="4450" dirty="0"/>
          </a:p>
        </p:txBody>
      </p:sp>
      <p:sp>
        <p:nvSpPr>
          <p:cNvPr id="3" name="Shape 1"/>
          <p:cNvSpPr/>
          <p:nvPr/>
        </p:nvSpPr>
        <p:spPr>
          <a:xfrm>
            <a:off x="793790" y="3446502"/>
            <a:ext cx="13042821" cy="3207663"/>
          </a:xfrm>
          <a:prstGeom prst="roundRect">
            <a:avLst>
              <a:gd name="adj" fmla="val 2970"/>
            </a:avLst>
          </a:prstGeom>
          <a:solidFill>
            <a:srgbClr val="FFCCCC"/>
          </a:solidFill>
          <a:ln w="7620">
            <a:solidFill>
              <a:srgbClr val="E5B2B2"/>
            </a:solidFill>
            <a:prstDash val="solid"/>
          </a:ln>
        </p:spPr>
        <p:txBody>
          <a:bodyPr/>
          <a:lstStyle/>
          <a:p>
            <a:endParaRPr lang="vi-VN"/>
          </a:p>
        </p:txBody>
      </p:sp>
      <p:sp>
        <p:nvSpPr>
          <p:cNvPr id="4" name="Shape 2"/>
          <p:cNvSpPr/>
          <p:nvPr/>
        </p:nvSpPr>
        <p:spPr>
          <a:xfrm>
            <a:off x="801410" y="3454122"/>
            <a:ext cx="4342448" cy="3192423"/>
          </a:xfrm>
          <a:prstGeom prst="roundRect">
            <a:avLst>
              <a:gd name="adj" fmla="val 2984"/>
            </a:avLst>
          </a:prstGeom>
          <a:solidFill>
            <a:srgbClr val="FFCCCC"/>
          </a:solidFill>
          <a:ln/>
        </p:spPr>
        <p:txBody>
          <a:bodyPr/>
          <a:lstStyle/>
          <a:p>
            <a:endParaRPr lang="vi-VN"/>
          </a:p>
        </p:txBody>
      </p:sp>
      <p:sp>
        <p:nvSpPr>
          <p:cNvPr id="5" name="Text 3"/>
          <p:cNvSpPr/>
          <p:nvPr/>
        </p:nvSpPr>
        <p:spPr>
          <a:xfrm>
            <a:off x="1028224" y="3680936"/>
            <a:ext cx="3402330" cy="425291"/>
          </a:xfrm>
          <a:prstGeom prst="rect">
            <a:avLst/>
          </a:prstGeom>
          <a:noFill/>
          <a:ln/>
        </p:spPr>
        <p:txBody>
          <a:bodyPr wrap="none" lIns="0" tIns="0" rIns="0" bIns="0" rtlCol="0" anchor="t"/>
          <a:lstStyle/>
          <a:p>
            <a:pPr marL="0" indent="0" algn="l">
              <a:lnSpc>
                <a:spcPts val="3300"/>
              </a:lnSpc>
              <a:buNone/>
            </a:pPr>
            <a:r>
              <a:rPr lang="en-US" sz="2650" b="1" dirty="0">
                <a:solidFill>
                  <a:srgbClr val="000099"/>
                </a:solidFill>
                <a:latin typeface="Open Sans Bold" pitchFamily="34" charset="0"/>
                <a:ea typeface="Open Sans Bold" pitchFamily="34" charset="-122"/>
                <a:cs typeface="Open Sans Bold" pitchFamily="34" charset="-120"/>
              </a:rPr>
              <a:t>EOFFICE &amp; HCM</a:t>
            </a:r>
            <a:endParaRPr lang="en-US" sz="2650" dirty="0"/>
          </a:p>
        </p:txBody>
      </p:sp>
      <p:sp>
        <p:nvSpPr>
          <p:cNvPr id="6" name="Text 4"/>
          <p:cNvSpPr/>
          <p:nvPr/>
        </p:nvSpPr>
        <p:spPr>
          <a:xfrm>
            <a:off x="1028224" y="4242316"/>
            <a:ext cx="3888819" cy="2177415"/>
          </a:xfrm>
          <a:prstGeom prst="rect">
            <a:avLst/>
          </a:prstGeom>
          <a:noFill/>
          <a:ln/>
        </p:spPr>
        <p:txBody>
          <a:bodyPr wrap="square" lIns="0" tIns="0" rIns="0" bIns="0" rtlCol="0" anchor="t"/>
          <a:lstStyle/>
          <a:p>
            <a:pPr marL="0" indent="0" algn="l">
              <a:lnSpc>
                <a:spcPts val="2850"/>
              </a:lnSpc>
              <a:buNone/>
            </a:pPr>
            <a:r>
              <a:rPr lang="en-US" sz="1750" dirty="0">
                <a:solidFill>
                  <a:srgbClr val="000099"/>
                </a:solidFill>
                <a:latin typeface="Open Sans" pitchFamily="34" charset="0"/>
                <a:ea typeface="Open Sans" pitchFamily="34" charset="-122"/>
                <a:cs typeface="Open Sans" pitchFamily="34" charset="-120"/>
              </a:rPr>
              <a:t>Đã thực hiện điều chỉnh phòng/ban và thay đổi chức danh trên hệ thống theo Cơ cấu tổ chức mới của Khối Sản Xuất và Phòng Quản lý kho, đảm bảo dữ liệu nhân sự đồng bộ và chính xác.</a:t>
            </a:r>
            <a:endParaRPr lang="en-US" sz="1750" dirty="0"/>
          </a:p>
        </p:txBody>
      </p:sp>
      <p:sp>
        <p:nvSpPr>
          <p:cNvPr id="7" name="Shape 5"/>
          <p:cNvSpPr/>
          <p:nvPr/>
        </p:nvSpPr>
        <p:spPr>
          <a:xfrm>
            <a:off x="5143857" y="3454122"/>
            <a:ext cx="4342567" cy="3192423"/>
          </a:xfrm>
          <a:prstGeom prst="rect">
            <a:avLst/>
          </a:prstGeom>
          <a:solidFill>
            <a:srgbClr val="FFCCCC"/>
          </a:solidFill>
          <a:ln/>
        </p:spPr>
        <p:txBody>
          <a:bodyPr/>
          <a:lstStyle/>
          <a:p>
            <a:endParaRPr lang="vi-VN"/>
          </a:p>
        </p:txBody>
      </p:sp>
      <p:sp>
        <p:nvSpPr>
          <p:cNvPr id="8" name="Shape 6"/>
          <p:cNvSpPr/>
          <p:nvPr/>
        </p:nvSpPr>
        <p:spPr>
          <a:xfrm>
            <a:off x="5143857" y="3454122"/>
            <a:ext cx="30480" cy="3192423"/>
          </a:xfrm>
          <a:prstGeom prst="roundRect">
            <a:avLst>
              <a:gd name="adj" fmla="val 312558"/>
            </a:avLst>
          </a:prstGeom>
          <a:solidFill>
            <a:srgbClr val="E5B2B2"/>
          </a:solidFill>
          <a:ln/>
        </p:spPr>
        <p:txBody>
          <a:bodyPr/>
          <a:lstStyle/>
          <a:p>
            <a:endParaRPr lang="vi-VN"/>
          </a:p>
        </p:txBody>
      </p:sp>
      <p:sp>
        <p:nvSpPr>
          <p:cNvPr id="9" name="Text 7"/>
          <p:cNvSpPr/>
          <p:nvPr/>
        </p:nvSpPr>
        <p:spPr>
          <a:xfrm>
            <a:off x="5370671" y="3680936"/>
            <a:ext cx="3888938" cy="850583"/>
          </a:xfrm>
          <a:prstGeom prst="rect">
            <a:avLst/>
          </a:prstGeom>
          <a:noFill/>
          <a:ln/>
        </p:spPr>
        <p:txBody>
          <a:bodyPr wrap="square" lIns="0" tIns="0" rIns="0" bIns="0" rtlCol="0" anchor="t"/>
          <a:lstStyle/>
          <a:p>
            <a:pPr marL="0" indent="0" algn="l">
              <a:lnSpc>
                <a:spcPts val="3300"/>
              </a:lnSpc>
              <a:buNone/>
            </a:pPr>
            <a:r>
              <a:rPr lang="en-US" sz="2650" b="1" dirty="0">
                <a:solidFill>
                  <a:srgbClr val="000099"/>
                </a:solidFill>
                <a:latin typeface="Open Sans Bold" pitchFamily="34" charset="0"/>
                <a:ea typeface="Open Sans Bold" pitchFamily="34" charset="-122"/>
                <a:cs typeface="Open Sans Bold" pitchFamily="34" charset="-120"/>
              </a:rPr>
              <a:t>Ngừng Kho Trung Chuyển (ERP)</a:t>
            </a:r>
            <a:endParaRPr lang="en-US" sz="2650" dirty="0"/>
          </a:p>
        </p:txBody>
      </p:sp>
      <p:sp>
        <p:nvSpPr>
          <p:cNvPr id="10" name="Text 8"/>
          <p:cNvSpPr/>
          <p:nvPr/>
        </p:nvSpPr>
        <p:spPr>
          <a:xfrm>
            <a:off x="5370671" y="4667607"/>
            <a:ext cx="3888938" cy="1451610"/>
          </a:xfrm>
          <a:prstGeom prst="rect">
            <a:avLst/>
          </a:prstGeom>
          <a:noFill/>
          <a:ln/>
        </p:spPr>
        <p:txBody>
          <a:bodyPr wrap="square" lIns="0" tIns="0" rIns="0" bIns="0" rtlCol="0" anchor="t"/>
          <a:lstStyle/>
          <a:p>
            <a:pPr marL="0" indent="0" algn="l">
              <a:lnSpc>
                <a:spcPts val="2850"/>
              </a:lnSpc>
              <a:buNone/>
            </a:pPr>
            <a:r>
              <a:rPr lang="en-US" sz="1750" dirty="0">
                <a:solidFill>
                  <a:srgbClr val="000099"/>
                </a:solidFill>
                <a:latin typeface="Open Sans" pitchFamily="34" charset="0"/>
                <a:ea typeface="Open Sans" pitchFamily="34" charset="-122"/>
                <a:cs typeface="Open Sans" pitchFamily="34" charset="-120"/>
              </a:rPr>
              <a:t>Thông báo </a:t>
            </a:r>
            <a:r>
              <a:rPr lang="en-US" sz="1750" b="1" dirty="0">
                <a:solidFill>
                  <a:srgbClr val="000099"/>
                </a:solidFill>
                <a:latin typeface="Open Sans" pitchFamily="34" charset="0"/>
                <a:ea typeface="Open Sans" pitchFamily="34" charset="-122"/>
                <a:cs typeface="Open Sans" pitchFamily="34" charset="-120"/>
              </a:rPr>
              <a:t>ngưng sử dụng kho trung chuyển</a:t>
            </a:r>
            <a:r>
              <a:rPr lang="en-US" sz="1750" dirty="0">
                <a:solidFill>
                  <a:srgbClr val="000099"/>
                </a:solidFill>
                <a:latin typeface="Open Sans" pitchFamily="34" charset="0"/>
                <a:ea typeface="Open Sans" pitchFamily="34" charset="-122"/>
                <a:cs typeface="Open Sans" pitchFamily="34" charset="-120"/>
              </a:rPr>
              <a:t> trên hệ thống ERP chính thức từ ngày </a:t>
            </a:r>
            <a:r>
              <a:rPr lang="en-US" sz="1750" dirty="0">
                <a:solidFill>
                  <a:srgbClr val="FF0101"/>
                </a:solidFill>
                <a:latin typeface="Open Sans" pitchFamily="34" charset="0"/>
                <a:ea typeface="Open Sans" pitchFamily="34" charset="-122"/>
                <a:cs typeface="Open Sans" pitchFamily="34" charset="-120"/>
              </a:rPr>
              <a:t>01/11/2025</a:t>
            </a:r>
            <a:r>
              <a:rPr lang="en-US" sz="1750" dirty="0">
                <a:solidFill>
                  <a:srgbClr val="000099"/>
                </a:solidFill>
                <a:latin typeface="Open Sans" pitchFamily="34" charset="0"/>
                <a:ea typeface="Open Sans" pitchFamily="34" charset="-122"/>
                <a:cs typeface="Open Sans" pitchFamily="34" charset="-120"/>
              </a:rPr>
              <a:t>, tối ưu hóa quy trình quản lý kho hàng.</a:t>
            </a:r>
            <a:endParaRPr lang="en-US" sz="1750" dirty="0"/>
          </a:p>
        </p:txBody>
      </p:sp>
      <p:sp>
        <p:nvSpPr>
          <p:cNvPr id="11" name="Shape 9"/>
          <p:cNvSpPr/>
          <p:nvPr/>
        </p:nvSpPr>
        <p:spPr>
          <a:xfrm>
            <a:off x="9486424" y="3454122"/>
            <a:ext cx="4342567" cy="3192423"/>
          </a:xfrm>
          <a:prstGeom prst="rect">
            <a:avLst/>
          </a:prstGeom>
          <a:solidFill>
            <a:srgbClr val="FFCCCC"/>
          </a:solidFill>
          <a:ln/>
        </p:spPr>
        <p:txBody>
          <a:bodyPr/>
          <a:lstStyle/>
          <a:p>
            <a:endParaRPr lang="vi-VN"/>
          </a:p>
        </p:txBody>
      </p:sp>
      <p:sp>
        <p:nvSpPr>
          <p:cNvPr id="12" name="Shape 10"/>
          <p:cNvSpPr/>
          <p:nvPr/>
        </p:nvSpPr>
        <p:spPr>
          <a:xfrm>
            <a:off x="9486424" y="3454122"/>
            <a:ext cx="30480" cy="3192423"/>
          </a:xfrm>
          <a:prstGeom prst="roundRect">
            <a:avLst>
              <a:gd name="adj" fmla="val 312558"/>
            </a:avLst>
          </a:prstGeom>
          <a:solidFill>
            <a:srgbClr val="E5B2B2"/>
          </a:solidFill>
          <a:ln/>
        </p:spPr>
        <p:txBody>
          <a:bodyPr/>
          <a:lstStyle/>
          <a:p>
            <a:endParaRPr lang="vi-VN"/>
          </a:p>
        </p:txBody>
      </p:sp>
      <p:sp>
        <p:nvSpPr>
          <p:cNvPr id="13" name="Text 11"/>
          <p:cNvSpPr/>
          <p:nvPr/>
        </p:nvSpPr>
        <p:spPr>
          <a:xfrm>
            <a:off x="9713238" y="3680936"/>
            <a:ext cx="3888938" cy="850583"/>
          </a:xfrm>
          <a:prstGeom prst="rect">
            <a:avLst/>
          </a:prstGeom>
          <a:noFill/>
          <a:ln/>
        </p:spPr>
        <p:txBody>
          <a:bodyPr wrap="square" lIns="0" tIns="0" rIns="0" bIns="0" rtlCol="0" anchor="t"/>
          <a:lstStyle/>
          <a:p>
            <a:pPr marL="0" indent="0" algn="l">
              <a:lnSpc>
                <a:spcPts val="3300"/>
              </a:lnSpc>
              <a:buNone/>
            </a:pPr>
            <a:r>
              <a:rPr lang="en-US" sz="2650" b="1" dirty="0">
                <a:solidFill>
                  <a:srgbClr val="000099"/>
                </a:solidFill>
                <a:latin typeface="Open Sans Bold" pitchFamily="34" charset="0"/>
                <a:ea typeface="Open Sans Bold" pitchFamily="34" charset="-122"/>
                <a:cs typeface="Open Sans Bold" pitchFamily="34" charset="-120"/>
              </a:rPr>
              <a:t>Chiết Khấu Bán Hàng (CKBH)</a:t>
            </a:r>
            <a:endParaRPr lang="en-US" sz="2650" dirty="0"/>
          </a:p>
        </p:txBody>
      </p:sp>
      <p:sp>
        <p:nvSpPr>
          <p:cNvPr id="14" name="Text 12"/>
          <p:cNvSpPr/>
          <p:nvPr/>
        </p:nvSpPr>
        <p:spPr>
          <a:xfrm>
            <a:off x="9713238" y="4667607"/>
            <a:ext cx="3888938" cy="1451610"/>
          </a:xfrm>
          <a:prstGeom prst="rect">
            <a:avLst/>
          </a:prstGeom>
          <a:noFill/>
          <a:ln/>
        </p:spPr>
        <p:txBody>
          <a:bodyPr wrap="square" lIns="0" tIns="0" rIns="0" bIns="0" rtlCol="0" anchor="t"/>
          <a:lstStyle/>
          <a:p>
            <a:pPr marL="0" indent="0" algn="l">
              <a:lnSpc>
                <a:spcPts val="2850"/>
              </a:lnSpc>
              <a:buNone/>
            </a:pPr>
            <a:r>
              <a:rPr lang="en-US" sz="1750" dirty="0">
                <a:solidFill>
                  <a:srgbClr val="000099"/>
                </a:solidFill>
                <a:latin typeface="Open Sans" pitchFamily="34" charset="0"/>
                <a:ea typeface="Open Sans" pitchFamily="34" charset="-122"/>
                <a:cs typeface="Open Sans" pitchFamily="34" charset="-120"/>
              </a:rPr>
              <a:t>Đã tổ chức họp trao đổi phạm vi phát sinh các Change Request (CR) sau Golive với đối tác iERP, chuẩn bị cho các đợt điều chỉnh tiếp theo.</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name="Slide 6">
    <p:spTree>
      <p:nvGrpSpPr>
        <p:cNvPr id="1" name=""/>
        <p:cNvGrpSpPr/>
        <p:nvPr/>
      </p:nvGrpSpPr>
      <p:grpSpPr>
        <a:xfrm>
          <a:off x="0" y="0"/>
          <a:ext cx="0" cy="0"/>
          <a:chOff x="0" y="0"/>
          <a:chExt cx="0" cy="0"/>
        </a:xfrm>
      </p:grpSpPr>
      <p:sp>
        <p:nvSpPr>
          <p:cNvPr id="2" name="Text 0"/>
          <p:cNvSpPr/>
          <p:nvPr/>
        </p:nvSpPr>
        <p:spPr>
          <a:xfrm>
            <a:off x="793790" y="660321"/>
            <a:ext cx="9115425" cy="518993"/>
          </a:xfrm>
          <a:prstGeom prst="rect">
            <a:avLst/>
          </a:prstGeom>
          <a:noFill/>
          <a:ln/>
        </p:spPr>
        <p:txBody>
          <a:bodyPr wrap="none" lIns="0" tIns="0" rIns="0" bIns="0" rtlCol="0" anchor="t"/>
          <a:lstStyle/>
          <a:p>
            <a:pPr marL="0" indent="0" algn="l">
              <a:lnSpc>
                <a:spcPts val="3900"/>
              </a:lnSpc>
              <a:buNone/>
            </a:pPr>
            <a:r>
              <a:rPr lang="en-US" sz="3100" b="1" dirty="0">
                <a:solidFill>
                  <a:srgbClr val="FF0000"/>
                </a:solidFill>
                <a:latin typeface="Open Sans Bold" pitchFamily="34" charset="0"/>
                <a:ea typeface="Open Sans Bold" pitchFamily="34" charset="-122"/>
                <a:cs typeface="Open Sans Bold" pitchFamily="34" charset="-120"/>
              </a:rPr>
              <a:t>D. CHUYỂN ĐỔI SỐ (CĐS) &amp; SÁNG KIẾN VỀ AI </a:t>
            </a:r>
            <a:r>
              <a:rPr lang="en-US" sz="3100" b="1" dirty="0">
                <a:solidFill>
                  <a:srgbClr val="000000"/>
                </a:solidFill>
                <a:latin typeface="Open Sans Bold" pitchFamily="34" charset="0"/>
                <a:ea typeface="Open Sans Bold" pitchFamily="34" charset="-122"/>
                <a:cs typeface="Open Sans Bold" pitchFamily="34" charset="-120"/>
              </a:rPr>
              <a:t>💡</a:t>
            </a:r>
            <a:endParaRPr lang="en-US" sz="3100" dirty="0"/>
          </a:p>
        </p:txBody>
      </p:sp>
      <p:sp>
        <p:nvSpPr>
          <p:cNvPr id="3" name="Text 1"/>
          <p:cNvSpPr/>
          <p:nvPr/>
        </p:nvSpPr>
        <p:spPr>
          <a:xfrm>
            <a:off x="793790" y="1576149"/>
            <a:ext cx="3545919" cy="396835"/>
          </a:xfrm>
          <a:prstGeom prst="rect">
            <a:avLst/>
          </a:prstGeom>
          <a:noFill/>
          <a:ln/>
        </p:spPr>
        <p:txBody>
          <a:bodyPr wrap="none" lIns="0" tIns="0" rIns="0" bIns="0" rtlCol="0" anchor="t"/>
          <a:lstStyle/>
          <a:p>
            <a:pPr marL="0" indent="0" algn="l">
              <a:lnSpc>
                <a:spcPts val="3100"/>
              </a:lnSpc>
              <a:buNone/>
            </a:pPr>
            <a:r>
              <a:rPr lang="en-US" sz="2500" b="1" dirty="0">
                <a:solidFill>
                  <a:srgbClr val="FF0000"/>
                </a:solidFill>
                <a:latin typeface="Open Sans Bold" pitchFamily="34" charset="0"/>
                <a:ea typeface="Open Sans Bold" pitchFamily="34" charset="-122"/>
                <a:cs typeface="Open Sans Bold" pitchFamily="34" charset="-120"/>
              </a:rPr>
              <a:t>Tiếp Cận Công Nghệ AI</a:t>
            </a:r>
            <a:endParaRPr lang="en-US" sz="2500" dirty="0"/>
          </a:p>
        </p:txBody>
      </p:sp>
      <p:sp>
        <p:nvSpPr>
          <p:cNvPr id="4" name="Text 2"/>
          <p:cNvSpPr/>
          <p:nvPr/>
        </p:nvSpPr>
        <p:spPr>
          <a:xfrm>
            <a:off x="793790" y="2131695"/>
            <a:ext cx="6327815" cy="254079"/>
          </a:xfrm>
          <a:prstGeom prst="rect">
            <a:avLst/>
          </a:prstGeom>
          <a:noFill/>
          <a:ln/>
        </p:spPr>
        <p:txBody>
          <a:bodyPr wrap="none" lIns="0" tIns="0" rIns="0" bIns="0" rtlCol="0" anchor="t"/>
          <a:lstStyle/>
          <a:p>
            <a:pPr marL="0" indent="0" algn="l">
              <a:lnSpc>
                <a:spcPts val="2000"/>
              </a:lnSpc>
              <a:buNone/>
            </a:pPr>
            <a:r>
              <a:rPr lang="en-US" sz="1250" dirty="0">
                <a:solidFill>
                  <a:srgbClr val="000099"/>
                </a:solidFill>
                <a:latin typeface="Open Sans" pitchFamily="34" charset="0"/>
                <a:ea typeface="Open Sans" pitchFamily="34" charset="-122"/>
                <a:cs typeface="Open Sans" pitchFamily="34" charset="-120"/>
              </a:rPr>
              <a:t>Đã hoàn thành và trình duyệt </a:t>
            </a:r>
            <a:r>
              <a:rPr lang="en-US" sz="1250" dirty="0">
                <a:solidFill>
                  <a:srgbClr val="FF0101"/>
                </a:solidFill>
                <a:latin typeface="Open Sans" pitchFamily="34" charset="0"/>
                <a:ea typeface="Open Sans" pitchFamily="34" charset="-122"/>
                <a:cs typeface="Open Sans" pitchFamily="34" charset="-120"/>
              </a:rPr>
              <a:t>Đề xuất lộ trình tiếp cận kiến thức và ứng dụng AI</a:t>
            </a:r>
            <a:endParaRPr lang="en-US" sz="1250" dirty="0"/>
          </a:p>
        </p:txBody>
      </p:sp>
      <p:sp>
        <p:nvSpPr>
          <p:cNvPr id="5" name="Text 3"/>
          <p:cNvSpPr/>
          <p:nvPr/>
        </p:nvSpPr>
        <p:spPr>
          <a:xfrm>
            <a:off x="793790" y="2528649"/>
            <a:ext cx="6327815" cy="254079"/>
          </a:xfrm>
          <a:prstGeom prst="rect">
            <a:avLst/>
          </a:prstGeom>
          <a:noFill/>
          <a:ln/>
        </p:spPr>
        <p:txBody>
          <a:bodyPr wrap="none" lIns="0" tIns="0" rIns="0" bIns="0" rtlCol="0" anchor="t"/>
          <a:lstStyle/>
          <a:p>
            <a:pPr marL="0" indent="0" algn="l">
              <a:lnSpc>
                <a:spcPts val="2000"/>
              </a:lnSpc>
              <a:buNone/>
            </a:pPr>
            <a:endParaRPr lang="en-US" sz="1250" dirty="0"/>
          </a:p>
        </p:txBody>
      </p:sp>
      <p:pic>
        <p:nvPicPr>
          <p:cNvPr id="6" name="Image 0" descr="preencoded.png"/>
          <p:cNvPicPr>
            <a:picLocks noChangeAspect="1"/>
          </p:cNvPicPr>
          <p:nvPr/>
        </p:nvPicPr>
        <p:blipFill>
          <a:blip r:embed="rId3"/>
          <a:stretch>
            <a:fillRect/>
          </a:stretch>
        </p:blipFill>
        <p:spPr>
          <a:xfrm>
            <a:off x="793790" y="2961323"/>
            <a:ext cx="4429363" cy="4429363"/>
          </a:xfrm>
          <a:prstGeom prst="rect">
            <a:avLst/>
          </a:prstGeom>
        </p:spPr>
      </p:pic>
      <p:sp>
        <p:nvSpPr>
          <p:cNvPr id="7" name="Text 4"/>
          <p:cNvSpPr/>
          <p:nvPr/>
        </p:nvSpPr>
        <p:spPr>
          <a:xfrm>
            <a:off x="7516416" y="1576149"/>
            <a:ext cx="3803571" cy="396835"/>
          </a:xfrm>
          <a:prstGeom prst="rect">
            <a:avLst/>
          </a:prstGeom>
          <a:noFill/>
          <a:ln/>
        </p:spPr>
        <p:txBody>
          <a:bodyPr wrap="none" lIns="0" tIns="0" rIns="0" bIns="0" rtlCol="0" anchor="t"/>
          <a:lstStyle/>
          <a:p>
            <a:pPr marL="0" indent="0" algn="l">
              <a:lnSpc>
                <a:spcPts val="3100"/>
              </a:lnSpc>
              <a:buNone/>
            </a:pPr>
            <a:r>
              <a:rPr lang="en-US" sz="2500" b="1" dirty="0">
                <a:solidFill>
                  <a:srgbClr val="FF0000"/>
                </a:solidFill>
                <a:latin typeface="Open Sans Bold" pitchFamily="34" charset="0"/>
                <a:ea typeface="Open Sans Bold" pitchFamily="34" charset="-122"/>
                <a:cs typeface="Open Sans Bold" pitchFamily="34" charset="-120"/>
              </a:rPr>
              <a:t>Hoạt động CĐS Tổng thể</a:t>
            </a:r>
            <a:endParaRPr lang="en-US" sz="2500" dirty="0"/>
          </a:p>
        </p:txBody>
      </p:sp>
      <p:sp>
        <p:nvSpPr>
          <p:cNvPr id="8" name="Shape 5"/>
          <p:cNvSpPr/>
          <p:nvPr/>
        </p:nvSpPr>
        <p:spPr>
          <a:xfrm>
            <a:off x="7516416" y="2151578"/>
            <a:ext cx="6327815" cy="1278017"/>
          </a:xfrm>
          <a:prstGeom prst="roundRect">
            <a:avLst>
              <a:gd name="adj" fmla="val 8586"/>
            </a:avLst>
          </a:prstGeom>
          <a:solidFill>
            <a:srgbClr val="FFFFFF"/>
          </a:solidFill>
          <a:ln w="22860">
            <a:solidFill>
              <a:srgbClr val="E5B2B2"/>
            </a:solidFill>
            <a:prstDash val="solid"/>
          </a:ln>
        </p:spPr>
        <p:txBody>
          <a:bodyPr/>
          <a:lstStyle/>
          <a:p>
            <a:endParaRPr lang="vi-VN"/>
          </a:p>
        </p:txBody>
      </p:sp>
      <p:sp>
        <p:nvSpPr>
          <p:cNvPr id="9" name="Shape 6"/>
          <p:cNvSpPr/>
          <p:nvPr/>
        </p:nvSpPr>
        <p:spPr>
          <a:xfrm>
            <a:off x="7493556" y="2151578"/>
            <a:ext cx="91440" cy="1278017"/>
          </a:xfrm>
          <a:prstGeom prst="roundRect">
            <a:avLst>
              <a:gd name="adj" fmla="val 72930"/>
            </a:avLst>
          </a:prstGeom>
          <a:solidFill>
            <a:srgbClr val="FF0101"/>
          </a:solidFill>
          <a:ln/>
        </p:spPr>
        <p:txBody>
          <a:bodyPr/>
          <a:lstStyle/>
          <a:p>
            <a:endParaRPr lang="vi-VN"/>
          </a:p>
        </p:txBody>
      </p:sp>
      <p:sp>
        <p:nvSpPr>
          <p:cNvPr id="10" name="Text 7"/>
          <p:cNvSpPr/>
          <p:nvPr/>
        </p:nvSpPr>
        <p:spPr>
          <a:xfrm>
            <a:off x="7766566" y="2333149"/>
            <a:ext cx="2391966" cy="248007"/>
          </a:xfrm>
          <a:prstGeom prst="rect">
            <a:avLst/>
          </a:prstGeom>
          <a:noFill/>
          <a:ln/>
        </p:spPr>
        <p:txBody>
          <a:bodyPr wrap="none" lIns="0" tIns="0" rIns="0" bIns="0" rtlCol="0" anchor="t"/>
          <a:lstStyle/>
          <a:p>
            <a:pPr marL="0" indent="0" algn="l">
              <a:lnSpc>
                <a:spcPts val="1950"/>
              </a:lnSpc>
              <a:buNone/>
            </a:pPr>
            <a:r>
              <a:rPr lang="en-US" sz="1550" b="1" dirty="0">
                <a:solidFill>
                  <a:srgbClr val="000099"/>
                </a:solidFill>
                <a:latin typeface="Open Sans Bold" pitchFamily="34" charset="0"/>
                <a:ea typeface="Open Sans Bold" pitchFamily="34" charset="-122"/>
                <a:cs typeface="Open Sans Bold" pitchFamily="34" charset="-120"/>
              </a:rPr>
              <a:t>Phối hợp Phòng Kế Toán</a:t>
            </a:r>
            <a:endParaRPr lang="en-US" sz="1550" dirty="0"/>
          </a:p>
        </p:txBody>
      </p:sp>
      <p:sp>
        <p:nvSpPr>
          <p:cNvPr id="11" name="Text 8"/>
          <p:cNvSpPr/>
          <p:nvPr/>
        </p:nvSpPr>
        <p:spPr>
          <a:xfrm>
            <a:off x="7766566" y="2739866"/>
            <a:ext cx="5896094" cy="508159"/>
          </a:xfrm>
          <a:prstGeom prst="rect">
            <a:avLst/>
          </a:prstGeom>
          <a:noFill/>
          <a:ln/>
        </p:spPr>
        <p:txBody>
          <a:bodyPr wrap="square" lIns="0" tIns="0" rIns="0" bIns="0" rtlCol="0" anchor="t"/>
          <a:lstStyle/>
          <a:p>
            <a:pPr marL="0" indent="0" algn="l">
              <a:lnSpc>
                <a:spcPts val="2000"/>
              </a:lnSpc>
              <a:buNone/>
            </a:pPr>
            <a:r>
              <a:rPr lang="en-US" sz="1250" dirty="0">
                <a:solidFill>
                  <a:srgbClr val="000099"/>
                </a:solidFill>
                <a:latin typeface="Open Sans" pitchFamily="34" charset="0"/>
                <a:ea typeface="Open Sans" pitchFamily="34" charset="-122"/>
                <a:cs typeface="Open Sans" pitchFamily="34" charset="-120"/>
              </a:rPr>
              <a:t>Tổ chức họp đánh giá giải pháp cho </a:t>
            </a:r>
            <a:r>
              <a:rPr lang="en-US" sz="1250" b="1" dirty="0">
                <a:solidFill>
                  <a:srgbClr val="000099"/>
                </a:solidFill>
                <a:latin typeface="Open Sans" pitchFamily="34" charset="0"/>
                <a:ea typeface="Open Sans" pitchFamily="34" charset="-122"/>
                <a:cs typeface="Open Sans" pitchFamily="34" charset="-120"/>
              </a:rPr>
              <a:t>11 issues</a:t>
            </a:r>
            <a:r>
              <a:rPr lang="en-US" sz="1250" dirty="0">
                <a:solidFill>
                  <a:srgbClr val="000099"/>
                </a:solidFill>
                <a:latin typeface="Open Sans" pitchFamily="34" charset="0"/>
                <a:ea typeface="Open Sans" pitchFamily="34" charset="-122"/>
                <a:cs typeface="Open Sans" pitchFamily="34" charset="-120"/>
              </a:rPr>
              <a:t> phát sinh và đề xuất lựa chọn đơn vị thực hiện để giải quyết dứt điểm các vấn đề tồn đọng.</a:t>
            </a:r>
            <a:endParaRPr lang="en-US" sz="1250" dirty="0"/>
          </a:p>
        </p:txBody>
      </p:sp>
      <p:sp>
        <p:nvSpPr>
          <p:cNvPr id="12" name="Shape 9"/>
          <p:cNvSpPr/>
          <p:nvPr/>
        </p:nvSpPr>
        <p:spPr>
          <a:xfrm>
            <a:off x="7516416" y="3588306"/>
            <a:ext cx="6327815" cy="1278017"/>
          </a:xfrm>
          <a:prstGeom prst="roundRect">
            <a:avLst>
              <a:gd name="adj" fmla="val 8586"/>
            </a:avLst>
          </a:prstGeom>
          <a:solidFill>
            <a:srgbClr val="FFFFFF"/>
          </a:solidFill>
          <a:ln w="22860">
            <a:solidFill>
              <a:srgbClr val="E5B2B2"/>
            </a:solidFill>
            <a:prstDash val="solid"/>
          </a:ln>
        </p:spPr>
        <p:txBody>
          <a:bodyPr/>
          <a:lstStyle/>
          <a:p>
            <a:endParaRPr lang="vi-VN"/>
          </a:p>
        </p:txBody>
      </p:sp>
      <p:sp>
        <p:nvSpPr>
          <p:cNvPr id="13" name="Shape 10"/>
          <p:cNvSpPr/>
          <p:nvPr/>
        </p:nvSpPr>
        <p:spPr>
          <a:xfrm>
            <a:off x="7493556" y="3588306"/>
            <a:ext cx="91440" cy="1278017"/>
          </a:xfrm>
          <a:prstGeom prst="roundRect">
            <a:avLst>
              <a:gd name="adj" fmla="val 72930"/>
            </a:avLst>
          </a:prstGeom>
          <a:solidFill>
            <a:srgbClr val="FF0101"/>
          </a:solidFill>
          <a:ln/>
        </p:spPr>
        <p:txBody>
          <a:bodyPr/>
          <a:lstStyle/>
          <a:p>
            <a:endParaRPr lang="vi-VN"/>
          </a:p>
        </p:txBody>
      </p:sp>
      <p:sp>
        <p:nvSpPr>
          <p:cNvPr id="14" name="Text 11"/>
          <p:cNvSpPr/>
          <p:nvPr/>
        </p:nvSpPr>
        <p:spPr>
          <a:xfrm>
            <a:off x="7766566" y="3769876"/>
            <a:ext cx="1984653" cy="248007"/>
          </a:xfrm>
          <a:prstGeom prst="rect">
            <a:avLst/>
          </a:prstGeom>
          <a:noFill/>
          <a:ln/>
        </p:spPr>
        <p:txBody>
          <a:bodyPr wrap="none" lIns="0" tIns="0" rIns="0" bIns="0" rtlCol="0" anchor="t"/>
          <a:lstStyle/>
          <a:p>
            <a:pPr marL="0" indent="0" algn="l">
              <a:lnSpc>
                <a:spcPts val="1950"/>
              </a:lnSpc>
              <a:buNone/>
            </a:pPr>
            <a:r>
              <a:rPr lang="en-US" sz="1550" b="1" dirty="0">
                <a:solidFill>
                  <a:srgbClr val="000099"/>
                </a:solidFill>
                <a:latin typeface="Open Sans Bold" pitchFamily="34" charset="0"/>
                <a:ea typeface="Open Sans Bold" pitchFamily="34" charset="-122"/>
                <a:cs typeface="Open Sans Bold" pitchFamily="34" charset="-120"/>
              </a:rPr>
              <a:t>Họp Về CĐS Nội Bộ</a:t>
            </a:r>
            <a:endParaRPr lang="en-US" sz="1550" dirty="0"/>
          </a:p>
        </p:txBody>
      </p:sp>
      <p:sp>
        <p:nvSpPr>
          <p:cNvPr id="15" name="Text 12"/>
          <p:cNvSpPr/>
          <p:nvPr/>
        </p:nvSpPr>
        <p:spPr>
          <a:xfrm>
            <a:off x="7766566" y="4176593"/>
            <a:ext cx="5896094" cy="508159"/>
          </a:xfrm>
          <a:prstGeom prst="rect">
            <a:avLst/>
          </a:prstGeom>
          <a:noFill/>
          <a:ln/>
        </p:spPr>
        <p:txBody>
          <a:bodyPr wrap="square" lIns="0" tIns="0" rIns="0" bIns="0" rtlCol="0" anchor="t"/>
          <a:lstStyle/>
          <a:p>
            <a:pPr marL="0" indent="0" algn="l">
              <a:lnSpc>
                <a:spcPts val="2000"/>
              </a:lnSpc>
              <a:buNone/>
            </a:pPr>
            <a:r>
              <a:rPr lang="en-US" sz="1250" dirty="0">
                <a:solidFill>
                  <a:srgbClr val="000099"/>
                </a:solidFill>
                <a:latin typeface="Open Sans" pitchFamily="34" charset="0"/>
                <a:ea typeface="Open Sans" pitchFamily="34" charset="-122"/>
                <a:cs typeface="Open Sans" pitchFamily="34" charset="-120"/>
              </a:rPr>
              <a:t>Tổ chức họp với Phòng Kỹ Thuật (P.KT) để thống nhất các vấn đề liên quan đến chiến lược và các dự án </a:t>
            </a:r>
            <a:r>
              <a:rPr lang="en-US" sz="1250" b="1" dirty="0">
                <a:solidFill>
                  <a:srgbClr val="000099"/>
                </a:solidFill>
                <a:latin typeface="Open Sans" pitchFamily="34" charset="0"/>
                <a:ea typeface="Open Sans" pitchFamily="34" charset="-122"/>
                <a:cs typeface="Open Sans" pitchFamily="34" charset="-120"/>
              </a:rPr>
              <a:t>Chuyển đổi số</a:t>
            </a:r>
            <a:r>
              <a:rPr lang="en-US" sz="1250" dirty="0">
                <a:solidFill>
                  <a:srgbClr val="000099"/>
                </a:solidFill>
                <a:latin typeface="Open Sans" pitchFamily="34" charset="0"/>
                <a:ea typeface="Open Sans" pitchFamily="34" charset="-122"/>
                <a:cs typeface="Open Sans" pitchFamily="34" charset="-120"/>
              </a:rPr>
              <a:t> đang triển khai.</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name="Slide 7">
    <p:spTree>
      <p:nvGrpSpPr>
        <p:cNvPr id="1" name=""/>
        <p:cNvGrpSpPr/>
        <p:nvPr/>
      </p:nvGrpSpPr>
      <p:grpSpPr>
        <a:xfrm>
          <a:off x="0" y="0"/>
          <a:ext cx="0" cy="0"/>
          <a:chOff x="0" y="0"/>
          <a:chExt cx="0" cy="0"/>
        </a:xfrm>
      </p:grpSpPr>
      <p:sp>
        <p:nvSpPr>
          <p:cNvPr id="2" name="Text 0"/>
          <p:cNvSpPr/>
          <p:nvPr/>
        </p:nvSpPr>
        <p:spPr>
          <a:xfrm>
            <a:off x="793790" y="1990011"/>
            <a:ext cx="12237125" cy="708779"/>
          </a:xfrm>
          <a:prstGeom prst="rect">
            <a:avLst/>
          </a:prstGeom>
          <a:noFill/>
          <a:ln/>
        </p:spPr>
        <p:txBody>
          <a:bodyPr wrap="none" lIns="0" tIns="0" rIns="0" bIns="0" rtlCol="0" anchor="t"/>
          <a:lstStyle/>
          <a:p>
            <a:pPr marL="0" indent="0" algn="l">
              <a:lnSpc>
                <a:spcPts val="5550"/>
              </a:lnSpc>
              <a:buNone/>
            </a:pPr>
            <a:r>
              <a:rPr lang="en-US" sz="4450" b="1" dirty="0">
                <a:solidFill>
                  <a:srgbClr val="FF0000"/>
                </a:solidFill>
                <a:latin typeface="Open Sans Bold" pitchFamily="34" charset="0"/>
                <a:ea typeface="Open Sans Bold" pitchFamily="34" charset="-122"/>
                <a:cs typeface="Open Sans Bold" pitchFamily="34" charset="-120"/>
              </a:rPr>
              <a:t>E. TỔNG HỢP CÁC CÔNG VIỆC HOÀN THÀNH</a:t>
            </a:r>
            <a:endParaRPr lang="en-US" sz="4450" dirty="0"/>
          </a:p>
        </p:txBody>
      </p:sp>
      <p:sp>
        <p:nvSpPr>
          <p:cNvPr id="3" name="Text 1"/>
          <p:cNvSpPr/>
          <p:nvPr/>
        </p:nvSpPr>
        <p:spPr>
          <a:xfrm>
            <a:off x="793790" y="3265765"/>
            <a:ext cx="3048000" cy="748427"/>
          </a:xfrm>
          <a:prstGeom prst="rect">
            <a:avLst/>
          </a:prstGeom>
          <a:noFill/>
          <a:ln/>
        </p:spPr>
        <p:txBody>
          <a:bodyPr wrap="none" lIns="0" tIns="0" rIns="0" bIns="0" rtlCol="0" anchor="t"/>
          <a:lstStyle/>
          <a:p>
            <a:pPr marL="0" indent="0" algn="ctr">
              <a:lnSpc>
                <a:spcPts val="5850"/>
              </a:lnSpc>
              <a:buNone/>
            </a:pPr>
            <a:r>
              <a:rPr lang="en-US" sz="5850" b="1" dirty="0">
                <a:solidFill>
                  <a:srgbClr val="000099"/>
                </a:solidFill>
                <a:latin typeface="Open Sans Bold" pitchFamily="34" charset="0"/>
                <a:ea typeface="Open Sans Bold" pitchFamily="34" charset="-122"/>
                <a:cs typeface="Open Sans Bold" pitchFamily="34" charset="-120"/>
              </a:rPr>
              <a:t>—</a:t>
            </a:r>
            <a:endParaRPr lang="en-US" sz="5850" dirty="0"/>
          </a:p>
        </p:txBody>
      </p:sp>
      <p:sp>
        <p:nvSpPr>
          <p:cNvPr id="4" name="Text 2"/>
          <p:cNvSpPr/>
          <p:nvPr/>
        </p:nvSpPr>
        <p:spPr>
          <a:xfrm>
            <a:off x="900113" y="4297561"/>
            <a:ext cx="2835235" cy="354330"/>
          </a:xfrm>
          <a:prstGeom prst="rect">
            <a:avLst/>
          </a:prstGeom>
          <a:noFill/>
          <a:ln/>
        </p:spPr>
        <p:txBody>
          <a:bodyPr wrap="none" lIns="0" tIns="0" rIns="0" bIns="0" rtlCol="0" anchor="t"/>
          <a:lstStyle/>
          <a:p>
            <a:pPr marL="0" indent="0" algn="ctr">
              <a:lnSpc>
                <a:spcPts val="2750"/>
              </a:lnSpc>
              <a:buNone/>
            </a:pPr>
            <a:r>
              <a:rPr lang="en-US" sz="2200" b="1" dirty="0">
                <a:solidFill>
                  <a:srgbClr val="000099"/>
                </a:solidFill>
                <a:latin typeface="Open Sans Bold" pitchFamily="34" charset="0"/>
                <a:ea typeface="Open Sans Bold" pitchFamily="34" charset="-122"/>
                <a:cs typeface="Open Sans Bold" pitchFamily="34" charset="-120"/>
              </a:rPr>
              <a:t>Hợp Đồng Bảo Trì</a:t>
            </a:r>
            <a:endParaRPr lang="en-US" sz="2200" dirty="0"/>
          </a:p>
        </p:txBody>
      </p:sp>
      <p:sp>
        <p:nvSpPr>
          <p:cNvPr id="5" name="Text 3"/>
          <p:cNvSpPr/>
          <p:nvPr/>
        </p:nvSpPr>
        <p:spPr>
          <a:xfrm>
            <a:off x="793790" y="4787979"/>
            <a:ext cx="3048000" cy="1088708"/>
          </a:xfrm>
          <a:prstGeom prst="rect">
            <a:avLst/>
          </a:prstGeom>
          <a:noFill/>
          <a:ln/>
        </p:spPr>
        <p:txBody>
          <a:bodyPr wrap="square" lIns="0" tIns="0" rIns="0" bIns="0" rtlCol="0" anchor="t"/>
          <a:lstStyle/>
          <a:p>
            <a:pPr marL="0" indent="0" algn="ctr">
              <a:lnSpc>
                <a:spcPts val="2850"/>
              </a:lnSpc>
              <a:buNone/>
            </a:pPr>
            <a:r>
              <a:rPr lang="en-US" sz="1750" dirty="0">
                <a:solidFill>
                  <a:srgbClr val="000099"/>
                </a:solidFill>
                <a:latin typeface="Open Sans" pitchFamily="34" charset="0"/>
                <a:ea typeface="Open Sans" pitchFamily="34" charset="-122"/>
                <a:cs typeface="Open Sans" pitchFamily="34" charset="-120"/>
              </a:rPr>
              <a:t>Hoàn thành ký duyệt Hợp đồng bảo trì 06 tháng Database + DRSite.</a:t>
            </a:r>
            <a:endParaRPr lang="en-US" sz="1750" dirty="0"/>
          </a:p>
        </p:txBody>
      </p:sp>
      <p:sp>
        <p:nvSpPr>
          <p:cNvPr id="6" name="Text 4"/>
          <p:cNvSpPr/>
          <p:nvPr/>
        </p:nvSpPr>
        <p:spPr>
          <a:xfrm>
            <a:off x="4125278" y="3265765"/>
            <a:ext cx="3048119" cy="748427"/>
          </a:xfrm>
          <a:prstGeom prst="rect">
            <a:avLst/>
          </a:prstGeom>
          <a:noFill/>
          <a:ln/>
        </p:spPr>
        <p:txBody>
          <a:bodyPr wrap="none" lIns="0" tIns="0" rIns="0" bIns="0" rtlCol="0" anchor="t"/>
          <a:lstStyle/>
          <a:p>
            <a:pPr marL="0" indent="0" algn="ctr">
              <a:lnSpc>
                <a:spcPts val="5850"/>
              </a:lnSpc>
              <a:buNone/>
            </a:pPr>
            <a:r>
              <a:rPr lang="en-US" sz="5850" b="1" dirty="0">
                <a:solidFill>
                  <a:srgbClr val="000099"/>
                </a:solidFill>
                <a:latin typeface="Open Sans Bold" pitchFamily="34" charset="0"/>
                <a:ea typeface="Open Sans Bold" pitchFamily="34" charset="-122"/>
                <a:cs typeface="Open Sans Bold" pitchFamily="34" charset="-120"/>
              </a:rPr>
              <a:t>—</a:t>
            </a:r>
            <a:endParaRPr lang="en-US" sz="5850" dirty="0"/>
          </a:p>
        </p:txBody>
      </p:sp>
      <p:sp>
        <p:nvSpPr>
          <p:cNvPr id="7" name="Text 5"/>
          <p:cNvSpPr/>
          <p:nvPr/>
        </p:nvSpPr>
        <p:spPr>
          <a:xfrm>
            <a:off x="4231719" y="4297561"/>
            <a:ext cx="2835235" cy="354330"/>
          </a:xfrm>
          <a:prstGeom prst="rect">
            <a:avLst/>
          </a:prstGeom>
          <a:noFill/>
          <a:ln/>
        </p:spPr>
        <p:txBody>
          <a:bodyPr wrap="none" lIns="0" tIns="0" rIns="0" bIns="0" rtlCol="0" anchor="t"/>
          <a:lstStyle/>
          <a:p>
            <a:pPr marL="0" indent="0" algn="ctr">
              <a:lnSpc>
                <a:spcPts val="2750"/>
              </a:lnSpc>
              <a:buNone/>
            </a:pPr>
            <a:r>
              <a:rPr lang="en-US" sz="2200" b="1" dirty="0">
                <a:solidFill>
                  <a:srgbClr val="000099"/>
                </a:solidFill>
                <a:latin typeface="Open Sans Bold" pitchFamily="34" charset="0"/>
                <a:ea typeface="Open Sans Bold" pitchFamily="34" charset="-122"/>
                <a:cs typeface="Open Sans Bold" pitchFamily="34" charset="-120"/>
              </a:rPr>
              <a:t>Camera Hoạt Động</a:t>
            </a:r>
            <a:endParaRPr lang="en-US" sz="2200" dirty="0"/>
          </a:p>
        </p:txBody>
      </p:sp>
      <p:sp>
        <p:nvSpPr>
          <p:cNvPr id="8" name="Text 6"/>
          <p:cNvSpPr/>
          <p:nvPr/>
        </p:nvSpPr>
        <p:spPr>
          <a:xfrm>
            <a:off x="4125278" y="4787979"/>
            <a:ext cx="3048119" cy="1451610"/>
          </a:xfrm>
          <a:prstGeom prst="rect">
            <a:avLst/>
          </a:prstGeom>
          <a:noFill/>
          <a:ln/>
        </p:spPr>
        <p:txBody>
          <a:bodyPr wrap="square" lIns="0" tIns="0" rIns="0" bIns="0" rtlCol="0" anchor="t"/>
          <a:lstStyle/>
          <a:p>
            <a:pPr marL="0" indent="0" algn="ctr">
              <a:lnSpc>
                <a:spcPts val="2850"/>
              </a:lnSpc>
              <a:buNone/>
            </a:pPr>
            <a:r>
              <a:rPr lang="en-US" sz="1750" dirty="0">
                <a:solidFill>
                  <a:srgbClr val="000099"/>
                </a:solidFill>
                <a:latin typeface="Open Sans" pitchFamily="34" charset="0"/>
                <a:ea typeface="Open Sans" pitchFamily="34" charset="-122"/>
                <a:cs typeface="Open Sans" pitchFamily="34" charset="-120"/>
              </a:rPr>
              <a:t>Số kênh camera đã kiểm tra và xác nhận hoạt động ổn định tại TDM (trong tổng 205).</a:t>
            </a:r>
            <a:endParaRPr lang="en-US" sz="1750" dirty="0"/>
          </a:p>
        </p:txBody>
      </p:sp>
      <p:sp>
        <p:nvSpPr>
          <p:cNvPr id="9" name="Text 7"/>
          <p:cNvSpPr/>
          <p:nvPr/>
        </p:nvSpPr>
        <p:spPr>
          <a:xfrm>
            <a:off x="7456884" y="3265765"/>
            <a:ext cx="3048119" cy="748427"/>
          </a:xfrm>
          <a:prstGeom prst="rect">
            <a:avLst/>
          </a:prstGeom>
          <a:noFill/>
          <a:ln/>
        </p:spPr>
        <p:txBody>
          <a:bodyPr wrap="none" lIns="0" tIns="0" rIns="0" bIns="0" rtlCol="0" anchor="t"/>
          <a:lstStyle/>
          <a:p>
            <a:pPr marL="0" indent="0" algn="ctr">
              <a:lnSpc>
                <a:spcPts val="5850"/>
              </a:lnSpc>
              <a:buNone/>
            </a:pPr>
            <a:r>
              <a:rPr lang="en-US" sz="5850" b="1" dirty="0">
                <a:solidFill>
                  <a:srgbClr val="000099"/>
                </a:solidFill>
                <a:latin typeface="Open Sans Bold" pitchFamily="34" charset="0"/>
                <a:ea typeface="Open Sans Bold" pitchFamily="34" charset="-122"/>
                <a:cs typeface="Open Sans Bold" pitchFamily="34" charset="-120"/>
              </a:rPr>
              <a:t>—</a:t>
            </a:r>
            <a:endParaRPr lang="en-US" sz="5850" dirty="0"/>
          </a:p>
        </p:txBody>
      </p:sp>
      <p:sp>
        <p:nvSpPr>
          <p:cNvPr id="10" name="Text 8"/>
          <p:cNvSpPr/>
          <p:nvPr/>
        </p:nvSpPr>
        <p:spPr>
          <a:xfrm>
            <a:off x="7563326" y="4297561"/>
            <a:ext cx="2835235" cy="354330"/>
          </a:xfrm>
          <a:prstGeom prst="rect">
            <a:avLst/>
          </a:prstGeom>
          <a:noFill/>
          <a:ln/>
        </p:spPr>
        <p:txBody>
          <a:bodyPr wrap="none" lIns="0" tIns="0" rIns="0" bIns="0" rtlCol="0" anchor="t"/>
          <a:lstStyle/>
          <a:p>
            <a:pPr marL="0" indent="0" algn="ctr">
              <a:lnSpc>
                <a:spcPts val="2750"/>
              </a:lnSpc>
              <a:buNone/>
            </a:pPr>
            <a:r>
              <a:rPr lang="en-US" sz="2200" b="1" dirty="0">
                <a:solidFill>
                  <a:srgbClr val="000099"/>
                </a:solidFill>
                <a:latin typeface="Open Sans Bold" pitchFamily="34" charset="0"/>
                <a:ea typeface="Open Sans Bold" pitchFamily="34" charset="-122"/>
                <a:cs typeface="Open Sans Bold" pitchFamily="34" charset="-120"/>
              </a:rPr>
              <a:t>HĐĐT Nghiệm Thu</a:t>
            </a:r>
            <a:endParaRPr lang="en-US" sz="2200" dirty="0"/>
          </a:p>
        </p:txBody>
      </p:sp>
      <p:sp>
        <p:nvSpPr>
          <p:cNvPr id="11" name="Text 9"/>
          <p:cNvSpPr/>
          <p:nvPr/>
        </p:nvSpPr>
        <p:spPr>
          <a:xfrm>
            <a:off x="7456884" y="4787979"/>
            <a:ext cx="3048119" cy="1451610"/>
          </a:xfrm>
          <a:prstGeom prst="rect">
            <a:avLst/>
          </a:prstGeom>
          <a:noFill/>
          <a:ln/>
        </p:spPr>
        <p:txBody>
          <a:bodyPr wrap="square" lIns="0" tIns="0" rIns="0" bIns="0" rtlCol="0" anchor="t"/>
          <a:lstStyle/>
          <a:p>
            <a:pPr marL="0" indent="0" algn="ctr">
              <a:lnSpc>
                <a:spcPts val="2850"/>
              </a:lnSpc>
              <a:buNone/>
            </a:pPr>
            <a:r>
              <a:rPr lang="en-US" sz="1750" dirty="0">
                <a:solidFill>
                  <a:srgbClr val="000099"/>
                </a:solidFill>
                <a:latin typeface="Open Sans" pitchFamily="34" charset="0"/>
                <a:ea typeface="Open Sans" pitchFamily="34" charset="-122"/>
                <a:cs typeface="Open Sans" pitchFamily="34" charset="-120"/>
              </a:rPr>
              <a:t>Hoàn thành tất cả các Biên bản Nghiệm thu liên quan đến Hóa đơn Điện tử cải tiến ND70.</a:t>
            </a:r>
            <a:endParaRPr lang="en-US" sz="1750" dirty="0"/>
          </a:p>
        </p:txBody>
      </p:sp>
      <p:sp>
        <p:nvSpPr>
          <p:cNvPr id="12" name="Text 10"/>
          <p:cNvSpPr/>
          <p:nvPr/>
        </p:nvSpPr>
        <p:spPr>
          <a:xfrm>
            <a:off x="10788491" y="3265765"/>
            <a:ext cx="3048119" cy="748427"/>
          </a:xfrm>
          <a:prstGeom prst="rect">
            <a:avLst/>
          </a:prstGeom>
          <a:noFill/>
          <a:ln/>
        </p:spPr>
        <p:txBody>
          <a:bodyPr wrap="none" lIns="0" tIns="0" rIns="0" bIns="0" rtlCol="0" anchor="t"/>
          <a:lstStyle/>
          <a:p>
            <a:pPr marL="0" indent="0" algn="ctr">
              <a:lnSpc>
                <a:spcPts val="5850"/>
              </a:lnSpc>
              <a:buNone/>
            </a:pPr>
            <a:r>
              <a:rPr lang="en-US" sz="5850" b="1" dirty="0">
                <a:solidFill>
                  <a:srgbClr val="000099"/>
                </a:solidFill>
                <a:latin typeface="Open Sans Bold" pitchFamily="34" charset="0"/>
                <a:ea typeface="Open Sans Bold" pitchFamily="34" charset="-122"/>
                <a:cs typeface="Open Sans Bold" pitchFamily="34" charset="-120"/>
              </a:rPr>
              <a:t>—</a:t>
            </a:r>
            <a:endParaRPr lang="en-US" sz="5850" dirty="0"/>
          </a:p>
        </p:txBody>
      </p:sp>
      <p:sp>
        <p:nvSpPr>
          <p:cNvPr id="13" name="Text 11"/>
          <p:cNvSpPr/>
          <p:nvPr/>
        </p:nvSpPr>
        <p:spPr>
          <a:xfrm>
            <a:off x="10894933" y="4297561"/>
            <a:ext cx="2835235" cy="354330"/>
          </a:xfrm>
          <a:prstGeom prst="rect">
            <a:avLst/>
          </a:prstGeom>
          <a:noFill/>
          <a:ln/>
        </p:spPr>
        <p:txBody>
          <a:bodyPr wrap="none" lIns="0" tIns="0" rIns="0" bIns="0" rtlCol="0" anchor="t"/>
          <a:lstStyle/>
          <a:p>
            <a:pPr marL="0" indent="0" algn="ctr">
              <a:lnSpc>
                <a:spcPts val="2750"/>
              </a:lnSpc>
              <a:buNone/>
            </a:pPr>
            <a:r>
              <a:rPr lang="en-US" sz="2200" b="1" dirty="0">
                <a:solidFill>
                  <a:srgbClr val="000099"/>
                </a:solidFill>
                <a:latin typeface="Open Sans Bold" pitchFamily="34" charset="0"/>
                <a:ea typeface="Open Sans Bold" pitchFamily="34" charset="-122"/>
                <a:cs typeface="Open Sans Bold" pitchFamily="34" charset="-120"/>
              </a:rPr>
              <a:t>Đề Xuất AI</a:t>
            </a:r>
            <a:endParaRPr lang="en-US" sz="2200" dirty="0"/>
          </a:p>
        </p:txBody>
      </p:sp>
      <p:sp>
        <p:nvSpPr>
          <p:cNvPr id="14" name="Text 12"/>
          <p:cNvSpPr/>
          <p:nvPr/>
        </p:nvSpPr>
        <p:spPr>
          <a:xfrm>
            <a:off x="10788491" y="4787979"/>
            <a:ext cx="3048119" cy="1088708"/>
          </a:xfrm>
          <a:prstGeom prst="rect">
            <a:avLst/>
          </a:prstGeom>
          <a:noFill/>
          <a:ln/>
        </p:spPr>
        <p:txBody>
          <a:bodyPr wrap="square" lIns="0" tIns="0" rIns="0" bIns="0" rtlCol="0" anchor="t"/>
          <a:lstStyle/>
          <a:p>
            <a:pPr marL="0" indent="0" algn="ctr">
              <a:lnSpc>
                <a:spcPts val="2850"/>
              </a:lnSpc>
              <a:buNone/>
            </a:pPr>
            <a:r>
              <a:rPr lang="en-US" sz="1750" dirty="0">
                <a:solidFill>
                  <a:srgbClr val="000099"/>
                </a:solidFill>
                <a:latin typeface="Open Sans" pitchFamily="34" charset="0"/>
                <a:ea typeface="Open Sans" pitchFamily="34" charset="-122"/>
                <a:cs typeface="Open Sans" pitchFamily="34" charset="-120"/>
              </a:rPr>
              <a:t>Hoàn thành Tờ trình Đề xuất lộ trình tiếp cận kiến thức và ứng dụng AI của TDA.</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name="Slide 8">
    <p:spTree>
      <p:nvGrpSpPr>
        <p:cNvPr id="1" name=""/>
        <p:cNvGrpSpPr/>
        <p:nvPr/>
      </p:nvGrpSpPr>
      <p:grpSpPr>
        <a:xfrm>
          <a:off x="0" y="0"/>
          <a:ext cx="0" cy="0"/>
          <a:chOff x="0" y="0"/>
          <a:chExt cx="0" cy="0"/>
        </a:xfrm>
      </p:grpSpPr>
      <p:sp>
        <p:nvSpPr>
          <p:cNvPr id="2" name="Text 0"/>
          <p:cNvSpPr/>
          <p:nvPr/>
        </p:nvSpPr>
        <p:spPr>
          <a:xfrm>
            <a:off x="793790" y="898327"/>
            <a:ext cx="11187113" cy="673418"/>
          </a:xfrm>
          <a:prstGeom prst="rect">
            <a:avLst/>
          </a:prstGeom>
          <a:noFill/>
          <a:ln/>
        </p:spPr>
        <p:txBody>
          <a:bodyPr wrap="none" lIns="0" tIns="0" rIns="0" bIns="0" rtlCol="0" anchor="t"/>
          <a:lstStyle/>
          <a:p>
            <a:pPr marL="0" indent="0" algn="l">
              <a:lnSpc>
                <a:spcPts val="5300"/>
              </a:lnSpc>
              <a:buNone/>
            </a:pPr>
            <a:r>
              <a:rPr lang="en-US" sz="4200" b="1" dirty="0">
                <a:solidFill>
                  <a:srgbClr val="FF0000"/>
                </a:solidFill>
                <a:latin typeface="Open Sans Bold" pitchFamily="34" charset="0"/>
                <a:ea typeface="Open Sans Bold" pitchFamily="34" charset="-122"/>
                <a:cs typeface="Open Sans Bold" pitchFamily="34" charset="-120"/>
              </a:rPr>
              <a:t>TỒN ĐỌNG &amp; TRỌNG TÂM THÁNG 11/2025</a:t>
            </a:r>
            <a:endParaRPr lang="en-US" sz="4200" dirty="0"/>
          </a:p>
        </p:txBody>
      </p:sp>
      <p:sp>
        <p:nvSpPr>
          <p:cNvPr id="3" name="Text 1"/>
          <p:cNvSpPr/>
          <p:nvPr/>
        </p:nvSpPr>
        <p:spPr>
          <a:xfrm>
            <a:off x="793790" y="2002631"/>
            <a:ext cx="13042821" cy="344805"/>
          </a:xfrm>
          <a:prstGeom prst="rect">
            <a:avLst/>
          </a:prstGeom>
          <a:noFill/>
          <a:ln/>
        </p:spPr>
        <p:txBody>
          <a:bodyPr wrap="none" lIns="0" tIns="0" rIns="0" bIns="0" rtlCol="0" anchor="t"/>
          <a:lstStyle/>
          <a:p>
            <a:pPr marL="0" indent="0" algn="l">
              <a:lnSpc>
                <a:spcPts val="2700"/>
              </a:lnSpc>
              <a:buNone/>
            </a:pPr>
            <a:r>
              <a:rPr lang="en-US" sz="1650" dirty="0">
                <a:solidFill>
                  <a:srgbClr val="000099"/>
                </a:solidFill>
                <a:latin typeface="Open Sans" pitchFamily="34" charset="0"/>
                <a:ea typeface="Open Sans" pitchFamily="34" charset="-122"/>
                <a:cs typeface="Open Sans" pitchFamily="34" charset="-120"/>
              </a:rPr>
              <a:t>Các hạng mục ưu tiên và đang được giám sát chặt chẽ trong tháng tới.</a:t>
            </a:r>
            <a:endParaRPr lang="en-US" sz="1650" dirty="0"/>
          </a:p>
        </p:txBody>
      </p:sp>
      <p:sp>
        <p:nvSpPr>
          <p:cNvPr id="4" name="Shape 2"/>
          <p:cNvSpPr/>
          <p:nvPr/>
        </p:nvSpPr>
        <p:spPr>
          <a:xfrm>
            <a:off x="793790" y="2912983"/>
            <a:ext cx="6413659" cy="1939885"/>
          </a:xfrm>
          <a:prstGeom prst="roundRect">
            <a:avLst>
              <a:gd name="adj" fmla="val 7542"/>
            </a:avLst>
          </a:prstGeom>
          <a:solidFill>
            <a:srgbClr val="FFFFFF"/>
          </a:solidFill>
          <a:ln/>
        </p:spPr>
        <p:txBody>
          <a:bodyPr/>
          <a:lstStyle/>
          <a:p>
            <a:endParaRPr lang="vi-VN"/>
          </a:p>
        </p:txBody>
      </p:sp>
      <p:sp>
        <p:nvSpPr>
          <p:cNvPr id="5" name="Shape 3"/>
          <p:cNvSpPr/>
          <p:nvPr/>
        </p:nvSpPr>
        <p:spPr>
          <a:xfrm>
            <a:off x="793790" y="2882503"/>
            <a:ext cx="6413659" cy="121920"/>
          </a:xfrm>
          <a:prstGeom prst="roundRect">
            <a:avLst>
              <a:gd name="adj" fmla="val 74233"/>
            </a:avLst>
          </a:prstGeom>
          <a:solidFill>
            <a:srgbClr val="FF0101"/>
          </a:solidFill>
          <a:ln/>
        </p:spPr>
        <p:txBody>
          <a:bodyPr/>
          <a:lstStyle/>
          <a:p>
            <a:endParaRPr lang="vi-VN"/>
          </a:p>
        </p:txBody>
      </p:sp>
      <p:sp>
        <p:nvSpPr>
          <p:cNvPr id="6" name="Shape 4"/>
          <p:cNvSpPr/>
          <p:nvPr/>
        </p:nvSpPr>
        <p:spPr>
          <a:xfrm>
            <a:off x="3677424" y="2589848"/>
            <a:ext cx="646390" cy="646390"/>
          </a:xfrm>
          <a:prstGeom prst="roundRect">
            <a:avLst>
              <a:gd name="adj" fmla="val 141463"/>
            </a:avLst>
          </a:prstGeom>
          <a:solidFill>
            <a:srgbClr val="FF0101"/>
          </a:solidFill>
          <a:ln/>
        </p:spPr>
        <p:txBody>
          <a:bodyPr/>
          <a:lstStyle/>
          <a:p>
            <a:endParaRPr lang="vi-VN"/>
          </a:p>
        </p:txBody>
      </p:sp>
      <p:sp>
        <p:nvSpPr>
          <p:cNvPr id="7" name="Text 5"/>
          <p:cNvSpPr/>
          <p:nvPr/>
        </p:nvSpPr>
        <p:spPr>
          <a:xfrm>
            <a:off x="3871377" y="2751415"/>
            <a:ext cx="258485" cy="323136"/>
          </a:xfrm>
          <a:prstGeom prst="rect">
            <a:avLst/>
          </a:prstGeom>
          <a:noFill/>
          <a:ln/>
        </p:spPr>
        <p:txBody>
          <a:bodyPr wrap="none" lIns="0" tIns="0" rIns="0" bIns="0" rtlCol="0" anchor="t"/>
          <a:lstStyle/>
          <a:p>
            <a:pPr marL="0" indent="0" algn="l">
              <a:lnSpc>
                <a:spcPts val="3250"/>
              </a:lnSpc>
              <a:buNone/>
            </a:pPr>
            <a:r>
              <a:rPr lang="en-US" sz="2000" b="1" dirty="0">
                <a:solidFill>
                  <a:srgbClr val="FFFFFF"/>
                </a:solidFill>
                <a:latin typeface="Open Sans Bold" pitchFamily="34" charset="0"/>
                <a:ea typeface="Open Sans Bold" pitchFamily="34" charset="-122"/>
                <a:cs typeface="Open Sans Bold" pitchFamily="34" charset="-120"/>
              </a:rPr>
              <a:t>1</a:t>
            </a:r>
            <a:endParaRPr lang="en-US" sz="2000" dirty="0"/>
          </a:p>
        </p:txBody>
      </p:sp>
      <p:sp>
        <p:nvSpPr>
          <p:cNvPr id="8" name="Text 6"/>
          <p:cNvSpPr/>
          <p:nvPr/>
        </p:nvSpPr>
        <p:spPr>
          <a:xfrm>
            <a:off x="1039654" y="3451622"/>
            <a:ext cx="3173016" cy="336590"/>
          </a:xfrm>
          <a:prstGeom prst="rect">
            <a:avLst/>
          </a:prstGeom>
          <a:noFill/>
          <a:ln/>
        </p:spPr>
        <p:txBody>
          <a:bodyPr wrap="none" lIns="0" tIns="0" rIns="0" bIns="0" rtlCol="0" anchor="t"/>
          <a:lstStyle/>
          <a:p>
            <a:pPr marL="0" indent="0" algn="l">
              <a:lnSpc>
                <a:spcPts val="2650"/>
              </a:lnSpc>
              <a:buNone/>
            </a:pPr>
            <a:r>
              <a:rPr lang="en-US" sz="2100" b="1" dirty="0">
                <a:solidFill>
                  <a:srgbClr val="000099"/>
                </a:solidFill>
                <a:latin typeface="Open Sans Bold" pitchFamily="34" charset="0"/>
                <a:ea typeface="Open Sans Bold" pitchFamily="34" charset="-122"/>
                <a:cs typeface="Open Sans Bold" pitchFamily="34" charset="-120"/>
              </a:rPr>
              <a:t>Giám Sát Hạ Tầng Mạng</a:t>
            </a:r>
            <a:endParaRPr lang="en-US" sz="2100" dirty="0"/>
          </a:p>
        </p:txBody>
      </p:sp>
      <p:sp>
        <p:nvSpPr>
          <p:cNvPr id="9" name="Text 7"/>
          <p:cNvSpPr/>
          <p:nvPr/>
        </p:nvSpPr>
        <p:spPr>
          <a:xfrm>
            <a:off x="1039654" y="3917394"/>
            <a:ext cx="5921931" cy="689610"/>
          </a:xfrm>
          <a:prstGeom prst="rect">
            <a:avLst/>
          </a:prstGeom>
          <a:noFill/>
          <a:ln/>
        </p:spPr>
        <p:txBody>
          <a:bodyPr wrap="square" lIns="0" tIns="0" rIns="0" bIns="0" rtlCol="0" anchor="t"/>
          <a:lstStyle/>
          <a:p>
            <a:pPr marL="0" indent="0" algn="l">
              <a:lnSpc>
                <a:spcPts val="2700"/>
              </a:lnSpc>
              <a:buNone/>
            </a:pPr>
            <a:r>
              <a:rPr lang="en-US" sz="1650" dirty="0">
                <a:solidFill>
                  <a:srgbClr val="000099"/>
                </a:solidFill>
                <a:latin typeface="Open Sans" pitchFamily="34" charset="0"/>
                <a:ea typeface="Open Sans" pitchFamily="34" charset="-122"/>
                <a:cs typeface="Open Sans" pitchFamily="34" charset="-120"/>
              </a:rPr>
              <a:t>Tiếp tục giám sát tiến độ thi công mạng tại TDA.LA và ĐA.PM1, đảm bảo chất lượng và đúng tiến độ.</a:t>
            </a:r>
            <a:endParaRPr lang="en-US" sz="1650" dirty="0"/>
          </a:p>
        </p:txBody>
      </p:sp>
      <p:sp>
        <p:nvSpPr>
          <p:cNvPr id="10" name="Shape 8"/>
          <p:cNvSpPr/>
          <p:nvPr/>
        </p:nvSpPr>
        <p:spPr>
          <a:xfrm>
            <a:off x="7422833" y="2912983"/>
            <a:ext cx="6413778" cy="1939885"/>
          </a:xfrm>
          <a:prstGeom prst="roundRect">
            <a:avLst>
              <a:gd name="adj" fmla="val 7542"/>
            </a:avLst>
          </a:prstGeom>
          <a:solidFill>
            <a:srgbClr val="FFFFFF"/>
          </a:solidFill>
          <a:ln/>
        </p:spPr>
        <p:txBody>
          <a:bodyPr/>
          <a:lstStyle/>
          <a:p>
            <a:endParaRPr lang="vi-VN"/>
          </a:p>
        </p:txBody>
      </p:sp>
      <p:sp>
        <p:nvSpPr>
          <p:cNvPr id="11" name="Shape 9"/>
          <p:cNvSpPr/>
          <p:nvPr/>
        </p:nvSpPr>
        <p:spPr>
          <a:xfrm>
            <a:off x="7422833" y="2882503"/>
            <a:ext cx="6413778" cy="121920"/>
          </a:xfrm>
          <a:prstGeom prst="roundRect">
            <a:avLst>
              <a:gd name="adj" fmla="val 74233"/>
            </a:avLst>
          </a:prstGeom>
          <a:solidFill>
            <a:srgbClr val="FF0101"/>
          </a:solidFill>
          <a:ln/>
        </p:spPr>
        <p:txBody>
          <a:bodyPr/>
          <a:lstStyle/>
          <a:p>
            <a:endParaRPr lang="vi-VN"/>
          </a:p>
        </p:txBody>
      </p:sp>
      <p:sp>
        <p:nvSpPr>
          <p:cNvPr id="12" name="Shape 10"/>
          <p:cNvSpPr/>
          <p:nvPr/>
        </p:nvSpPr>
        <p:spPr>
          <a:xfrm>
            <a:off x="10306467" y="2589848"/>
            <a:ext cx="646390" cy="646390"/>
          </a:xfrm>
          <a:prstGeom prst="roundRect">
            <a:avLst>
              <a:gd name="adj" fmla="val 141463"/>
            </a:avLst>
          </a:prstGeom>
          <a:solidFill>
            <a:srgbClr val="FF0101"/>
          </a:solidFill>
          <a:ln/>
        </p:spPr>
        <p:txBody>
          <a:bodyPr/>
          <a:lstStyle/>
          <a:p>
            <a:endParaRPr lang="vi-VN"/>
          </a:p>
        </p:txBody>
      </p:sp>
      <p:sp>
        <p:nvSpPr>
          <p:cNvPr id="13" name="Text 11"/>
          <p:cNvSpPr/>
          <p:nvPr/>
        </p:nvSpPr>
        <p:spPr>
          <a:xfrm>
            <a:off x="10500420" y="2751415"/>
            <a:ext cx="258485" cy="323136"/>
          </a:xfrm>
          <a:prstGeom prst="rect">
            <a:avLst/>
          </a:prstGeom>
          <a:noFill/>
          <a:ln/>
        </p:spPr>
        <p:txBody>
          <a:bodyPr wrap="none" lIns="0" tIns="0" rIns="0" bIns="0" rtlCol="0" anchor="t"/>
          <a:lstStyle/>
          <a:p>
            <a:pPr marL="0" indent="0" algn="l">
              <a:lnSpc>
                <a:spcPts val="3250"/>
              </a:lnSpc>
              <a:buNone/>
            </a:pPr>
            <a:r>
              <a:rPr lang="en-US" sz="2000" b="1" dirty="0">
                <a:solidFill>
                  <a:srgbClr val="FFFFFF"/>
                </a:solidFill>
                <a:latin typeface="Open Sans Bold" pitchFamily="34" charset="0"/>
                <a:ea typeface="Open Sans Bold" pitchFamily="34" charset="-122"/>
                <a:cs typeface="Open Sans Bold" pitchFamily="34" charset="-120"/>
              </a:rPr>
              <a:t>2</a:t>
            </a:r>
            <a:endParaRPr lang="en-US" sz="2000" dirty="0"/>
          </a:p>
        </p:txBody>
      </p:sp>
      <p:sp>
        <p:nvSpPr>
          <p:cNvPr id="14" name="Text 12"/>
          <p:cNvSpPr/>
          <p:nvPr/>
        </p:nvSpPr>
        <p:spPr>
          <a:xfrm>
            <a:off x="7668697" y="3451622"/>
            <a:ext cx="3374231" cy="336590"/>
          </a:xfrm>
          <a:prstGeom prst="rect">
            <a:avLst/>
          </a:prstGeom>
          <a:noFill/>
          <a:ln/>
        </p:spPr>
        <p:txBody>
          <a:bodyPr wrap="none" lIns="0" tIns="0" rIns="0" bIns="0" rtlCol="0" anchor="t"/>
          <a:lstStyle/>
          <a:p>
            <a:pPr marL="0" indent="0" algn="l">
              <a:lnSpc>
                <a:spcPts val="2650"/>
              </a:lnSpc>
              <a:buNone/>
            </a:pPr>
            <a:r>
              <a:rPr lang="en-US" sz="2100" b="1" dirty="0">
                <a:solidFill>
                  <a:srgbClr val="000099"/>
                </a:solidFill>
                <a:latin typeface="Open Sans Bold" pitchFamily="34" charset="0"/>
                <a:ea typeface="Open Sans Bold" pitchFamily="34" charset="-122"/>
                <a:cs typeface="Open Sans Bold" pitchFamily="34" charset="-120"/>
              </a:rPr>
              <a:t>Quản Lý Lưu Trữ Camera</a:t>
            </a:r>
            <a:endParaRPr lang="en-US" sz="2100" dirty="0"/>
          </a:p>
        </p:txBody>
      </p:sp>
      <p:sp>
        <p:nvSpPr>
          <p:cNvPr id="15" name="Text 13"/>
          <p:cNvSpPr/>
          <p:nvPr/>
        </p:nvSpPr>
        <p:spPr>
          <a:xfrm>
            <a:off x="7668697" y="3917394"/>
            <a:ext cx="5922050" cy="689610"/>
          </a:xfrm>
          <a:prstGeom prst="rect">
            <a:avLst/>
          </a:prstGeom>
          <a:noFill/>
          <a:ln/>
        </p:spPr>
        <p:txBody>
          <a:bodyPr wrap="square" lIns="0" tIns="0" rIns="0" bIns="0" rtlCol="0" anchor="t"/>
          <a:lstStyle/>
          <a:p>
            <a:pPr marL="0" indent="0" algn="l">
              <a:lnSpc>
                <a:spcPts val="2700"/>
              </a:lnSpc>
              <a:buNone/>
            </a:pPr>
            <a:r>
              <a:rPr lang="en-US" sz="1650" dirty="0">
                <a:solidFill>
                  <a:srgbClr val="000099"/>
                </a:solidFill>
                <a:latin typeface="Open Sans" pitchFamily="34" charset="0"/>
                <a:ea typeface="Open Sans" pitchFamily="34" charset="-122"/>
                <a:cs typeface="Open Sans" pitchFamily="34" charset="-120"/>
              </a:rPr>
              <a:t>Trình phương án quản lý và mở rộng thời gian lưu trữ camera theo quy định của </a:t>
            </a:r>
            <a:r>
              <a:rPr lang="en-US" sz="1650" b="1" dirty="0">
                <a:solidFill>
                  <a:srgbClr val="000099"/>
                </a:solidFill>
                <a:latin typeface="Open Sans" pitchFamily="34" charset="0"/>
                <a:ea typeface="Open Sans" pitchFamily="34" charset="-122"/>
                <a:cs typeface="Open Sans" pitchFamily="34" charset="-120"/>
              </a:rPr>
              <a:t>Nghị định 167</a:t>
            </a:r>
            <a:r>
              <a:rPr lang="en-US" sz="1650" dirty="0">
                <a:solidFill>
                  <a:srgbClr val="000099"/>
                </a:solidFill>
                <a:latin typeface="Open Sans" pitchFamily="34" charset="0"/>
                <a:ea typeface="Open Sans" pitchFamily="34" charset="-122"/>
                <a:cs typeface="Open Sans" pitchFamily="34" charset="-120"/>
              </a:rPr>
              <a:t>.</a:t>
            </a:r>
            <a:endParaRPr lang="en-US" sz="1650" dirty="0"/>
          </a:p>
        </p:txBody>
      </p:sp>
      <p:sp>
        <p:nvSpPr>
          <p:cNvPr id="16" name="Shape 14"/>
          <p:cNvSpPr/>
          <p:nvPr/>
        </p:nvSpPr>
        <p:spPr>
          <a:xfrm>
            <a:off x="793790" y="5391388"/>
            <a:ext cx="6413659" cy="1939885"/>
          </a:xfrm>
          <a:prstGeom prst="roundRect">
            <a:avLst>
              <a:gd name="adj" fmla="val 7542"/>
            </a:avLst>
          </a:prstGeom>
          <a:solidFill>
            <a:srgbClr val="FFFFFF"/>
          </a:solidFill>
          <a:ln/>
        </p:spPr>
        <p:txBody>
          <a:bodyPr/>
          <a:lstStyle/>
          <a:p>
            <a:endParaRPr lang="vi-VN"/>
          </a:p>
        </p:txBody>
      </p:sp>
      <p:sp>
        <p:nvSpPr>
          <p:cNvPr id="17" name="Shape 15"/>
          <p:cNvSpPr/>
          <p:nvPr/>
        </p:nvSpPr>
        <p:spPr>
          <a:xfrm>
            <a:off x="793790" y="5360908"/>
            <a:ext cx="6413659" cy="121920"/>
          </a:xfrm>
          <a:prstGeom prst="roundRect">
            <a:avLst>
              <a:gd name="adj" fmla="val 74233"/>
            </a:avLst>
          </a:prstGeom>
          <a:solidFill>
            <a:srgbClr val="FF0101"/>
          </a:solidFill>
          <a:ln/>
        </p:spPr>
        <p:txBody>
          <a:bodyPr/>
          <a:lstStyle/>
          <a:p>
            <a:endParaRPr lang="vi-VN"/>
          </a:p>
        </p:txBody>
      </p:sp>
      <p:sp>
        <p:nvSpPr>
          <p:cNvPr id="18" name="Shape 16"/>
          <p:cNvSpPr/>
          <p:nvPr/>
        </p:nvSpPr>
        <p:spPr>
          <a:xfrm>
            <a:off x="3677424" y="5068252"/>
            <a:ext cx="646390" cy="646390"/>
          </a:xfrm>
          <a:prstGeom prst="roundRect">
            <a:avLst>
              <a:gd name="adj" fmla="val 141463"/>
            </a:avLst>
          </a:prstGeom>
          <a:solidFill>
            <a:srgbClr val="FF0101"/>
          </a:solidFill>
          <a:ln/>
        </p:spPr>
        <p:txBody>
          <a:bodyPr/>
          <a:lstStyle/>
          <a:p>
            <a:endParaRPr lang="vi-VN"/>
          </a:p>
        </p:txBody>
      </p:sp>
      <p:sp>
        <p:nvSpPr>
          <p:cNvPr id="19" name="Text 17"/>
          <p:cNvSpPr/>
          <p:nvPr/>
        </p:nvSpPr>
        <p:spPr>
          <a:xfrm>
            <a:off x="3871377" y="5229820"/>
            <a:ext cx="258485" cy="323136"/>
          </a:xfrm>
          <a:prstGeom prst="rect">
            <a:avLst/>
          </a:prstGeom>
          <a:noFill/>
          <a:ln/>
        </p:spPr>
        <p:txBody>
          <a:bodyPr wrap="none" lIns="0" tIns="0" rIns="0" bIns="0" rtlCol="0" anchor="t"/>
          <a:lstStyle/>
          <a:p>
            <a:pPr marL="0" indent="0" algn="l">
              <a:lnSpc>
                <a:spcPts val="3250"/>
              </a:lnSpc>
              <a:buNone/>
            </a:pPr>
            <a:r>
              <a:rPr lang="en-US" sz="2000" b="1" dirty="0">
                <a:solidFill>
                  <a:srgbClr val="FFFFFF"/>
                </a:solidFill>
                <a:latin typeface="Open Sans Bold" pitchFamily="34" charset="0"/>
                <a:ea typeface="Open Sans Bold" pitchFamily="34" charset="-122"/>
                <a:cs typeface="Open Sans Bold" pitchFamily="34" charset="-120"/>
              </a:rPr>
              <a:t>3</a:t>
            </a:r>
            <a:endParaRPr lang="en-US" sz="2000" dirty="0"/>
          </a:p>
        </p:txBody>
      </p:sp>
      <p:sp>
        <p:nvSpPr>
          <p:cNvPr id="20" name="Text 18"/>
          <p:cNvSpPr/>
          <p:nvPr/>
        </p:nvSpPr>
        <p:spPr>
          <a:xfrm>
            <a:off x="1039654" y="5930027"/>
            <a:ext cx="3205758" cy="336590"/>
          </a:xfrm>
          <a:prstGeom prst="rect">
            <a:avLst/>
          </a:prstGeom>
          <a:noFill/>
          <a:ln/>
        </p:spPr>
        <p:txBody>
          <a:bodyPr wrap="none" lIns="0" tIns="0" rIns="0" bIns="0" rtlCol="0" anchor="t"/>
          <a:lstStyle/>
          <a:p>
            <a:pPr marL="0" indent="0" algn="l">
              <a:lnSpc>
                <a:spcPts val="2650"/>
              </a:lnSpc>
              <a:buNone/>
            </a:pPr>
            <a:r>
              <a:rPr lang="en-US" sz="2100" b="1" dirty="0">
                <a:solidFill>
                  <a:srgbClr val="000099"/>
                </a:solidFill>
                <a:latin typeface="Open Sans Bold" pitchFamily="34" charset="0"/>
                <a:ea typeface="Open Sans Bold" pitchFamily="34" charset="-122"/>
                <a:cs typeface="Open Sans Bold" pitchFamily="34" charset="-120"/>
              </a:rPr>
              <a:t>Cập Nhật Bảo Mật (DLP)</a:t>
            </a:r>
            <a:endParaRPr lang="en-US" sz="2100" dirty="0"/>
          </a:p>
        </p:txBody>
      </p:sp>
      <p:sp>
        <p:nvSpPr>
          <p:cNvPr id="21" name="Text 19"/>
          <p:cNvSpPr/>
          <p:nvPr/>
        </p:nvSpPr>
        <p:spPr>
          <a:xfrm>
            <a:off x="1039654" y="6395799"/>
            <a:ext cx="5921931" cy="689610"/>
          </a:xfrm>
          <a:prstGeom prst="rect">
            <a:avLst/>
          </a:prstGeom>
          <a:noFill/>
          <a:ln/>
        </p:spPr>
        <p:txBody>
          <a:bodyPr wrap="square" lIns="0" tIns="0" rIns="0" bIns="0" rtlCol="0" anchor="t"/>
          <a:lstStyle/>
          <a:p>
            <a:pPr marL="0" indent="0" algn="l">
              <a:lnSpc>
                <a:spcPts val="2700"/>
              </a:lnSpc>
              <a:buNone/>
            </a:pPr>
            <a:r>
              <a:rPr lang="en-US" sz="1650" dirty="0">
                <a:solidFill>
                  <a:srgbClr val="000099"/>
                </a:solidFill>
                <a:latin typeface="Open Sans" pitchFamily="34" charset="0"/>
                <a:ea typeface="Open Sans" pitchFamily="34" charset="-122"/>
                <a:cs typeface="Open Sans" pitchFamily="34" charset="-120"/>
              </a:rPr>
              <a:t>Đánh giá và cập nhật giải pháp Data Loss Prevention (DLP) với các nền tảng như ManageEngine/MS 365/Trellix.</a:t>
            </a:r>
            <a:endParaRPr lang="en-US" sz="1650" dirty="0"/>
          </a:p>
        </p:txBody>
      </p:sp>
      <p:sp>
        <p:nvSpPr>
          <p:cNvPr id="22" name="Shape 20"/>
          <p:cNvSpPr/>
          <p:nvPr/>
        </p:nvSpPr>
        <p:spPr>
          <a:xfrm>
            <a:off x="7453313" y="5391388"/>
            <a:ext cx="6413778" cy="1939885"/>
          </a:xfrm>
          <a:prstGeom prst="roundRect">
            <a:avLst>
              <a:gd name="adj" fmla="val 7542"/>
            </a:avLst>
          </a:prstGeom>
          <a:solidFill>
            <a:srgbClr val="FFFFFF"/>
          </a:solidFill>
          <a:ln/>
        </p:spPr>
        <p:txBody>
          <a:bodyPr/>
          <a:lstStyle/>
          <a:p>
            <a:endParaRPr lang="vi-VN" dirty="0"/>
          </a:p>
        </p:txBody>
      </p:sp>
      <p:sp>
        <p:nvSpPr>
          <p:cNvPr id="23" name="Shape 21"/>
          <p:cNvSpPr/>
          <p:nvPr/>
        </p:nvSpPr>
        <p:spPr>
          <a:xfrm>
            <a:off x="7422833" y="5360908"/>
            <a:ext cx="6413778" cy="121920"/>
          </a:xfrm>
          <a:prstGeom prst="roundRect">
            <a:avLst>
              <a:gd name="adj" fmla="val 74233"/>
            </a:avLst>
          </a:prstGeom>
          <a:solidFill>
            <a:srgbClr val="FF0101"/>
          </a:solidFill>
          <a:ln/>
        </p:spPr>
        <p:txBody>
          <a:bodyPr/>
          <a:lstStyle/>
          <a:p>
            <a:endParaRPr lang="vi-VN"/>
          </a:p>
        </p:txBody>
      </p:sp>
      <p:sp>
        <p:nvSpPr>
          <p:cNvPr id="24" name="Shape 22"/>
          <p:cNvSpPr/>
          <p:nvPr/>
        </p:nvSpPr>
        <p:spPr>
          <a:xfrm>
            <a:off x="10306467" y="5068252"/>
            <a:ext cx="646390" cy="646390"/>
          </a:xfrm>
          <a:prstGeom prst="roundRect">
            <a:avLst>
              <a:gd name="adj" fmla="val 141463"/>
            </a:avLst>
          </a:prstGeom>
          <a:solidFill>
            <a:srgbClr val="FF0101"/>
          </a:solidFill>
          <a:ln/>
        </p:spPr>
        <p:txBody>
          <a:bodyPr/>
          <a:lstStyle/>
          <a:p>
            <a:endParaRPr lang="vi-VN"/>
          </a:p>
        </p:txBody>
      </p:sp>
      <p:sp>
        <p:nvSpPr>
          <p:cNvPr id="25" name="Text 23"/>
          <p:cNvSpPr/>
          <p:nvPr/>
        </p:nvSpPr>
        <p:spPr>
          <a:xfrm>
            <a:off x="10500420" y="5229820"/>
            <a:ext cx="258485" cy="323136"/>
          </a:xfrm>
          <a:prstGeom prst="rect">
            <a:avLst/>
          </a:prstGeom>
          <a:noFill/>
          <a:ln/>
        </p:spPr>
        <p:txBody>
          <a:bodyPr wrap="none" lIns="0" tIns="0" rIns="0" bIns="0" rtlCol="0" anchor="t"/>
          <a:lstStyle/>
          <a:p>
            <a:pPr marL="0" indent="0" algn="l">
              <a:lnSpc>
                <a:spcPts val="3250"/>
              </a:lnSpc>
              <a:buNone/>
            </a:pPr>
            <a:r>
              <a:rPr lang="en-US" sz="2000" b="1" dirty="0">
                <a:solidFill>
                  <a:srgbClr val="FFFFFF"/>
                </a:solidFill>
                <a:latin typeface="Open Sans Bold" pitchFamily="34" charset="0"/>
                <a:ea typeface="Open Sans Bold" pitchFamily="34" charset="-122"/>
                <a:cs typeface="Open Sans Bold" pitchFamily="34" charset="-120"/>
              </a:rPr>
              <a:t>4</a:t>
            </a:r>
            <a:endParaRPr lang="en-US" sz="2000" dirty="0"/>
          </a:p>
        </p:txBody>
      </p:sp>
      <p:sp>
        <p:nvSpPr>
          <p:cNvPr id="26" name="Text 24"/>
          <p:cNvSpPr/>
          <p:nvPr/>
        </p:nvSpPr>
        <p:spPr>
          <a:xfrm>
            <a:off x="7668697" y="5930027"/>
            <a:ext cx="3272909" cy="336590"/>
          </a:xfrm>
          <a:prstGeom prst="rect">
            <a:avLst/>
          </a:prstGeom>
          <a:noFill/>
          <a:ln/>
        </p:spPr>
        <p:txBody>
          <a:bodyPr wrap="none" lIns="0" tIns="0" rIns="0" bIns="0" rtlCol="0" anchor="t"/>
          <a:lstStyle/>
          <a:p>
            <a:pPr marL="0" indent="0" algn="l">
              <a:lnSpc>
                <a:spcPts val="2650"/>
              </a:lnSpc>
              <a:buNone/>
            </a:pPr>
            <a:r>
              <a:rPr lang="en-US" sz="2100" b="1" dirty="0">
                <a:solidFill>
                  <a:srgbClr val="000099"/>
                </a:solidFill>
                <a:latin typeface="Open Sans Bold" pitchFamily="34" charset="0"/>
                <a:ea typeface="Open Sans Bold" pitchFamily="34" charset="-122"/>
                <a:cs typeface="Open Sans Bold" pitchFamily="34" charset="-120"/>
              </a:rPr>
              <a:t>Nâng </a:t>
            </a:r>
            <a:r>
              <a:rPr lang="en-US" sz="2100" b="1" dirty="0" err="1">
                <a:solidFill>
                  <a:srgbClr val="000099"/>
                </a:solidFill>
                <a:latin typeface="Open Sans Bold" pitchFamily="34" charset="0"/>
                <a:ea typeface="Open Sans Bold" pitchFamily="34" charset="-122"/>
                <a:cs typeface="Open Sans Bold" pitchFamily="34" charset="-120"/>
              </a:rPr>
              <a:t>Cấp</a:t>
            </a:r>
            <a:r>
              <a:rPr lang="en-US" sz="2100" b="1" dirty="0">
                <a:solidFill>
                  <a:srgbClr val="000099"/>
                </a:solidFill>
                <a:latin typeface="Open Sans Bold" pitchFamily="34" charset="0"/>
                <a:ea typeface="Open Sans Bold" pitchFamily="34" charset="-122"/>
                <a:cs typeface="Open Sans Bold" pitchFamily="34" charset="-120"/>
              </a:rPr>
              <a:t> ERP</a:t>
            </a:r>
            <a:endParaRPr lang="en-US" sz="2100" dirty="0"/>
          </a:p>
        </p:txBody>
      </p:sp>
      <p:sp>
        <p:nvSpPr>
          <p:cNvPr id="27" name="Text 25"/>
          <p:cNvSpPr/>
          <p:nvPr/>
        </p:nvSpPr>
        <p:spPr>
          <a:xfrm>
            <a:off x="7668697" y="6395799"/>
            <a:ext cx="5922050" cy="689610"/>
          </a:xfrm>
          <a:prstGeom prst="rect">
            <a:avLst/>
          </a:prstGeom>
          <a:noFill/>
          <a:ln/>
        </p:spPr>
        <p:txBody>
          <a:bodyPr wrap="square" lIns="0" tIns="0" rIns="0" bIns="0" rtlCol="0" anchor="t"/>
          <a:lstStyle/>
          <a:p>
            <a:pPr>
              <a:lnSpc>
                <a:spcPts val="2700"/>
              </a:lnSpc>
            </a:pPr>
            <a:r>
              <a:rPr lang="en-US" sz="1650" dirty="0">
                <a:solidFill>
                  <a:srgbClr val="000099"/>
                </a:solidFill>
                <a:latin typeface="Open Sans" pitchFamily="34" charset="0"/>
                <a:ea typeface="Open Sans" pitchFamily="34" charset="-122"/>
                <a:cs typeface="Open Sans" pitchFamily="34" charset="-120"/>
              </a:rPr>
              <a:t>Hoàn </a:t>
            </a:r>
            <a:r>
              <a:rPr lang="en-US" sz="1650" dirty="0" err="1">
                <a:solidFill>
                  <a:srgbClr val="000099"/>
                </a:solidFill>
                <a:latin typeface="Open Sans" pitchFamily="34" charset="0"/>
                <a:ea typeface="Open Sans" pitchFamily="34" charset="-122"/>
                <a:cs typeface="Open Sans" pitchFamily="34" charset="-120"/>
              </a:rPr>
              <a:t>thành</a:t>
            </a:r>
            <a:r>
              <a:rPr lang="en-US" sz="1650" dirty="0">
                <a:solidFill>
                  <a:srgbClr val="000099"/>
                </a:solidFill>
                <a:latin typeface="Open Sans" pitchFamily="34" charset="0"/>
                <a:ea typeface="Open Sans" pitchFamily="34" charset="-122"/>
                <a:cs typeface="Open Sans" pitchFamily="34" charset="-120"/>
              </a:rPr>
              <a:t> test </a:t>
            </a:r>
            <a:r>
              <a:rPr lang="en-US" sz="1650" dirty="0" err="1">
                <a:solidFill>
                  <a:srgbClr val="000099"/>
                </a:solidFill>
                <a:latin typeface="Open Sans" pitchFamily="34" charset="0"/>
                <a:ea typeface="Open Sans" pitchFamily="34" charset="-122"/>
                <a:cs typeface="Open Sans" pitchFamily="34" charset="-120"/>
              </a:rPr>
              <a:t>các</a:t>
            </a:r>
            <a:r>
              <a:rPr lang="en-US" sz="1650" dirty="0">
                <a:solidFill>
                  <a:srgbClr val="000099"/>
                </a:solidFill>
                <a:latin typeface="Open Sans" pitchFamily="34" charset="0"/>
                <a:ea typeface="Open Sans" pitchFamily="34" charset="-122"/>
                <a:cs typeface="Open Sans" pitchFamily="34" charset="-120"/>
              </a:rPr>
              <a:t> </a:t>
            </a:r>
            <a:r>
              <a:rPr lang="en-US" sz="1650" dirty="0" err="1">
                <a:solidFill>
                  <a:srgbClr val="000099"/>
                </a:solidFill>
                <a:latin typeface="Open Sans" pitchFamily="34" charset="0"/>
                <a:ea typeface="Open Sans" pitchFamily="34" charset="-122"/>
                <a:cs typeface="Open Sans" pitchFamily="34" charset="-120"/>
              </a:rPr>
              <a:t>nghiệp</a:t>
            </a:r>
            <a:r>
              <a:rPr lang="en-US" sz="1650" dirty="0">
                <a:solidFill>
                  <a:srgbClr val="000099"/>
                </a:solidFill>
                <a:latin typeface="Open Sans" pitchFamily="34" charset="0"/>
                <a:ea typeface="Open Sans" pitchFamily="34" charset="-122"/>
                <a:cs typeface="Open Sans" pitchFamily="34" charset="-120"/>
              </a:rPr>
              <a:t> </a:t>
            </a:r>
            <a:r>
              <a:rPr lang="en-US" sz="1650" dirty="0" err="1">
                <a:solidFill>
                  <a:srgbClr val="000099"/>
                </a:solidFill>
                <a:latin typeface="Open Sans" pitchFamily="34" charset="0"/>
                <a:ea typeface="Open Sans" pitchFamily="34" charset="-122"/>
                <a:cs typeface="Open Sans" pitchFamily="34" charset="-120"/>
              </a:rPr>
              <a:t>vụ</a:t>
            </a:r>
            <a:r>
              <a:rPr lang="en-US" sz="1650" dirty="0">
                <a:solidFill>
                  <a:srgbClr val="000099"/>
                </a:solidFill>
                <a:latin typeface="Open Sans" pitchFamily="34" charset="0"/>
                <a:ea typeface="Open Sans" pitchFamily="34" charset="-122"/>
                <a:cs typeface="Open Sans" pitchFamily="34" charset="-120"/>
              </a:rPr>
              <a:t> ERP/APP </a:t>
            </a:r>
            <a:r>
              <a:rPr lang="en-US" sz="1650" dirty="0" err="1">
                <a:solidFill>
                  <a:srgbClr val="000099"/>
                </a:solidFill>
                <a:latin typeface="Open Sans" pitchFamily="34" charset="0"/>
                <a:ea typeface="Open Sans" pitchFamily="34" charset="-122"/>
                <a:cs typeface="Open Sans" pitchFamily="34" charset="-120"/>
              </a:rPr>
              <a:t>TDA</a:t>
            </a:r>
            <a:r>
              <a:rPr lang="en-US" sz="1650" dirty="0">
                <a:solidFill>
                  <a:srgbClr val="000099"/>
                </a:solidFill>
                <a:latin typeface="Open Sans" pitchFamily="34" charset="0"/>
                <a:ea typeface="Open Sans" pitchFamily="34" charset="-122"/>
                <a:cs typeface="Open Sans" pitchFamily="34" charset="-120"/>
              </a:rPr>
              <a:t>/</a:t>
            </a:r>
            <a:r>
              <a:rPr lang="en-US" sz="1650" dirty="0" err="1">
                <a:solidFill>
                  <a:srgbClr val="000099"/>
                </a:solidFill>
                <a:latin typeface="Open Sans" pitchFamily="34" charset="0"/>
                <a:ea typeface="Open Sans" pitchFamily="34" charset="-122"/>
                <a:cs typeface="Open Sans" pitchFamily="34" charset="-120"/>
              </a:rPr>
              <a:t>QRCODE</a:t>
            </a:r>
            <a:r>
              <a:rPr lang="en-US" sz="1650" dirty="0">
                <a:solidFill>
                  <a:srgbClr val="000099"/>
                </a:solidFill>
                <a:latin typeface="Open Sans" pitchFamily="34" charset="0"/>
                <a:ea typeface="Open Sans" pitchFamily="34" charset="-122"/>
                <a:cs typeface="Open Sans" pitchFamily="34" charset="-120"/>
              </a:rPr>
              <a:t>/DMS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name="Slide 9">
    <p:spTree>
      <p:nvGrpSpPr>
        <p:cNvPr id="1" name=""/>
        <p:cNvGrpSpPr/>
        <p:nvPr/>
      </p:nvGrpSpPr>
      <p:grpSpPr>
        <a:xfrm>
          <a:off x="0" y="0"/>
          <a:ext cx="0" cy="0"/>
          <a:chOff x="0" y="0"/>
          <a:chExt cx="0" cy="0"/>
        </a:xfrm>
      </p:grpSpPr>
      <p:sp>
        <p:nvSpPr>
          <p:cNvPr id="2" name="Text 0"/>
          <p:cNvSpPr/>
          <p:nvPr/>
        </p:nvSpPr>
        <p:spPr>
          <a:xfrm>
            <a:off x="793790" y="855464"/>
            <a:ext cx="13042821" cy="1275874"/>
          </a:xfrm>
          <a:prstGeom prst="rect">
            <a:avLst/>
          </a:prstGeom>
          <a:noFill/>
          <a:ln/>
        </p:spPr>
        <p:txBody>
          <a:bodyPr wrap="square" lIns="0" tIns="0" rIns="0" bIns="0" rtlCol="0" anchor="t"/>
          <a:lstStyle/>
          <a:p>
            <a:pPr marL="0" indent="0" algn="l">
              <a:lnSpc>
                <a:spcPts val="5000"/>
              </a:lnSpc>
              <a:buNone/>
            </a:pPr>
            <a:r>
              <a:rPr lang="en-US" sz="4000" b="1" dirty="0">
                <a:solidFill>
                  <a:srgbClr val="FF0000"/>
                </a:solidFill>
                <a:latin typeface="Open Sans Bold" pitchFamily="34" charset="0"/>
                <a:ea typeface="Open Sans Bold" pitchFamily="34" charset="-122"/>
                <a:cs typeface="Open Sans Bold" pitchFamily="34" charset="-120"/>
              </a:rPr>
              <a:t>CÁC HOẠT ĐỘNG KHÁC VÀ DỰ ÁN TRỌNG ĐIỂM THÁNG 11</a:t>
            </a:r>
            <a:endParaRPr lang="en-US" sz="4000" dirty="0"/>
          </a:p>
        </p:txBody>
      </p:sp>
      <p:pic>
        <p:nvPicPr>
          <p:cNvPr id="3" name="Image 0" descr="preencoded.png"/>
          <p:cNvPicPr>
            <a:picLocks noChangeAspect="1"/>
          </p:cNvPicPr>
          <p:nvPr/>
        </p:nvPicPr>
        <p:blipFill>
          <a:blip r:embed="rId3"/>
          <a:stretch>
            <a:fillRect/>
          </a:stretch>
        </p:blipFill>
        <p:spPr>
          <a:xfrm>
            <a:off x="801410" y="2671763"/>
            <a:ext cx="4233743" cy="2449711"/>
          </a:xfrm>
          <a:prstGeom prst="rect">
            <a:avLst/>
          </a:prstGeom>
        </p:spPr>
      </p:pic>
      <p:pic>
        <p:nvPicPr>
          <p:cNvPr id="4" name="Image 1" descr="preencoded.png"/>
          <p:cNvPicPr>
            <a:picLocks noChangeAspect="1"/>
          </p:cNvPicPr>
          <p:nvPr/>
        </p:nvPicPr>
        <p:blipFill>
          <a:blip r:embed="rId4"/>
          <a:stretch>
            <a:fillRect/>
          </a:stretch>
        </p:blipFill>
        <p:spPr>
          <a:xfrm>
            <a:off x="5198388" y="2671763"/>
            <a:ext cx="4233743" cy="2449711"/>
          </a:xfrm>
          <a:prstGeom prst="rect">
            <a:avLst/>
          </a:prstGeom>
        </p:spPr>
      </p:pic>
      <p:pic>
        <p:nvPicPr>
          <p:cNvPr id="5" name="Image 2" descr="preencoded.png"/>
          <p:cNvPicPr>
            <a:picLocks noChangeAspect="1"/>
          </p:cNvPicPr>
          <p:nvPr/>
        </p:nvPicPr>
        <p:blipFill>
          <a:blip r:embed="rId5"/>
          <a:stretch>
            <a:fillRect/>
          </a:stretch>
        </p:blipFill>
        <p:spPr>
          <a:xfrm>
            <a:off x="9595366" y="2671763"/>
            <a:ext cx="4233743" cy="2449711"/>
          </a:xfrm>
          <a:prstGeom prst="rect">
            <a:avLst/>
          </a:prstGeom>
        </p:spPr>
      </p:pic>
      <p:sp>
        <p:nvSpPr>
          <p:cNvPr id="6" name="Text 1"/>
          <p:cNvSpPr/>
          <p:nvPr/>
        </p:nvSpPr>
        <p:spPr>
          <a:xfrm>
            <a:off x="793790" y="5687258"/>
            <a:ext cx="2551748" cy="318849"/>
          </a:xfrm>
          <a:prstGeom prst="rect">
            <a:avLst/>
          </a:prstGeom>
          <a:noFill/>
          <a:ln/>
        </p:spPr>
        <p:txBody>
          <a:bodyPr wrap="none" lIns="0" tIns="0" rIns="0" bIns="0" rtlCol="0" anchor="t"/>
          <a:lstStyle/>
          <a:p>
            <a:pPr marL="0" indent="0" algn="l">
              <a:lnSpc>
                <a:spcPts val="2500"/>
              </a:lnSpc>
              <a:buNone/>
            </a:pPr>
            <a:r>
              <a:rPr lang="en-US" sz="2000" b="1" dirty="0">
                <a:solidFill>
                  <a:srgbClr val="FF0000"/>
                </a:solidFill>
                <a:latin typeface="Open Sans Bold" pitchFamily="34" charset="0"/>
                <a:ea typeface="Open Sans Bold" pitchFamily="34" charset="-122"/>
                <a:cs typeface="Open Sans Bold" pitchFamily="34" charset="-120"/>
              </a:rPr>
              <a:t>Dự Án QR Code</a:t>
            </a:r>
            <a:endParaRPr lang="en-US" sz="2000" dirty="0"/>
          </a:p>
        </p:txBody>
      </p:sp>
      <p:sp>
        <p:nvSpPr>
          <p:cNvPr id="7" name="Text 2"/>
          <p:cNvSpPr/>
          <p:nvPr/>
        </p:nvSpPr>
        <p:spPr>
          <a:xfrm>
            <a:off x="793790" y="6210181"/>
            <a:ext cx="4016454" cy="980123"/>
          </a:xfrm>
          <a:prstGeom prst="rect">
            <a:avLst/>
          </a:prstGeom>
          <a:noFill/>
          <a:ln/>
        </p:spPr>
        <p:txBody>
          <a:bodyPr wrap="square" lIns="0" tIns="0" rIns="0" bIns="0" rtlCol="0" anchor="t"/>
          <a:lstStyle/>
          <a:p>
            <a:pPr marL="0" indent="0" algn="l">
              <a:lnSpc>
                <a:spcPts val="2550"/>
              </a:lnSpc>
              <a:buNone/>
            </a:pPr>
            <a:r>
              <a:rPr lang="en-US" sz="1600" dirty="0">
                <a:solidFill>
                  <a:srgbClr val="000099"/>
                </a:solidFill>
                <a:latin typeface="Open Sans" pitchFamily="34" charset="0"/>
                <a:ea typeface="Open Sans" pitchFamily="34" charset="-122"/>
                <a:cs typeface="Open Sans" pitchFamily="34" charset="-120"/>
              </a:rPr>
              <a:t>Đang làm Tờ trình giải trình các hạng mục </a:t>
            </a:r>
            <a:r>
              <a:rPr lang="en-US" sz="1600" dirty="0">
                <a:solidFill>
                  <a:srgbClr val="FF0101"/>
                </a:solidFill>
                <a:latin typeface="Open Sans" pitchFamily="34" charset="0"/>
                <a:ea typeface="Open Sans" pitchFamily="34" charset="-122"/>
                <a:cs typeface="Open Sans" pitchFamily="34" charset="-120"/>
              </a:rPr>
              <a:t>ngoài phạm vi của dự án QRCODE Long An</a:t>
            </a:r>
            <a:endParaRPr lang="en-US" sz="1600" dirty="0"/>
          </a:p>
        </p:txBody>
      </p:sp>
      <p:sp>
        <p:nvSpPr>
          <p:cNvPr id="8" name="Text 3"/>
          <p:cNvSpPr/>
          <p:nvPr/>
        </p:nvSpPr>
        <p:spPr>
          <a:xfrm>
            <a:off x="5315783" y="5687258"/>
            <a:ext cx="2630210" cy="318849"/>
          </a:xfrm>
          <a:prstGeom prst="rect">
            <a:avLst/>
          </a:prstGeom>
          <a:noFill/>
          <a:ln/>
        </p:spPr>
        <p:txBody>
          <a:bodyPr wrap="none" lIns="0" tIns="0" rIns="0" bIns="0" rtlCol="0" anchor="t"/>
          <a:lstStyle/>
          <a:p>
            <a:pPr marL="0" indent="0" algn="l">
              <a:lnSpc>
                <a:spcPts val="2500"/>
              </a:lnSpc>
              <a:buNone/>
            </a:pPr>
            <a:r>
              <a:rPr lang="en-US" sz="2000" b="1" dirty="0">
                <a:solidFill>
                  <a:srgbClr val="FF0000"/>
                </a:solidFill>
                <a:latin typeface="Open Sans Bold" pitchFamily="34" charset="0"/>
                <a:ea typeface="Open Sans Bold" pitchFamily="34" charset="-122"/>
                <a:cs typeface="Open Sans Bold" pitchFamily="34" charset="-120"/>
              </a:rPr>
              <a:t>Triển Khai Chữ Ký Số</a:t>
            </a:r>
            <a:endParaRPr lang="en-US" sz="2000" dirty="0"/>
          </a:p>
        </p:txBody>
      </p:sp>
      <p:sp>
        <p:nvSpPr>
          <p:cNvPr id="9" name="Text 4"/>
          <p:cNvSpPr/>
          <p:nvPr/>
        </p:nvSpPr>
        <p:spPr>
          <a:xfrm>
            <a:off x="5315783" y="6210181"/>
            <a:ext cx="4015145" cy="980123"/>
          </a:xfrm>
          <a:prstGeom prst="rect">
            <a:avLst/>
          </a:prstGeom>
          <a:noFill/>
          <a:ln/>
        </p:spPr>
        <p:txBody>
          <a:bodyPr wrap="square" lIns="0" tIns="0" rIns="0" bIns="0" rtlCol="0" anchor="t"/>
          <a:lstStyle/>
          <a:p>
            <a:pPr marL="0" indent="0" algn="l">
              <a:lnSpc>
                <a:spcPts val="2550"/>
              </a:lnSpc>
              <a:buNone/>
            </a:pPr>
            <a:r>
              <a:rPr lang="en-US" sz="1600" dirty="0">
                <a:solidFill>
                  <a:srgbClr val="000099"/>
                </a:solidFill>
                <a:latin typeface="Open Sans" pitchFamily="34" charset="0"/>
                <a:ea typeface="Open Sans" pitchFamily="34" charset="-122"/>
                <a:cs typeface="Open Sans" pitchFamily="34" charset="-120"/>
              </a:rPr>
              <a:t>Tiến hành thống kê chi tiết các loại chứng từ đang sử dụng chữ ký số để chuẩn bị cho việc áp dụng rộng rãi và đồng bộ hóa.</a:t>
            </a:r>
            <a:endParaRPr lang="en-US" sz="1600" dirty="0"/>
          </a:p>
        </p:txBody>
      </p:sp>
      <p:sp>
        <p:nvSpPr>
          <p:cNvPr id="10" name="Text 5"/>
          <p:cNvSpPr/>
          <p:nvPr/>
        </p:nvSpPr>
        <p:spPr>
          <a:xfrm>
            <a:off x="9836468" y="5687258"/>
            <a:ext cx="2735461" cy="318849"/>
          </a:xfrm>
          <a:prstGeom prst="rect">
            <a:avLst/>
          </a:prstGeom>
          <a:noFill/>
          <a:ln/>
        </p:spPr>
        <p:txBody>
          <a:bodyPr wrap="none" lIns="0" tIns="0" rIns="0" bIns="0" rtlCol="0" anchor="t"/>
          <a:lstStyle/>
          <a:p>
            <a:pPr marL="0" indent="0" algn="l">
              <a:lnSpc>
                <a:spcPts val="2500"/>
              </a:lnSpc>
              <a:buNone/>
            </a:pPr>
            <a:r>
              <a:rPr lang="en-US" sz="2000" b="1" dirty="0">
                <a:solidFill>
                  <a:srgbClr val="FF0000"/>
                </a:solidFill>
                <a:latin typeface="Open Sans Bold" pitchFamily="34" charset="0"/>
                <a:ea typeface="Open Sans Bold" pitchFamily="34" charset="-122"/>
                <a:cs typeface="Open Sans Bold" pitchFamily="34" charset="-120"/>
              </a:rPr>
              <a:t>Thực Hiện Lộ Trình AI</a:t>
            </a:r>
            <a:endParaRPr lang="en-US" sz="2000" dirty="0"/>
          </a:p>
        </p:txBody>
      </p:sp>
      <p:sp>
        <p:nvSpPr>
          <p:cNvPr id="11" name="Text 6"/>
          <p:cNvSpPr/>
          <p:nvPr/>
        </p:nvSpPr>
        <p:spPr>
          <a:xfrm>
            <a:off x="9836468" y="6210181"/>
            <a:ext cx="4015145" cy="653415"/>
          </a:xfrm>
          <a:prstGeom prst="rect">
            <a:avLst/>
          </a:prstGeom>
          <a:noFill/>
          <a:ln/>
        </p:spPr>
        <p:txBody>
          <a:bodyPr wrap="square" lIns="0" tIns="0" rIns="0" bIns="0" rtlCol="0" anchor="t"/>
          <a:lstStyle/>
          <a:p>
            <a:pPr marL="0" indent="0" algn="l">
              <a:lnSpc>
                <a:spcPts val="2550"/>
              </a:lnSpc>
              <a:buNone/>
            </a:pPr>
            <a:r>
              <a:rPr lang="en-US" sz="1600" dirty="0">
                <a:solidFill>
                  <a:srgbClr val="000099"/>
                </a:solidFill>
                <a:latin typeface="Open Sans" pitchFamily="34" charset="0"/>
                <a:ea typeface="Open Sans" pitchFamily="34" charset="-122"/>
                <a:cs typeface="Open Sans" pitchFamily="34" charset="-120"/>
              </a:rPr>
              <a:t>Bắt đầu triển khai Lộ trình tiếp cận và ứng dụng AI theo đề xuất đã được phê duyệt.</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name="Slide 10">
    <p:spTree>
      <p:nvGrpSpPr>
        <p:cNvPr id="1" name=""/>
        <p:cNvGrpSpPr/>
        <p:nvPr/>
      </p:nvGrpSpPr>
      <p:grpSpPr>
        <a:xfrm>
          <a:off x="0" y="0"/>
          <a:ext cx="0" cy="0"/>
          <a:chOff x="0" y="0"/>
          <a:chExt cx="0" cy="0"/>
        </a:xfrm>
      </p:grpSpPr>
      <p:sp>
        <p:nvSpPr>
          <p:cNvPr id="4" name="Text 1"/>
          <p:cNvSpPr/>
          <p:nvPr/>
        </p:nvSpPr>
        <p:spPr>
          <a:xfrm>
            <a:off x="5197971" y="4154893"/>
            <a:ext cx="4234458" cy="481965"/>
          </a:xfrm>
          <a:prstGeom prst="rect">
            <a:avLst/>
          </a:prstGeom>
          <a:noFill/>
          <a:ln/>
        </p:spPr>
        <p:txBody>
          <a:bodyPr wrap="none" lIns="0" tIns="0" rIns="0" bIns="0" rtlCol="0" anchor="t"/>
          <a:lstStyle/>
          <a:p>
            <a:pPr marL="0" indent="0" algn="l">
              <a:lnSpc>
                <a:spcPts val="3750"/>
              </a:lnSpc>
              <a:buNone/>
            </a:pPr>
            <a:r>
              <a:rPr lang="en-US" sz="3000" b="1" dirty="0">
                <a:solidFill>
                  <a:srgbClr val="FF0000"/>
                </a:solidFill>
                <a:latin typeface="Open Sans Bold" pitchFamily="34" charset="0"/>
                <a:ea typeface="Open Sans Bold" pitchFamily="34" charset="-122"/>
                <a:cs typeface="Open Sans Bold" pitchFamily="34" charset="-120"/>
              </a:rPr>
              <a:t>Trân trọng kính chào !</a:t>
            </a:r>
            <a:endParaRPr lang="en-US" sz="3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1093</Words>
  <Application>Microsoft Office PowerPoint</Application>
  <PresentationFormat>Custom</PresentationFormat>
  <Paragraphs>106</Paragraphs>
  <Slides>10</Slides>
  <Notes>9</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Tran Ngoc Duy Linh</cp:lastModifiedBy>
  <cp:revision>6</cp:revision>
  <dcterms:created xsi:type="dcterms:W3CDTF">2025-11-06T09:37:48Z</dcterms:created>
  <dcterms:modified xsi:type="dcterms:W3CDTF">2026-04-18T09:16:40Z</dcterms:modified>
</cp:coreProperties>
</file>