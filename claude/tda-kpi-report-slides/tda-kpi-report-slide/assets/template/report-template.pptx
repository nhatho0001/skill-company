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0" r:id="rId17"/>
  </p:sldIdLst>
  <p:sldSz cx="18288000" cy="10287000"/>
  <p:notesSz cx="6858000" cy="9144000"/>
  <p:embeddedFontLst>
    <p:embeddedFont>
      <p:font typeface="Open Sans 2 Bold" panose="020B0604020202020204" charset="0"/>
      <p:regular r:id="rId19"/>
    </p:embeddedFont>
    <p:embeddedFont>
      <p:font typeface="Verdana Bold" panose="020B0804030504040204" pitchFamily="34" charset="0"/>
      <p:regular r:id="rId20"/>
      <p:bold r:id="rId21"/>
    </p:embeddedFont>
    <p:embeddedFont>
      <p:font typeface="Open Sans 1 Bold" panose="020B0604020202020204" charset="0"/>
      <p:regular r:id="rId22"/>
    </p:embeddedFont>
    <p:embeddedFont>
      <p:font typeface="Arial Bold" panose="020B0704020202020204" pitchFamily="34" charset="0"/>
      <p:regular r:id="rId23"/>
      <p:bold r:id="rId24"/>
    </p:embeddedFont>
    <p:embeddedFont>
      <p:font typeface="Calibri" panose="020F0502020204030204" pitchFamily="34" charset="0"/>
      <p:regular r:id="rId25"/>
      <p:bold r:id="rId26"/>
      <p:italic r:id="rId27"/>
      <p:boldItalic r:id="rId28"/>
    </p:embeddedFont>
    <p:embeddedFont>
      <p:font typeface="Open Sans 1" panose="020B0604020202020204" charset="0"/>
      <p:regular r:id="rId29"/>
    </p:embeddedFont>
    <p:embeddedFont>
      <p:font typeface="Canva Sans" panose="020B0604020202020204" charset="0"/>
      <p:regular r:id="rId30"/>
    </p:embeddedFont>
    <p:embeddedFont>
      <p:font typeface="Open Sans 2"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828"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1AD-4929-9711-616D94515D9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1AD-4929-9711-616D94515D9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1AD-4929-9711-616D94515D9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1AD-4929-9711-616D94515D9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7111-4B43-B6FD-D0EB7EE6ECB1}"/>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9446276246719161E-2"/>
          <c:y val="0.10005474901574804"/>
          <c:w val="0.96388705708661415"/>
          <c:h val="0.84499101870078741"/>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3AD-412C-8545-54F58E458D3A}"/>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3AD-412C-8545-54F58E458D3A}"/>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3AD-412C-8545-54F58E458D3A}"/>
            </c:ext>
          </c:extLst>
        </c:ser>
        <c:dLbls>
          <c:showLegendKey val="0"/>
          <c:showVal val="0"/>
          <c:showCatName val="0"/>
          <c:showSerName val="0"/>
          <c:showPercent val="0"/>
          <c:showBubbleSize val="0"/>
        </c:dLbls>
        <c:gapWidth val="219"/>
        <c:overlap val="-27"/>
        <c:axId val="1927896304"/>
        <c:axId val="1927903792"/>
      </c:barChart>
      <c:catAx>
        <c:axId val="1927896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7903792"/>
        <c:crosses val="autoZero"/>
        <c:auto val="1"/>
        <c:lblAlgn val="ctr"/>
        <c:lblOffset val="100"/>
        <c:noMultiLvlLbl val="0"/>
      </c:catAx>
      <c:valAx>
        <c:axId val="1927903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78963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t="-4000" b="-16999"/>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3.svg"/><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17000"/>
          </a:stretch>
        </a:blipFill>
        <a:effectLst/>
      </p:bgPr>
    </p:bg>
    <p:spTree>
      <p:nvGrpSpPr>
        <p:cNvPr id="1" name=""/>
        <p:cNvGrpSpPr/>
        <p:nvPr/>
      </p:nvGrpSpPr>
      <p:grpSpPr>
        <a:xfrm>
          <a:off x="0" y="0"/>
          <a:ext cx="0" cy="0"/>
          <a:chOff x="0" y="0"/>
          <a:chExt cx="0" cy="0"/>
        </a:xfrm>
      </p:grpSpPr>
      <p:sp>
        <p:nvSpPr>
          <p:cNvPr id="3" name="TextBox 3"/>
          <p:cNvSpPr txBox="1"/>
          <p:nvPr/>
        </p:nvSpPr>
        <p:spPr>
          <a:xfrm>
            <a:off x="3409521" y="3289221"/>
            <a:ext cx="12124944" cy="5509622"/>
          </a:xfrm>
          <a:prstGeom prst="rect">
            <a:avLst/>
          </a:prstGeom>
        </p:spPr>
        <p:txBody>
          <a:bodyPr lIns="0" tIns="0" rIns="0" bIns="0" rtlCol="0" anchor="t">
            <a:spAutoFit/>
          </a:bodyPr>
          <a:lstStyle/>
          <a:p>
            <a:pPr algn="ctr">
              <a:lnSpc>
                <a:spcPts val="5184"/>
              </a:lnSpc>
            </a:pPr>
            <a:endParaRPr/>
          </a:p>
          <a:p>
            <a:pPr algn="ctr">
              <a:lnSpc>
                <a:spcPts val="4859"/>
              </a:lnSpc>
            </a:pPr>
            <a:r>
              <a:rPr lang="en-US" sz="4499" b="1">
                <a:solidFill>
                  <a:srgbClr val="0000CC"/>
                </a:solidFill>
                <a:latin typeface="Verdana Bold"/>
                <a:ea typeface="Verdana Bold"/>
                <a:cs typeface="Verdana Bold"/>
                <a:sym typeface="Verdana Bold"/>
              </a:rPr>
              <a:t>BÁO CÁO</a:t>
            </a:r>
          </a:p>
          <a:p>
            <a:pPr algn="ctr">
              <a:lnSpc>
                <a:spcPts val="5184"/>
              </a:lnSpc>
            </a:pPr>
            <a:r>
              <a:rPr lang="en-US" sz="4799" b="1">
                <a:solidFill>
                  <a:srgbClr val="0000CC"/>
                </a:solidFill>
                <a:latin typeface="Arial Bold"/>
                <a:ea typeface="Arial Bold"/>
                <a:cs typeface="Arial Bold"/>
                <a:sym typeface="Arial Bold"/>
              </a:rPr>
              <a:t>KẾT QUẢ THÁNG 10/2025</a:t>
            </a:r>
          </a:p>
          <a:p>
            <a:pPr algn="ctr">
              <a:lnSpc>
                <a:spcPts val="5184"/>
              </a:lnSpc>
            </a:pPr>
            <a:r>
              <a:rPr lang="en-US" sz="4799" b="1">
                <a:solidFill>
                  <a:srgbClr val="0000CC"/>
                </a:solidFill>
                <a:latin typeface="Arial Bold"/>
                <a:ea typeface="Arial Bold"/>
                <a:cs typeface="Arial Bold"/>
                <a:sym typeface="Arial Bold"/>
              </a:rPr>
              <a:t>VÀ KẾ HOẠCH THÁNG 11/2025</a:t>
            </a:r>
          </a:p>
          <a:p>
            <a:pPr algn="ctr">
              <a:lnSpc>
                <a:spcPts val="5184"/>
              </a:lnSpc>
            </a:pPr>
            <a:endParaRPr lang="en-US" sz="4799" b="1">
              <a:solidFill>
                <a:srgbClr val="0000CC"/>
              </a:solidFill>
              <a:latin typeface="Arial Bold"/>
              <a:ea typeface="Arial Bold"/>
              <a:cs typeface="Arial Bold"/>
              <a:sym typeface="Arial Bold"/>
            </a:endParaRPr>
          </a:p>
          <a:p>
            <a:pPr algn="ctr">
              <a:lnSpc>
                <a:spcPts val="5184"/>
              </a:lnSpc>
            </a:pPr>
            <a:r>
              <a:rPr lang="en-US" sz="4799" b="1">
                <a:solidFill>
                  <a:srgbClr val="0000CC"/>
                </a:solidFill>
                <a:latin typeface="Arial Bold"/>
                <a:ea typeface="Arial Bold"/>
                <a:cs typeface="Arial Bold"/>
                <a:sym typeface="Arial Bold"/>
              </a:rPr>
              <a:t>PHÒNG CÔNG NGHỆ THÔNG TIN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947147"/>
            <a:ext cx="13617778" cy="639213"/>
          </a:xfrm>
          <a:prstGeom prst="rect">
            <a:avLst/>
          </a:prstGeom>
        </p:spPr>
        <p:txBody>
          <a:bodyPr lIns="0" tIns="0" rIns="0" bIns="0" rtlCol="0" anchor="t">
            <a:spAutoFit/>
          </a:bodyPr>
          <a:lstStyle/>
          <a:p>
            <a:pPr algn="l">
              <a:lnSpc>
                <a:spcPts val="4875"/>
              </a:lnSpc>
            </a:pPr>
            <a:r>
              <a:rPr lang="en-US" sz="3875" b="1" dirty="0">
                <a:solidFill>
                  <a:srgbClr val="FF0000"/>
                </a:solidFill>
                <a:latin typeface="Open Sans 1 Bold"/>
                <a:ea typeface="Open Sans 1 Bold"/>
                <a:cs typeface="Open Sans 1 Bold"/>
                <a:sym typeface="Open Sans 1 Bold"/>
              </a:rPr>
              <a:t>MỤC LỤC: CÁC HOẠT ĐỘNG TRỌNG TÂM TRONG THÁNG</a:t>
            </a:r>
          </a:p>
        </p:txBody>
      </p:sp>
      <p:sp>
        <p:nvSpPr>
          <p:cNvPr id="4" name="TextBox 4"/>
          <p:cNvSpPr txBox="1"/>
          <p:nvPr/>
        </p:nvSpPr>
        <p:spPr>
          <a:xfrm>
            <a:off x="992238" y="1916611"/>
            <a:ext cx="16303523" cy="343535"/>
          </a:xfrm>
          <a:prstGeom prst="rect">
            <a:avLst/>
          </a:prstGeom>
        </p:spPr>
        <p:txBody>
          <a:bodyPr lIns="0" tIns="0" rIns="0" bIns="0" rtlCol="0" anchor="t">
            <a:spAutoFit/>
          </a:bodyPr>
          <a:lstStyle/>
          <a:p>
            <a:pPr algn="l">
              <a:lnSpc>
                <a:spcPts val="2979"/>
              </a:lnSpc>
            </a:pPr>
            <a:r>
              <a:rPr lang="en-US" sz="1862">
                <a:solidFill>
                  <a:srgbClr val="000099"/>
                </a:solidFill>
                <a:latin typeface="Open Sans 1"/>
                <a:ea typeface="Open Sans 1"/>
                <a:cs typeface="Open Sans 1"/>
                <a:sym typeface="Open Sans 1"/>
              </a:rPr>
              <a:t>Báo cáo này tập trung vào các kết quả đã đạt được và kế hoạch hành động chính của Phòng CNTT trong tháng 10 và định hướng cho tháng 11.</a:t>
            </a:r>
          </a:p>
        </p:txBody>
      </p:sp>
      <p:grpSp>
        <p:nvGrpSpPr>
          <p:cNvPr id="5" name="Group 5"/>
          <p:cNvGrpSpPr/>
          <p:nvPr/>
        </p:nvGrpSpPr>
        <p:grpSpPr>
          <a:xfrm>
            <a:off x="977951" y="2509838"/>
            <a:ext cx="16332098" cy="1229173"/>
            <a:chOff x="0" y="0"/>
            <a:chExt cx="21776131" cy="1638897"/>
          </a:xfrm>
        </p:grpSpPr>
        <p:sp>
          <p:nvSpPr>
            <p:cNvPr id="6" name="Freeform 6"/>
            <p:cNvSpPr/>
            <p:nvPr/>
          </p:nvSpPr>
          <p:spPr>
            <a:xfrm>
              <a:off x="19050" y="19050"/>
              <a:ext cx="21737955" cy="1600835"/>
            </a:xfrm>
            <a:custGeom>
              <a:avLst/>
              <a:gdLst/>
              <a:ahLst/>
              <a:cxnLst/>
              <a:rect l="l" t="t" r="r" b="b"/>
              <a:pathLst>
                <a:path w="21737955" h="1600835">
                  <a:moveTo>
                    <a:pt x="0" y="111125"/>
                  </a:moveTo>
                  <a:cubicBezTo>
                    <a:pt x="0" y="49784"/>
                    <a:pt x="50800" y="0"/>
                    <a:pt x="113538" y="0"/>
                  </a:cubicBezTo>
                  <a:lnTo>
                    <a:pt x="21624417" y="0"/>
                  </a:lnTo>
                  <a:cubicBezTo>
                    <a:pt x="21687155" y="0"/>
                    <a:pt x="21737955" y="49784"/>
                    <a:pt x="21737955" y="111125"/>
                  </a:cubicBezTo>
                  <a:lnTo>
                    <a:pt x="21737955" y="1489710"/>
                  </a:lnTo>
                  <a:cubicBezTo>
                    <a:pt x="21737955" y="1551051"/>
                    <a:pt x="21687155" y="1600835"/>
                    <a:pt x="21624417" y="1600835"/>
                  </a:cubicBezTo>
                  <a:lnTo>
                    <a:pt x="113538" y="1600835"/>
                  </a:lnTo>
                  <a:cubicBezTo>
                    <a:pt x="50800" y="1600835"/>
                    <a:pt x="0" y="1551051"/>
                    <a:pt x="0" y="1489710"/>
                  </a:cubicBezTo>
                  <a:close/>
                </a:path>
              </a:pathLst>
            </a:custGeom>
            <a:solidFill>
              <a:srgbClr val="FFFFFF"/>
            </a:solidFill>
          </p:spPr>
        </p:sp>
        <p:sp>
          <p:nvSpPr>
            <p:cNvPr id="7" name="Freeform 7"/>
            <p:cNvSpPr/>
            <p:nvPr/>
          </p:nvSpPr>
          <p:spPr>
            <a:xfrm>
              <a:off x="0" y="0"/>
              <a:ext cx="21776055" cy="1638935"/>
            </a:xfrm>
            <a:custGeom>
              <a:avLst/>
              <a:gdLst/>
              <a:ahLst/>
              <a:cxnLst/>
              <a:rect l="l" t="t" r="r" b="b"/>
              <a:pathLst>
                <a:path w="21776055" h="1638935">
                  <a:moveTo>
                    <a:pt x="0" y="130175"/>
                  </a:moveTo>
                  <a:cubicBezTo>
                    <a:pt x="0" y="57912"/>
                    <a:pt x="59817" y="0"/>
                    <a:pt x="132588" y="0"/>
                  </a:cubicBezTo>
                  <a:lnTo>
                    <a:pt x="21643467" y="0"/>
                  </a:lnTo>
                  <a:lnTo>
                    <a:pt x="21643467" y="19050"/>
                  </a:lnTo>
                  <a:lnTo>
                    <a:pt x="21643467" y="0"/>
                  </a:lnTo>
                  <a:cubicBezTo>
                    <a:pt x="21716364" y="0"/>
                    <a:pt x="21776055" y="57912"/>
                    <a:pt x="21776055" y="130175"/>
                  </a:cubicBezTo>
                  <a:lnTo>
                    <a:pt x="21757005" y="130175"/>
                  </a:lnTo>
                  <a:lnTo>
                    <a:pt x="21776055" y="130175"/>
                  </a:lnTo>
                  <a:lnTo>
                    <a:pt x="21776055" y="1508760"/>
                  </a:lnTo>
                  <a:lnTo>
                    <a:pt x="21757005" y="1508760"/>
                  </a:lnTo>
                  <a:lnTo>
                    <a:pt x="21776055" y="1508760"/>
                  </a:lnTo>
                  <a:cubicBezTo>
                    <a:pt x="21776055" y="1581023"/>
                    <a:pt x="21716237" y="1638935"/>
                    <a:pt x="21643467" y="1638935"/>
                  </a:cubicBezTo>
                  <a:lnTo>
                    <a:pt x="21643467" y="1619885"/>
                  </a:lnTo>
                  <a:lnTo>
                    <a:pt x="21643467" y="1638935"/>
                  </a:lnTo>
                  <a:lnTo>
                    <a:pt x="132588" y="1638935"/>
                  </a:lnTo>
                  <a:lnTo>
                    <a:pt x="132588" y="1619885"/>
                  </a:lnTo>
                  <a:lnTo>
                    <a:pt x="132588" y="1638935"/>
                  </a:lnTo>
                  <a:cubicBezTo>
                    <a:pt x="59817" y="1638935"/>
                    <a:pt x="0" y="1581023"/>
                    <a:pt x="0" y="1508760"/>
                  </a:cubicBezTo>
                  <a:lnTo>
                    <a:pt x="0" y="130175"/>
                  </a:lnTo>
                  <a:lnTo>
                    <a:pt x="19050" y="130175"/>
                  </a:lnTo>
                  <a:lnTo>
                    <a:pt x="0" y="130175"/>
                  </a:lnTo>
                  <a:moveTo>
                    <a:pt x="38100" y="130175"/>
                  </a:moveTo>
                  <a:lnTo>
                    <a:pt x="38100" y="1508760"/>
                  </a:lnTo>
                  <a:lnTo>
                    <a:pt x="19050" y="1508760"/>
                  </a:lnTo>
                  <a:lnTo>
                    <a:pt x="38100" y="1508760"/>
                  </a:lnTo>
                  <a:cubicBezTo>
                    <a:pt x="38100" y="1559179"/>
                    <a:pt x="80010" y="1600835"/>
                    <a:pt x="132588" y="1600835"/>
                  </a:cubicBezTo>
                  <a:lnTo>
                    <a:pt x="21643467" y="1600835"/>
                  </a:lnTo>
                  <a:cubicBezTo>
                    <a:pt x="21696045" y="1600835"/>
                    <a:pt x="21737955" y="1559179"/>
                    <a:pt x="21737955" y="1508760"/>
                  </a:cubicBezTo>
                  <a:lnTo>
                    <a:pt x="21737955" y="130175"/>
                  </a:lnTo>
                  <a:cubicBezTo>
                    <a:pt x="21737955" y="79756"/>
                    <a:pt x="21696045" y="38100"/>
                    <a:pt x="21643467" y="38100"/>
                  </a:cubicBezTo>
                  <a:lnTo>
                    <a:pt x="132588" y="38100"/>
                  </a:lnTo>
                  <a:lnTo>
                    <a:pt x="132588" y="19050"/>
                  </a:lnTo>
                  <a:lnTo>
                    <a:pt x="132588" y="38100"/>
                  </a:lnTo>
                  <a:cubicBezTo>
                    <a:pt x="80010" y="38100"/>
                    <a:pt x="38100" y="79756"/>
                    <a:pt x="38100" y="130175"/>
                  </a:cubicBezTo>
                  <a:close/>
                </a:path>
              </a:pathLst>
            </a:custGeom>
            <a:solidFill>
              <a:srgbClr val="E5B2B2"/>
            </a:solidFill>
          </p:spPr>
        </p:sp>
      </p:grpSp>
      <p:grpSp>
        <p:nvGrpSpPr>
          <p:cNvPr id="8" name="Group 8"/>
          <p:cNvGrpSpPr/>
          <p:nvPr/>
        </p:nvGrpSpPr>
        <p:grpSpPr>
          <a:xfrm>
            <a:off x="1020813" y="2552700"/>
            <a:ext cx="793852" cy="1143448"/>
            <a:chOff x="0" y="0"/>
            <a:chExt cx="1058469" cy="1524597"/>
          </a:xfrm>
        </p:grpSpPr>
        <p:sp>
          <p:nvSpPr>
            <p:cNvPr id="9" name="Freeform 9"/>
            <p:cNvSpPr/>
            <p:nvPr/>
          </p:nvSpPr>
          <p:spPr>
            <a:xfrm>
              <a:off x="0" y="0"/>
              <a:ext cx="1058418" cy="1524635"/>
            </a:xfrm>
            <a:custGeom>
              <a:avLst/>
              <a:gdLst/>
              <a:ahLst/>
              <a:cxnLst/>
              <a:rect l="l" t="t" r="r" b="b"/>
              <a:pathLst>
                <a:path w="1058418" h="1524635">
                  <a:moveTo>
                    <a:pt x="0" y="65405"/>
                  </a:moveTo>
                  <a:cubicBezTo>
                    <a:pt x="0" y="29337"/>
                    <a:pt x="29337" y="0"/>
                    <a:pt x="65405" y="0"/>
                  </a:cubicBezTo>
                  <a:lnTo>
                    <a:pt x="993013" y="0"/>
                  </a:lnTo>
                  <a:cubicBezTo>
                    <a:pt x="1029208" y="0"/>
                    <a:pt x="1058418" y="29337"/>
                    <a:pt x="1058418" y="65405"/>
                  </a:cubicBezTo>
                  <a:lnTo>
                    <a:pt x="1058418" y="1459230"/>
                  </a:lnTo>
                  <a:cubicBezTo>
                    <a:pt x="1058418" y="1495425"/>
                    <a:pt x="1029081" y="1524635"/>
                    <a:pt x="993013" y="1524635"/>
                  </a:cubicBezTo>
                  <a:lnTo>
                    <a:pt x="65405" y="1524635"/>
                  </a:lnTo>
                  <a:cubicBezTo>
                    <a:pt x="29210" y="1524635"/>
                    <a:pt x="0" y="1495298"/>
                    <a:pt x="0" y="1459230"/>
                  </a:cubicBezTo>
                  <a:close/>
                </a:path>
              </a:pathLst>
            </a:custGeom>
            <a:solidFill>
              <a:srgbClr val="FFCCCC"/>
            </a:solidFill>
          </p:spPr>
        </p:sp>
      </p:grpSp>
      <p:sp>
        <p:nvSpPr>
          <p:cNvPr id="10" name="TextBox 10"/>
          <p:cNvSpPr txBox="1"/>
          <p:nvPr/>
        </p:nvSpPr>
        <p:spPr>
          <a:xfrm>
            <a:off x="1264148" y="2976410"/>
            <a:ext cx="297656" cy="333966"/>
          </a:xfrm>
          <a:prstGeom prst="rect">
            <a:avLst/>
          </a:prstGeom>
        </p:spPr>
        <p:txBody>
          <a:bodyPr lIns="0" tIns="0" rIns="0" bIns="0" rtlCol="0" anchor="t">
            <a:spAutoFit/>
          </a:bodyPr>
          <a:lstStyle/>
          <a:p>
            <a:pPr algn="l">
              <a:lnSpc>
                <a:spcPts val="2312"/>
              </a:lnSpc>
            </a:pPr>
            <a:r>
              <a:rPr lang="en-US" sz="2312" b="1">
                <a:solidFill>
                  <a:srgbClr val="000099"/>
                </a:solidFill>
                <a:latin typeface="Open Sans 1 Bold"/>
                <a:ea typeface="Open Sans 1 Bold"/>
                <a:cs typeface="Open Sans 1 Bold"/>
                <a:sym typeface="Open Sans 1 Bold"/>
              </a:rPr>
              <a:t>1</a:t>
            </a:r>
          </a:p>
        </p:txBody>
      </p:sp>
      <p:sp>
        <p:nvSpPr>
          <p:cNvPr id="11" name="TextBox 11"/>
          <p:cNvSpPr txBox="1"/>
          <p:nvPr/>
        </p:nvSpPr>
        <p:spPr>
          <a:xfrm>
            <a:off x="2013052" y="2732037"/>
            <a:ext cx="2480815"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A. Hạ tầng CNTT</a:t>
            </a:r>
          </a:p>
        </p:txBody>
      </p:sp>
      <p:sp>
        <p:nvSpPr>
          <p:cNvPr id="12" name="TextBox 12"/>
          <p:cNvSpPr txBox="1"/>
          <p:nvPr/>
        </p:nvSpPr>
        <p:spPr>
          <a:xfrm>
            <a:off x="2013052" y="3123009"/>
            <a:ext cx="15055748" cy="374752"/>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Kết quả công việc Hệ thống Mạng, Server, Backup &amp; Bảo trì.</a:t>
            </a:r>
          </a:p>
        </p:txBody>
      </p:sp>
      <p:grpSp>
        <p:nvGrpSpPr>
          <p:cNvPr id="13" name="Group 13"/>
          <p:cNvGrpSpPr/>
          <p:nvPr/>
        </p:nvGrpSpPr>
        <p:grpSpPr>
          <a:xfrm>
            <a:off x="977951" y="3908822"/>
            <a:ext cx="16332098" cy="1229173"/>
            <a:chOff x="0" y="0"/>
            <a:chExt cx="21776131" cy="1638897"/>
          </a:xfrm>
        </p:grpSpPr>
        <p:sp>
          <p:nvSpPr>
            <p:cNvPr id="14" name="Freeform 14"/>
            <p:cNvSpPr/>
            <p:nvPr/>
          </p:nvSpPr>
          <p:spPr>
            <a:xfrm>
              <a:off x="19050" y="19050"/>
              <a:ext cx="21737955" cy="1600835"/>
            </a:xfrm>
            <a:custGeom>
              <a:avLst/>
              <a:gdLst/>
              <a:ahLst/>
              <a:cxnLst/>
              <a:rect l="l" t="t" r="r" b="b"/>
              <a:pathLst>
                <a:path w="21737955" h="1600835">
                  <a:moveTo>
                    <a:pt x="0" y="111125"/>
                  </a:moveTo>
                  <a:cubicBezTo>
                    <a:pt x="0" y="49784"/>
                    <a:pt x="50800" y="0"/>
                    <a:pt x="113538" y="0"/>
                  </a:cubicBezTo>
                  <a:lnTo>
                    <a:pt x="21624417" y="0"/>
                  </a:lnTo>
                  <a:cubicBezTo>
                    <a:pt x="21687155" y="0"/>
                    <a:pt x="21737955" y="49784"/>
                    <a:pt x="21737955" y="111125"/>
                  </a:cubicBezTo>
                  <a:lnTo>
                    <a:pt x="21737955" y="1489710"/>
                  </a:lnTo>
                  <a:cubicBezTo>
                    <a:pt x="21737955" y="1551051"/>
                    <a:pt x="21687155" y="1600835"/>
                    <a:pt x="21624417" y="1600835"/>
                  </a:cubicBezTo>
                  <a:lnTo>
                    <a:pt x="113538" y="1600835"/>
                  </a:lnTo>
                  <a:cubicBezTo>
                    <a:pt x="50800" y="1600835"/>
                    <a:pt x="0" y="1551051"/>
                    <a:pt x="0" y="1489710"/>
                  </a:cubicBezTo>
                  <a:close/>
                </a:path>
              </a:pathLst>
            </a:custGeom>
            <a:solidFill>
              <a:srgbClr val="FFFFFF"/>
            </a:solidFill>
          </p:spPr>
        </p:sp>
        <p:sp>
          <p:nvSpPr>
            <p:cNvPr id="15" name="Freeform 15"/>
            <p:cNvSpPr/>
            <p:nvPr/>
          </p:nvSpPr>
          <p:spPr>
            <a:xfrm>
              <a:off x="0" y="0"/>
              <a:ext cx="21776055" cy="1638935"/>
            </a:xfrm>
            <a:custGeom>
              <a:avLst/>
              <a:gdLst/>
              <a:ahLst/>
              <a:cxnLst/>
              <a:rect l="l" t="t" r="r" b="b"/>
              <a:pathLst>
                <a:path w="21776055" h="1638935">
                  <a:moveTo>
                    <a:pt x="0" y="130175"/>
                  </a:moveTo>
                  <a:cubicBezTo>
                    <a:pt x="0" y="57912"/>
                    <a:pt x="59817" y="0"/>
                    <a:pt x="132588" y="0"/>
                  </a:cubicBezTo>
                  <a:lnTo>
                    <a:pt x="21643467" y="0"/>
                  </a:lnTo>
                  <a:lnTo>
                    <a:pt x="21643467" y="19050"/>
                  </a:lnTo>
                  <a:lnTo>
                    <a:pt x="21643467" y="0"/>
                  </a:lnTo>
                  <a:cubicBezTo>
                    <a:pt x="21716364" y="0"/>
                    <a:pt x="21776055" y="57912"/>
                    <a:pt x="21776055" y="130175"/>
                  </a:cubicBezTo>
                  <a:lnTo>
                    <a:pt x="21757005" y="130175"/>
                  </a:lnTo>
                  <a:lnTo>
                    <a:pt x="21776055" y="130175"/>
                  </a:lnTo>
                  <a:lnTo>
                    <a:pt x="21776055" y="1508760"/>
                  </a:lnTo>
                  <a:lnTo>
                    <a:pt x="21757005" y="1508760"/>
                  </a:lnTo>
                  <a:lnTo>
                    <a:pt x="21776055" y="1508760"/>
                  </a:lnTo>
                  <a:cubicBezTo>
                    <a:pt x="21776055" y="1581023"/>
                    <a:pt x="21716237" y="1638935"/>
                    <a:pt x="21643467" y="1638935"/>
                  </a:cubicBezTo>
                  <a:lnTo>
                    <a:pt x="21643467" y="1619885"/>
                  </a:lnTo>
                  <a:lnTo>
                    <a:pt x="21643467" y="1638935"/>
                  </a:lnTo>
                  <a:lnTo>
                    <a:pt x="132588" y="1638935"/>
                  </a:lnTo>
                  <a:lnTo>
                    <a:pt x="132588" y="1619885"/>
                  </a:lnTo>
                  <a:lnTo>
                    <a:pt x="132588" y="1638935"/>
                  </a:lnTo>
                  <a:cubicBezTo>
                    <a:pt x="59817" y="1638935"/>
                    <a:pt x="0" y="1581023"/>
                    <a:pt x="0" y="1508760"/>
                  </a:cubicBezTo>
                  <a:lnTo>
                    <a:pt x="0" y="130175"/>
                  </a:lnTo>
                  <a:lnTo>
                    <a:pt x="19050" y="130175"/>
                  </a:lnTo>
                  <a:lnTo>
                    <a:pt x="0" y="130175"/>
                  </a:lnTo>
                  <a:moveTo>
                    <a:pt x="38100" y="130175"/>
                  </a:moveTo>
                  <a:lnTo>
                    <a:pt x="38100" y="1508760"/>
                  </a:lnTo>
                  <a:lnTo>
                    <a:pt x="19050" y="1508760"/>
                  </a:lnTo>
                  <a:lnTo>
                    <a:pt x="38100" y="1508760"/>
                  </a:lnTo>
                  <a:cubicBezTo>
                    <a:pt x="38100" y="1559179"/>
                    <a:pt x="80010" y="1600835"/>
                    <a:pt x="132588" y="1600835"/>
                  </a:cubicBezTo>
                  <a:lnTo>
                    <a:pt x="21643467" y="1600835"/>
                  </a:lnTo>
                  <a:cubicBezTo>
                    <a:pt x="21696045" y="1600835"/>
                    <a:pt x="21737955" y="1559179"/>
                    <a:pt x="21737955" y="1508760"/>
                  </a:cubicBezTo>
                  <a:lnTo>
                    <a:pt x="21737955" y="130175"/>
                  </a:lnTo>
                  <a:cubicBezTo>
                    <a:pt x="21737955" y="79756"/>
                    <a:pt x="21696045" y="38100"/>
                    <a:pt x="21643467" y="38100"/>
                  </a:cubicBezTo>
                  <a:lnTo>
                    <a:pt x="132588" y="38100"/>
                  </a:lnTo>
                  <a:lnTo>
                    <a:pt x="132588" y="19050"/>
                  </a:lnTo>
                  <a:lnTo>
                    <a:pt x="132588" y="38100"/>
                  </a:lnTo>
                  <a:cubicBezTo>
                    <a:pt x="80010" y="38100"/>
                    <a:pt x="38100" y="79756"/>
                    <a:pt x="38100" y="130175"/>
                  </a:cubicBezTo>
                  <a:close/>
                </a:path>
              </a:pathLst>
            </a:custGeom>
            <a:solidFill>
              <a:srgbClr val="E5B2B2"/>
            </a:solidFill>
          </p:spPr>
        </p:sp>
      </p:grpSp>
      <p:grpSp>
        <p:nvGrpSpPr>
          <p:cNvPr id="16" name="Group 16"/>
          <p:cNvGrpSpPr/>
          <p:nvPr/>
        </p:nvGrpSpPr>
        <p:grpSpPr>
          <a:xfrm>
            <a:off x="1020813" y="3951684"/>
            <a:ext cx="793852" cy="1143448"/>
            <a:chOff x="0" y="0"/>
            <a:chExt cx="1058469" cy="1524597"/>
          </a:xfrm>
        </p:grpSpPr>
        <p:sp>
          <p:nvSpPr>
            <p:cNvPr id="17" name="Freeform 17"/>
            <p:cNvSpPr/>
            <p:nvPr/>
          </p:nvSpPr>
          <p:spPr>
            <a:xfrm>
              <a:off x="0" y="0"/>
              <a:ext cx="1058418" cy="1524635"/>
            </a:xfrm>
            <a:custGeom>
              <a:avLst/>
              <a:gdLst/>
              <a:ahLst/>
              <a:cxnLst/>
              <a:rect l="l" t="t" r="r" b="b"/>
              <a:pathLst>
                <a:path w="1058418" h="1524635">
                  <a:moveTo>
                    <a:pt x="0" y="65405"/>
                  </a:moveTo>
                  <a:cubicBezTo>
                    <a:pt x="0" y="29337"/>
                    <a:pt x="29337" y="0"/>
                    <a:pt x="65405" y="0"/>
                  </a:cubicBezTo>
                  <a:lnTo>
                    <a:pt x="993013" y="0"/>
                  </a:lnTo>
                  <a:cubicBezTo>
                    <a:pt x="1029208" y="0"/>
                    <a:pt x="1058418" y="29337"/>
                    <a:pt x="1058418" y="65405"/>
                  </a:cubicBezTo>
                  <a:lnTo>
                    <a:pt x="1058418" y="1459230"/>
                  </a:lnTo>
                  <a:cubicBezTo>
                    <a:pt x="1058418" y="1495425"/>
                    <a:pt x="1029081" y="1524635"/>
                    <a:pt x="993013" y="1524635"/>
                  </a:cubicBezTo>
                  <a:lnTo>
                    <a:pt x="65405" y="1524635"/>
                  </a:lnTo>
                  <a:cubicBezTo>
                    <a:pt x="29210" y="1524635"/>
                    <a:pt x="0" y="1495298"/>
                    <a:pt x="0" y="1459230"/>
                  </a:cubicBezTo>
                  <a:close/>
                </a:path>
              </a:pathLst>
            </a:custGeom>
            <a:solidFill>
              <a:srgbClr val="FFCCCC"/>
            </a:solidFill>
          </p:spPr>
        </p:sp>
      </p:grpSp>
      <p:sp>
        <p:nvSpPr>
          <p:cNvPr id="18" name="TextBox 18"/>
          <p:cNvSpPr txBox="1"/>
          <p:nvPr/>
        </p:nvSpPr>
        <p:spPr>
          <a:xfrm>
            <a:off x="1264148" y="4375394"/>
            <a:ext cx="297656" cy="333966"/>
          </a:xfrm>
          <a:prstGeom prst="rect">
            <a:avLst/>
          </a:prstGeom>
        </p:spPr>
        <p:txBody>
          <a:bodyPr lIns="0" tIns="0" rIns="0" bIns="0" rtlCol="0" anchor="t">
            <a:spAutoFit/>
          </a:bodyPr>
          <a:lstStyle/>
          <a:p>
            <a:pPr algn="l">
              <a:lnSpc>
                <a:spcPts val="2312"/>
              </a:lnSpc>
            </a:pPr>
            <a:r>
              <a:rPr lang="en-US" sz="2312" b="1">
                <a:solidFill>
                  <a:srgbClr val="000099"/>
                </a:solidFill>
                <a:latin typeface="Open Sans 1 Bold"/>
                <a:ea typeface="Open Sans 1 Bold"/>
                <a:cs typeface="Open Sans 1 Bold"/>
                <a:sym typeface="Open Sans 1 Bold"/>
              </a:rPr>
              <a:t>2</a:t>
            </a:r>
          </a:p>
        </p:txBody>
      </p:sp>
      <p:sp>
        <p:nvSpPr>
          <p:cNvPr id="19" name="TextBox 19"/>
          <p:cNvSpPr txBox="1"/>
          <p:nvPr/>
        </p:nvSpPr>
        <p:spPr>
          <a:xfrm>
            <a:off x="2013052" y="4131021"/>
            <a:ext cx="2480815"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B. Hệ thống ERP</a:t>
            </a:r>
          </a:p>
        </p:txBody>
      </p:sp>
      <p:sp>
        <p:nvSpPr>
          <p:cNvPr id="20" name="TextBox 20"/>
          <p:cNvSpPr txBox="1"/>
          <p:nvPr/>
        </p:nvSpPr>
        <p:spPr>
          <a:xfrm>
            <a:off x="2013052" y="4521994"/>
            <a:ext cx="15055748" cy="374752"/>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Vận hành, bảo trì, và tiến độ Nâng cấp hệ thống ERP cốt lõi.</a:t>
            </a:r>
          </a:p>
        </p:txBody>
      </p:sp>
      <p:grpSp>
        <p:nvGrpSpPr>
          <p:cNvPr id="21" name="Group 21"/>
          <p:cNvGrpSpPr/>
          <p:nvPr/>
        </p:nvGrpSpPr>
        <p:grpSpPr>
          <a:xfrm>
            <a:off x="977951" y="5307806"/>
            <a:ext cx="16332098" cy="1229173"/>
            <a:chOff x="0" y="0"/>
            <a:chExt cx="21776131" cy="1638897"/>
          </a:xfrm>
        </p:grpSpPr>
        <p:sp>
          <p:nvSpPr>
            <p:cNvPr id="22" name="Freeform 22"/>
            <p:cNvSpPr/>
            <p:nvPr/>
          </p:nvSpPr>
          <p:spPr>
            <a:xfrm>
              <a:off x="19050" y="19050"/>
              <a:ext cx="21737955" cy="1600835"/>
            </a:xfrm>
            <a:custGeom>
              <a:avLst/>
              <a:gdLst/>
              <a:ahLst/>
              <a:cxnLst/>
              <a:rect l="l" t="t" r="r" b="b"/>
              <a:pathLst>
                <a:path w="21737955" h="1600835">
                  <a:moveTo>
                    <a:pt x="0" y="111125"/>
                  </a:moveTo>
                  <a:cubicBezTo>
                    <a:pt x="0" y="49784"/>
                    <a:pt x="50800" y="0"/>
                    <a:pt x="113538" y="0"/>
                  </a:cubicBezTo>
                  <a:lnTo>
                    <a:pt x="21624417" y="0"/>
                  </a:lnTo>
                  <a:cubicBezTo>
                    <a:pt x="21687155" y="0"/>
                    <a:pt x="21737955" y="49784"/>
                    <a:pt x="21737955" y="111125"/>
                  </a:cubicBezTo>
                  <a:lnTo>
                    <a:pt x="21737955" y="1489710"/>
                  </a:lnTo>
                  <a:cubicBezTo>
                    <a:pt x="21737955" y="1551051"/>
                    <a:pt x="21687155" y="1600835"/>
                    <a:pt x="21624417" y="1600835"/>
                  </a:cubicBezTo>
                  <a:lnTo>
                    <a:pt x="113538" y="1600835"/>
                  </a:lnTo>
                  <a:cubicBezTo>
                    <a:pt x="50800" y="1600835"/>
                    <a:pt x="0" y="1551051"/>
                    <a:pt x="0" y="1489710"/>
                  </a:cubicBezTo>
                  <a:close/>
                </a:path>
              </a:pathLst>
            </a:custGeom>
            <a:solidFill>
              <a:srgbClr val="FFFFFF"/>
            </a:solidFill>
          </p:spPr>
        </p:sp>
        <p:sp>
          <p:nvSpPr>
            <p:cNvPr id="23" name="Freeform 23"/>
            <p:cNvSpPr/>
            <p:nvPr/>
          </p:nvSpPr>
          <p:spPr>
            <a:xfrm>
              <a:off x="0" y="0"/>
              <a:ext cx="21776055" cy="1638935"/>
            </a:xfrm>
            <a:custGeom>
              <a:avLst/>
              <a:gdLst/>
              <a:ahLst/>
              <a:cxnLst/>
              <a:rect l="l" t="t" r="r" b="b"/>
              <a:pathLst>
                <a:path w="21776055" h="1638935">
                  <a:moveTo>
                    <a:pt x="0" y="130175"/>
                  </a:moveTo>
                  <a:cubicBezTo>
                    <a:pt x="0" y="57912"/>
                    <a:pt x="59817" y="0"/>
                    <a:pt x="132588" y="0"/>
                  </a:cubicBezTo>
                  <a:lnTo>
                    <a:pt x="21643467" y="0"/>
                  </a:lnTo>
                  <a:lnTo>
                    <a:pt x="21643467" y="19050"/>
                  </a:lnTo>
                  <a:lnTo>
                    <a:pt x="21643467" y="0"/>
                  </a:lnTo>
                  <a:cubicBezTo>
                    <a:pt x="21716364" y="0"/>
                    <a:pt x="21776055" y="57912"/>
                    <a:pt x="21776055" y="130175"/>
                  </a:cubicBezTo>
                  <a:lnTo>
                    <a:pt x="21757005" y="130175"/>
                  </a:lnTo>
                  <a:lnTo>
                    <a:pt x="21776055" y="130175"/>
                  </a:lnTo>
                  <a:lnTo>
                    <a:pt x="21776055" y="1508760"/>
                  </a:lnTo>
                  <a:lnTo>
                    <a:pt x="21757005" y="1508760"/>
                  </a:lnTo>
                  <a:lnTo>
                    <a:pt x="21776055" y="1508760"/>
                  </a:lnTo>
                  <a:cubicBezTo>
                    <a:pt x="21776055" y="1581023"/>
                    <a:pt x="21716237" y="1638935"/>
                    <a:pt x="21643467" y="1638935"/>
                  </a:cubicBezTo>
                  <a:lnTo>
                    <a:pt x="21643467" y="1619885"/>
                  </a:lnTo>
                  <a:lnTo>
                    <a:pt x="21643467" y="1638935"/>
                  </a:lnTo>
                  <a:lnTo>
                    <a:pt x="132588" y="1638935"/>
                  </a:lnTo>
                  <a:lnTo>
                    <a:pt x="132588" y="1619885"/>
                  </a:lnTo>
                  <a:lnTo>
                    <a:pt x="132588" y="1638935"/>
                  </a:lnTo>
                  <a:cubicBezTo>
                    <a:pt x="59817" y="1638935"/>
                    <a:pt x="0" y="1581023"/>
                    <a:pt x="0" y="1508760"/>
                  </a:cubicBezTo>
                  <a:lnTo>
                    <a:pt x="0" y="130175"/>
                  </a:lnTo>
                  <a:lnTo>
                    <a:pt x="19050" y="130175"/>
                  </a:lnTo>
                  <a:lnTo>
                    <a:pt x="0" y="130175"/>
                  </a:lnTo>
                  <a:moveTo>
                    <a:pt x="38100" y="130175"/>
                  </a:moveTo>
                  <a:lnTo>
                    <a:pt x="38100" y="1508760"/>
                  </a:lnTo>
                  <a:lnTo>
                    <a:pt x="19050" y="1508760"/>
                  </a:lnTo>
                  <a:lnTo>
                    <a:pt x="38100" y="1508760"/>
                  </a:lnTo>
                  <a:cubicBezTo>
                    <a:pt x="38100" y="1559179"/>
                    <a:pt x="80010" y="1600835"/>
                    <a:pt x="132588" y="1600835"/>
                  </a:cubicBezTo>
                  <a:lnTo>
                    <a:pt x="21643467" y="1600835"/>
                  </a:lnTo>
                  <a:cubicBezTo>
                    <a:pt x="21696045" y="1600835"/>
                    <a:pt x="21737955" y="1559179"/>
                    <a:pt x="21737955" y="1508760"/>
                  </a:cubicBezTo>
                  <a:lnTo>
                    <a:pt x="21737955" y="130175"/>
                  </a:lnTo>
                  <a:cubicBezTo>
                    <a:pt x="21737955" y="79756"/>
                    <a:pt x="21696045" y="38100"/>
                    <a:pt x="21643467" y="38100"/>
                  </a:cubicBezTo>
                  <a:lnTo>
                    <a:pt x="132588" y="38100"/>
                  </a:lnTo>
                  <a:lnTo>
                    <a:pt x="132588" y="19050"/>
                  </a:lnTo>
                  <a:lnTo>
                    <a:pt x="132588" y="38100"/>
                  </a:lnTo>
                  <a:cubicBezTo>
                    <a:pt x="80010" y="38100"/>
                    <a:pt x="38100" y="79756"/>
                    <a:pt x="38100" y="130175"/>
                  </a:cubicBezTo>
                  <a:close/>
                </a:path>
              </a:pathLst>
            </a:custGeom>
            <a:solidFill>
              <a:srgbClr val="E5B2B2"/>
            </a:solidFill>
          </p:spPr>
        </p:sp>
      </p:grpSp>
      <p:grpSp>
        <p:nvGrpSpPr>
          <p:cNvPr id="24" name="Group 24"/>
          <p:cNvGrpSpPr/>
          <p:nvPr/>
        </p:nvGrpSpPr>
        <p:grpSpPr>
          <a:xfrm>
            <a:off x="1020813" y="5350669"/>
            <a:ext cx="793852" cy="1143448"/>
            <a:chOff x="0" y="0"/>
            <a:chExt cx="1058469" cy="1524597"/>
          </a:xfrm>
        </p:grpSpPr>
        <p:sp>
          <p:nvSpPr>
            <p:cNvPr id="25" name="Freeform 25"/>
            <p:cNvSpPr/>
            <p:nvPr/>
          </p:nvSpPr>
          <p:spPr>
            <a:xfrm>
              <a:off x="0" y="0"/>
              <a:ext cx="1058418" cy="1524635"/>
            </a:xfrm>
            <a:custGeom>
              <a:avLst/>
              <a:gdLst/>
              <a:ahLst/>
              <a:cxnLst/>
              <a:rect l="l" t="t" r="r" b="b"/>
              <a:pathLst>
                <a:path w="1058418" h="1524635">
                  <a:moveTo>
                    <a:pt x="0" y="65405"/>
                  </a:moveTo>
                  <a:cubicBezTo>
                    <a:pt x="0" y="29337"/>
                    <a:pt x="29337" y="0"/>
                    <a:pt x="65405" y="0"/>
                  </a:cubicBezTo>
                  <a:lnTo>
                    <a:pt x="993013" y="0"/>
                  </a:lnTo>
                  <a:cubicBezTo>
                    <a:pt x="1029208" y="0"/>
                    <a:pt x="1058418" y="29337"/>
                    <a:pt x="1058418" y="65405"/>
                  </a:cubicBezTo>
                  <a:lnTo>
                    <a:pt x="1058418" y="1459230"/>
                  </a:lnTo>
                  <a:cubicBezTo>
                    <a:pt x="1058418" y="1495425"/>
                    <a:pt x="1029081" y="1524635"/>
                    <a:pt x="993013" y="1524635"/>
                  </a:cubicBezTo>
                  <a:lnTo>
                    <a:pt x="65405" y="1524635"/>
                  </a:lnTo>
                  <a:cubicBezTo>
                    <a:pt x="29210" y="1524635"/>
                    <a:pt x="0" y="1495298"/>
                    <a:pt x="0" y="1459230"/>
                  </a:cubicBezTo>
                  <a:close/>
                </a:path>
              </a:pathLst>
            </a:custGeom>
            <a:solidFill>
              <a:srgbClr val="FFCCCC"/>
            </a:solidFill>
          </p:spPr>
        </p:sp>
      </p:grpSp>
      <p:sp>
        <p:nvSpPr>
          <p:cNvPr id="26" name="TextBox 26"/>
          <p:cNvSpPr txBox="1"/>
          <p:nvPr/>
        </p:nvSpPr>
        <p:spPr>
          <a:xfrm>
            <a:off x="1264148" y="5774379"/>
            <a:ext cx="297656" cy="333966"/>
          </a:xfrm>
          <a:prstGeom prst="rect">
            <a:avLst/>
          </a:prstGeom>
        </p:spPr>
        <p:txBody>
          <a:bodyPr lIns="0" tIns="0" rIns="0" bIns="0" rtlCol="0" anchor="t">
            <a:spAutoFit/>
          </a:bodyPr>
          <a:lstStyle/>
          <a:p>
            <a:pPr algn="l">
              <a:lnSpc>
                <a:spcPts val="2312"/>
              </a:lnSpc>
            </a:pPr>
            <a:r>
              <a:rPr lang="en-US" sz="2312" b="1">
                <a:solidFill>
                  <a:srgbClr val="000099"/>
                </a:solidFill>
                <a:latin typeface="Open Sans 1 Bold"/>
                <a:ea typeface="Open Sans 1 Bold"/>
                <a:cs typeface="Open Sans 1 Bold"/>
                <a:sym typeface="Open Sans 1 Bold"/>
              </a:rPr>
              <a:t>3</a:t>
            </a:r>
          </a:p>
        </p:txBody>
      </p:sp>
      <p:sp>
        <p:nvSpPr>
          <p:cNvPr id="27" name="TextBox 27"/>
          <p:cNvSpPr txBox="1"/>
          <p:nvPr/>
        </p:nvSpPr>
        <p:spPr>
          <a:xfrm>
            <a:off x="2013052" y="5530005"/>
            <a:ext cx="2881160"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C. Eoffice – HCM &amp; Khác</a:t>
            </a:r>
          </a:p>
        </p:txBody>
      </p:sp>
      <p:sp>
        <p:nvSpPr>
          <p:cNvPr id="28" name="TextBox 28"/>
          <p:cNvSpPr txBox="1"/>
          <p:nvPr/>
        </p:nvSpPr>
        <p:spPr>
          <a:xfrm>
            <a:off x="2013052" y="5920978"/>
            <a:ext cx="15055748" cy="374752"/>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Cập nhật các điều chỉnh hệ thống nhân sự và quản lý văn phòng.</a:t>
            </a:r>
          </a:p>
        </p:txBody>
      </p:sp>
      <p:grpSp>
        <p:nvGrpSpPr>
          <p:cNvPr id="29" name="Group 29"/>
          <p:cNvGrpSpPr/>
          <p:nvPr/>
        </p:nvGrpSpPr>
        <p:grpSpPr>
          <a:xfrm>
            <a:off x="977951" y="6706791"/>
            <a:ext cx="16332098" cy="1229173"/>
            <a:chOff x="0" y="0"/>
            <a:chExt cx="21776131" cy="1638897"/>
          </a:xfrm>
        </p:grpSpPr>
        <p:sp>
          <p:nvSpPr>
            <p:cNvPr id="30" name="Freeform 30"/>
            <p:cNvSpPr/>
            <p:nvPr/>
          </p:nvSpPr>
          <p:spPr>
            <a:xfrm>
              <a:off x="19050" y="19050"/>
              <a:ext cx="21737955" cy="1600835"/>
            </a:xfrm>
            <a:custGeom>
              <a:avLst/>
              <a:gdLst/>
              <a:ahLst/>
              <a:cxnLst/>
              <a:rect l="l" t="t" r="r" b="b"/>
              <a:pathLst>
                <a:path w="21737955" h="1600835">
                  <a:moveTo>
                    <a:pt x="0" y="111125"/>
                  </a:moveTo>
                  <a:cubicBezTo>
                    <a:pt x="0" y="49784"/>
                    <a:pt x="50800" y="0"/>
                    <a:pt x="113538" y="0"/>
                  </a:cubicBezTo>
                  <a:lnTo>
                    <a:pt x="21624417" y="0"/>
                  </a:lnTo>
                  <a:cubicBezTo>
                    <a:pt x="21687155" y="0"/>
                    <a:pt x="21737955" y="49784"/>
                    <a:pt x="21737955" y="111125"/>
                  </a:cubicBezTo>
                  <a:lnTo>
                    <a:pt x="21737955" y="1489710"/>
                  </a:lnTo>
                  <a:cubicBezTo>
                    <a:pt x="21737955" y="1551051"/>
                    <a:pt x="21687155" y="1600835"/>
                    <a:pt x="21624417" y="1600835"/>
                  </a:cubicBezTo>
                  <a:lnTo>
                    <a:pt x="113538" y="1600835"/>
                  </a:lnTo>
                  <a:cubicBezTo>
                    <a:pt x="50800" y="1600835"/>
                    <a:pt x="0" y="1551051"/>
                    <a:pt x="0" y="1489710"/>
                  </a:cubicBezTo>
                  <a:close/>
                </a:path>
              </a:pathLst>
            </a:custGeom>
            <a:solidFill>
              <a:srgbClr val="FFFFFF"/>
            </a:solidFill>
          </p:spPr>
        </p:sp>
        <p:sp>
          <p:nvSpPr>
            <p:cNvPr id="31" name="Freeform 31"/>
            <p:cNvSpPr/>
            <p:nvPr/>
          </p:nvSpPr>
          <p:spPr>
            <a:xfrm>
              <a:off x="0" y="0"/>
              <a:ext cx="21776055" cy="1638935"/>
            </a:xfrm>
            <a:custGeom>
              <a:avLst/>
              <a:gdLst/>
              <a:ahLst/>
              <a:cxnLst/>
              <a:rect l="l" t="t" r="r" b="b"/>
              <a:pathLst>
                <a:path w="21776055" h="1638935">
                  <a:moveTo>
                    <a:pt x="0" y="130175"/>
                  </a:moveTo>
                  <a:cubicBezTo>
                    <a:pt x="0" y="57912"/>
                    <a:pt x="59817" y="0"/>
                    <a:pt x="132588" y="0"/>
                  </a:cubicBezTo>
                  <a:lnTo>
                    <a:pt x="21643467" y="0"/>
                  </a:lnTo>
                  <a:lnTo>
                    <a:pt x="21643467" y="19050"/>
                  </a:lnTo>
                  <a:lnTo>
                    <a:pt x="21643467" y="0"/>
                  </a:lnTo>
                  <a:cubicBezTo>
                    <a:pt x="21716364" y="0"/>
                    <a:pt x="21776055" y="57912"/>
                    <a:pt x="21776055" y="130175"/>
                  </a:cubicBezTo>
                  <a:lnTo>
                    <a:pt x="21757005" y="130175"/>
                  </a:lnTo>
                  <a:lnTo>
                    <a:pt x="21776055" y="130175"/>
                  </a:lnTo>
                  <a:lnTo>
                    <a:pt x="21776055" y="1508760"/>
                  </a:lnTo>
                  <a:lnTo>
                    <a:pt x="21757005" y="1508760"/>
                  </a:lnTo>
                  <a:lnTo>
                    <a:pt x="21776055" y="1508760"/>
                  </a:lnTo>
                  <a:cubicBezTo>
                    <a:pt x="21776055" y="1581023"/>
                    <a:pt x="21716237" y="1638935"/>
                    <a:pt x="21643467" y="1638935"/>
                  </a:cubicBezTo>
                  <a:lnTo>
                    <a:pt x="21643467" y="1619885"/>
                  </a:lnTo>
                  <a:lnTo>
                    <a:pt x="21643467" y="1638935"/>
                  </a:lnTo>
                  <a:lnTo>
                    <a:pt x="132588" y="1638935"/>
                  </a:lnTo>
                  <a:lnTo>
                    <a:pt x="132588" y="1619885"/>
                  </a:lnTo>
                  <a:lnTo>
                    <a:pt x="132588" y="1638935"/>
                  </a:lnTo>
                  <a:cubicBezTo>
                    <a:pt x="59817" y="1638935"/>
                    <a:pt x="0" y="1581023"/>
                    <a:pt x="0" y="1508760"/>
                  </a:cubicBezTo>
                  <a:lnTo>
                    <a:pt x="0" y="130175"/>
                  </a:lnTo>
                  <a:lnTo>
                    <a:pt x="19050" y="130175"/>
                  </a:lnTo>
                  <a:lnTo>
                    <a:pt x="0" y="130175"/>
                  </a:lnTo>
                  <a:moveTo>
                    <a:pt x="38100" y="130175"/>
                  </a:moveTo>
                  <a:lnTo>
                    <a:pt x="38100" y="1508760"/>
                  </a:lnTo>
                  <a:lnTo>
                    <a:pt x="19050" y="1508760"/>
                  </a:lnTo>
                  <a:lnTo>
                    <a:pt x="38100" y="1508760"/>
                  </a:lnTo>
                  <a:cubicBezTo>
                    <a:pt x="38100" y="1559179"/>
                    <a:pt x="80010" y="1600835"/>
                    <a:pt x="132588" y="1600835"/>
                  </a:cubicBezTo>
                  <a:lnTo>
                    <a:pt x="21643467" y="1600835"/>
                  </a:lnTo>
                  <a:cubicBezTo>
                    <a:pt x="21696045" y="1600835"/>
                    <a:pt x="21737955" y="1559179"/>
                    <a:pt x="21737955" y="1508760"/>
                  </a:cubicBezTo>
                  <a:lnTo>
                    <a:pt x="21737955" y="130175"/>
                  </a:lnTo>
                  <a:cubicBezTo>
                    <a:pt x="21737955" y="79756"/>
                    <a:pt x="21696045" y="38100"/>
                    <a:pt x="21643467" y="38100"/>
                  </a:cubicBezTo>
                  <a:lnTo>
                    <a:pt x="132588" y="38100"/>
                  </a:lnTo>
                  <a:lnTo>
                    <a:pt x="132588" y="19050"/>
                  </a:lnTo>
                  <a:lnTo>
                    <a:pt x="132588" y="38100"/>
                  </a:lnTo>
                  <a:cubicBezTo>
                    <a:pt x="80010" y="38100"/>
                    <a:pt x="38100" y="79756"/>
                    <a:pt x="38100" y="130175"/>
                  </a:cubicBezTo>
                  <a:close/>
                </a:path>
              </a:pathLst>
            </a:custGeom>
            <a:solidFill>
              <a:srgbClr val="E5B2B2"/>
            </a:solidFill>
          </p:spPr>
        </p:sp>
      </p:grpSp>
      <p:grpSp>
        <p:nvGrpSpPr>
          <p:cNvPr id="32" name="Group 32"/>
          <p:cNvGrpSpPr/>
          <p:nvPr/>
        </p:nvGrpSpPr>
        <p:grpSpPr>
          <a:xfrm>
            <a:off x="1020813" y="6749653"/>
            <a:ext cx="793852" cy="1143448"/>
            <a:chOff x="0" y="0"/>
            <a:chExt cx="1058469" cy="1524597"/>
          </a:xfrm>
        </p:grpSpPr>
        <p:sp>
          <p:nvSpPr>
            <p:cNvPr id="33" name="Freeform 33"/>
            <p:cNvSpPr/>
            <p:nvPr/>
          </p:nvSpPr>
          <p:spPr>
            <a:xfrm>
              <a:off x="0" y="0"/>
              <a:ext cx="1058418" cy="1524635"/>
            </a:xfrm>
            <a:custGeom>
              <a:avLst/>
              <a:gdLst/>
              <a:ahLst/>
              <a:cxnLst/>
              <a:rect l="l" t="t" r="r" b="b"/>
              <a:pathLst>
                <a:path w="1058418" h="1524635">
                  <a:moveTo>
                    <a:pt x="0" y="65405"/>
                  </a:moveTo>
                  <a:cubicBezTo>
                    <a:pt x="0" y="29337"/>
                    <a:pt x="29337" y="0"/>
                    <a:pt x="65405" y="0"/>
                  </a:cubicBezTo>
                  <a:lnTo>
                    <a:pt x="993013" y="0"/>
                  </a:lnTo>
                  <a:cubicBezTo>
                    <a:pt x="1029208" y="0"/>
                    <a:pt x="1058418" y="29337"/>
                    <a:pt x="1058418" y="65405"/>
                  </a:cubicBezTo>
                  <a:lnTo>
                    <a:pt x="1058418" y="1459230"/>
                  </a:lnTo>
                  <a:cubicBezTo>
                    <a:pt x="1058418" y="1495425"/>
                    <a:pt x="1029081" y="1524635"/>
                    <a:pt x="993013" y="1524635"/>
                  </a:cubicBezTo>
                  <a:lnTo>
                    <a:pt x="65405" y="1524635"/>
                  </a:lnTo>
                  <a:cubicBezTo>
                    <a:pt x="29210" y="1524635"/>
                    <a:pt x="0" y="1495298"/>
                    <a:pt x="0" y="1459230"/>
                  </a:cubicBezTo>
                  <a:close/>
                </a:path>
              </a:pathLst>
            </a:custGeom>
            <a:solidFill>
              <a:srgbClr val="FFCCCC"/>
            </a:solidFill>
          </p:spPr>
        </p:sp>
      </p:grpSp>
      <p:sp>
        <p:nvSpPr>
          <p:cNvPr id="34" name="TextBox 34"/>
          <p:cNvSpPr txBox="1"/>
          <p:nvPr/>
        </p:nvSpPr>
        <p:spPr>
          <a:xfrm>
            <a:off x="1264148" y="7173363"/>
            <a:ext cx="297656" cy="333966"/>
          </a:xfrm>
          <a:prstGeom prst="rect">
            <a:avLst/>
          </a:prstGeom>
        </p:spPr>
        <p:txBody>
          <a:bodyPr lIns="0" tIns="0" rIns="0" bIns="0" rtlCol="0" anchor="t">
            <a:spAutoFit/>
          </a:bodyPr>
          <a:lstStyle/>
          <a:p>
            <a:pPr algn="l">
              <a:lnSpc>
                <a:spcPts val="2312"/>
              </a:lnSpc>
            </a:pPr>
            <a:r>
              <a:rPr lang="en-US" sz="2312" b="1">
                <a:solidFill>
                  <a:srgbClr val="000099"/>
                </a:solidFill>
                <a:latin typeface="Open Sans 1 Bold"/>
                <a:ea typeface="Open Sans 1 Bold"/>
                <a:cs typeface="Open Sans 1 Bold"/>
                <a:sym typeface="Open Sans 1 Bold"/>
              </a:rPr>
              <a:t>4</a:t>
            </a:r>
          </a:p>
        </p:txBody>
      </p:sp>
      <p:sp>
        <p:nvSpPr>
          <p:cNvPr id="35" name="TextBox 35"/>
          <p:cNvSpPr txBox="1"/>
          <p:nvPr/>
        </p:nvSpPr>
        <p:spPr>
          <a:xfrm>
            <a:off x="2013052" y="6928990"/>
            <a:ext cx="2616698"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D. Chuyển đổi số &amp; AI</a:t>
            </a:r>
          </a:p>
        </p:txBody>
      </p:sp>
      <p:sp>
        <p:nvSpPr>
          <p:cNvPr id="36" name="TextBox 36"/>
          <p:cNvSpPr txBox="1"/>
          <p:nvPr/>
        </p:nvSpPr>
        <p:spPr>
          <a:xfrm>
            <a:off x="2013052" y="7319962"/>
            <a:ext cx="15055748" cy="374752"/>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Các hoạt động liên quan đến Sáng kiến Chuyển đổi số và AI.</a:t>
            </a:r>
          </a:p>
        </p:txBody>
      </p:sp>
      <p:grpSp>
        <p:nvGrpSpPr>
          <p:cNvPr id="37" name="Group 37"/>
          <p:cNvGrpSpPr/>
          <p:nvPr/>
        </p:nvGrpSpPr>
        <p:grpSpPr>
          <a:xfrm>
            <a:off x="977951" y="8105775"/>
            <a:ext cx="16332098" cy="1229173"/>
            <a:chOff x="0" y="0"/>
            <a:chExt cx="21776131" cy="1638897"/>
          </a:xfrm>
        </p:grpSpPr>
        <p:sp>
          <p:nvSpPr>
            <p:cNvPr id="38" name="Freeform 38"/>
            <p:cNvSpPr/>
            <p:nvPr/>
          </p:nvSpPr>
          <p:spPr>
            <a:xfrm>
              <a:off x="19050" y="19050"/>
              <a:ext cx="21737955" cy="1600835"/>
            </a:xfrm>
            <a:custGeom>
              <a:avLst/>
              <a:gdLst/>
              <a:ahLst/>
              <a:cxnLst/>
              <a:rect l="l" t="t" r="r" b="b"/>
              <a:pathLst>
                <a:path w="21737955" h="1600835">
                  <a:moveTo>
                    <a:pt x="0" y="111125"/>
                  </a:moveTo>
                  <a:cubicBezTo>
                    <a:pt x="0" y="49784"/>
                    <a:pt x="50800" y="0"/>
                    <a:pt x="113538" y="0"/>
                  </a:cubicBezTo>
                  <a:lnTo>
                    <a:pt x="21624417" y="0"/>
                  </a:lnTo>
                  <a:cubicBezTo>
                    <a:pt x="21687155" y="0"/>
                    <a:pt x="21737955" y="49784"/>
                    <a:pt x="21737955" y="111125"/>
                  </a:cubicBezTo>
                  <a:lnTo>
                    <a:pt x="21737955" y="1489710"/>
                  </a:lnTo>
                  <a:cubicBezTo>
                    <a:pt x="21737955" y="1551051"/>
                    <a:pt x="21687155" y="1600835"/>
                    <a:pt x="21624417" y="1600835"/>
                  </a:cubicBezTo>
                  <a:lnTo>
                    <a:pt x="113538" y="1600835"/>
                  </a:lnTo>
                  <a:cubicBezTo>
                    <a:pt x="50800" y="1600835"/>
                    <a:pt x="0" y="1551051"/>
                    <a:pt x="0" y="1489710"/>
                  </a:cubicBezTo>
                  <a:close/>
                </a:path>
              </a:pathLst>
            </a:custGeom>
            <a:solidFill>
              <a:srgbClr val="FFFFFF"/>
            </a:solidFill>
          </p:spPr>
        </p:sp>
        <p:sp>
          <p:nvSpPr>
            <p:cNvPr id="39" name="Freeform 39"/>
            <p:cNvSpPr/>
            <p:nvPr/>
          </p:nvSpPr>
          <p:spPr>
            <a:xfrm>
              <a:off x="0" y="0"/>
              <a:ext cx="21776055" cy="1638935"/>
            </a:xfrm>
            <a:custGeom>
              <a:avLst/>
              <a:gdLst/>
              <a:ahLst/>
              <a:cxnLst/>
              <a:rect l="l" t="t" r="r" b="b"/>
              <a:pathLst>
                <a:path w="21776055" h="1638935">
                  <a:moveTo>
                    <a:pt x="0" y="130175"/>
                  </a:moveTo>
                  <a:cubicBezTo>
                    <a:pt x="0" y="57912"/>
                    <a:pt x="59817" y="0"/>
                    <a:pt x="132588" y="0"/>
                  </a:cubicBezTo>
                  <a:lnTo>
                    <a:pt x="21643467" y="0"/>
                  </a:lnTo>
                  <a:lnTo>
                    <a:pt x="21643467" y="19050"/>
                  </a:lnTo>
                  <a:lnTo>
                    <a:pt x="21643467" y="0"/>
                  </a:lnTo>
                  <a:cubicBezTo>
                    <a:pt x="21716364" y="0"/>
                    <a:pt x="21776055" y="57912"/>
                    <a:pt x="21776055" y="130175"/>
                  </a:cubicBezTo>
                  <a:lnTo>
                    <a:pt x="21757005" y="130175"/>
                  </a:lnTo>
                  <a:lnTo>
                    <a:pt x="21776055" y="130175"/>
                  </a:lnTo>
                  <a:lnTo>
                    <a:pt x="21776055" y="1508760"/>
                  </a:lnTo>
                  <a:lnTo>
                    <a:pt x="21757005" y="1508760"/>
                  </a:lnTo>
                  <a:lnTo>
                    <a:pt x="21776055" y="1508760"/>
                  </a:lnTo>
                  <a:cubicBezTo>
                    <a:pt x="21776055" y="1581023"/>
                    <a:pt x="21716237" y="1638935"/>
                    <a:pt x="21643467" y="1638935"/>
                  </a:cubicBezTo>
                  <a:lnTo>
                    <a:pt x="21643467" y="1619885"/>
                  </a:lnTo>
                  <a:lnTo>
                    <a:pt x="21643467" y="1638935"/>
                  </a:lnTo>
                  <a:lnTo>
                    <a:pt x="132588" y="1638935"/>
                  </a:lnTo>
                  <a:lnTo>
                    <a:pt x="132588" y="1619885"/>
                  </a:lnTo>
                  <a:lnTo>
                    <a:pt x="132588" y="1638935"/>
                  </a:lnTo>
                  <a:cubicBezTo>
                    <a:pt x="59817" y="1638935"/>
                    <a:pt x="0" y="1581023"/>
                    <a:pt x="0" y="1508760"/>
                  </a:cubicBezTo>
                  <a:lnTo>
                    <a:pt x="0" y="130175"/>
                  </a:lnTo>
                  <a:lnTo>
                    <a:pt x="19050" y="130175"/>
                  </a:lnTo>
                  <a:lnTo>
                    <a:pt x="0" y="130175"/>
                  </a:lnTo>
                  <a:moveTo>
                    <a:pt x="38100" y="130175"/>
                  </a:moveTo>
                  <a:lnTo>
                    <a:pt x="38100" y="1508760"/>
                  </a:lnTo>
                  <a:lnTo>
                    <a:pt x="19050" y="1508760"/>
                  </a:lnTo>
                  <a:lnTo>
                    <a:pt x="38100" y="1508760"/>
                  </a:lnTo>
                  <a:cubicBezTo>
                    <a:pt x="38100" y="1559179"/>
                    <a:pt x="80010" y="1600835"/>
                    <a:pt x="132588" y="1600835"/>
                  </a:cubicBezTo>
                  <a:lnTo>
                    <a:pt x="21643467" y="1600835"/>
                  </a:lnTo>
                  <a:cubicBezTo>
                    <a:pt x="21696045" y="1600835"/>
                    <a:pt x="21737955" y="1559179"/>
                    <a:pt x="21737955" y="1508760"/>
                  </a:cubicBezTo>
                  <a:lnTo>
                    <a:pt x="21737955" y="130175"/>
                  </a:lnTo>
                  <a:cubicBezTo>
                    <a:pt x="21737955" y="79756"/>
                    <a:pt x="21696045" y="38100"/>
                    <a:pt x="21643467" y="38100"/>
                  </a:cubicBezTo>
                  <a:lnTo>
                    <a:pt x="132588" y="38100"/>
                  </a:lnTo>
                  <a:lnTo>
                    <a:pt x="132588" y="19050"/>
                  </a:lnTo>
                  <a:lnTo>
                    <a:pt x="132588" y="38100"/>
                  </a:lnTo>
                  <a:cubicBezTo>
                    <a:pt x="80010" y="38100"/>
                    <a:pt x="38100" y="79756"/>
                    <a:pt x="38100" y="130175"/>
                  </a:cubicBezTo>
                  <a:close/>
                </a:path>
              </a:pathLst>
            </a:custGeom>
            <a:solidFill>
              <a:srgbClr val="E5B2B2"/>
            </a:solidFill>
          </p:spPr>
        </p:sp>
      </p:grpSp>
      <p:grpSp>
        <p:nvGrpSpPr>
          <p:cNvPr id="40" name="Group 40"/>
          <p:cNvGrpSpPr/>
          <p:nvPr/>
        </p:nvGrpSpPr>
        <p:grpSpPr>
          <a:xfrm>
            <a:off x="1020813" y="8148638"/>
            <a:ext cx="793852" cy="1143448"/>
            <a:chOff x="0" y="0"/>
            <a:chExt cx="1058469" cy="1524597"/>
          </a:xfrm>
        </p:grpSpPr>
        <p:sp>
          <p:nvSpPr>
            <p:cNvPr id="41" name="Freeform 41"/>
            <p:cNvSpPr/>
            <p:nvPr/>
          </p:nvSpPr>
          <p:spPr>
            <a:xfrm>
              <a:off x="0" y="0"/>
              <a:ext cx="1058418" cy="1524635"/>
            </a:xfrm>
            <a:custGeom>
              <a:avLst/>
              <a:gdLst/>
              <a:ahLst/>
              <a:cxnLst/>
              <a:rect l="l" t="t" r="r" b="b"/>
              <a:pathLst>
                <a:path w="1058418" h="1524635">
                  <a:moveTo>
                    <a:pt x="0" y="65405"/>
                  </a:moveTo>
                  <a:cubicBezTo>
                    <a:pt x="0" y="29337"/>
                    <a:pt x="29337" y="0"/>
                    <a:pt x="65405" y="0"/>
                  </a:cubicBezTo>
                  <a:lnTo>
                    <a:pt x="993013" y="0"/>
                  </a:lnTo>
                  <a:cubicBezTo>
                    <a:pt x="1029208" y="0"/>
                    <a:pt x="1058418" y="29337"/>
                    <a:pt x="1058418" y="65405"/>
                  </a:cubicBezTo>
                  <a:lnTo>
                    <a:pt x="1058418" y="1459230"/>
                  </a:lnTo>
                  <a:cubicBezTo>
                    <a:pt x="1058418" y="1495425"/>
                    <a:pt x="1029081" y="1524635"/>
                    <a:pt x="993013" y="1524635"/>
                  </a:cubicBezTo>
                  <a:lnTo>
                    <a:pt x="65405" y="1524635"/>
                  </a:lnTo>
                  <a:cubicBezTo>
                    <a:pt x="29210" y="1524635"/>
                    <a:pt x="0" y="1495298"/>
                    <a:pt x="0" y="1459230"/>
                  </a:cubicBezTo>
                  <a:close/>
                </a:path>
              </a:pathLst>
            </a:custGeom>
            <a:solidFill>
              <a:srgbClr val="FFCCCC"/>
            </a:solidFill>
          </p:spPr>
        </p:sp>
      </p:grpSp>
      <p:sp>
        <p:nvSpPr>
          <p:cNvPr id="42" name="TextBox 42"/>
          <p:cNvSpPr txBox="1"/>
          <p:nvPr/>
        </p:nvSpPr>
        <p:spPr>
          <a:xfrm>
            <a:off x="1264148" y="8572348"/>
            <a:ext cx="297656" cy="333966"/>
          </a:xfrm>
          <a:prstGeom prst="rect">
            <a:avLst/>
          </a:prstGeom>
        </p:spPr>
        <p:txBody>
          <a:bodyPr lIns="0" tIns="0" rIns="0" bIns="0" rtlCol="0" anchor="t">
            <a:spAutoFit/>
          </a:bodyPr>
          <a:lstStyle/>
          <a:p>
            <a:pPr algn="l">
              <a:lnSpc>
                <a:spcPts val="2312"/>
              </a:lnSpc>
            </a:pPr>
            <a:r>
              <a:rPr lang="en-US" sz="2312" b="1">
                <a:solidFill>
                  <a:srgbClr val="000099"/>
                </a:solidFill>
                <a:latin typeface="Open Sans 1 Bold"/>
                <a:ea typeface="Open Sans 1 Bold"/>
                <a:cs typeface="Open Sans 1 Bold"/>
                <a:sym typeface="Open Sans 1 Bold"/>
              </a:rPr>
              <a:t>5</a:t>
            </a:r>
          </a:p>
        </p:txBody>
      </p:sp>
      <p:sp>
        <p:nvSpPr>
          <p:cNvPr id="43" name="TextBox 43"/>
          <p:cNvSpPr txBox="1"/>
          <p:nvPr/>
        </p:nvSpPr>
        <p:spPr>
          <a:xfrm>
            <a:off x="2013052" y="8327974"/>
            <a:ext cx="4034733"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E. Tồn đọng &amp; Kế hoạch Tháng 11</a:t>
            </a:r>
          </a:p>
        </p:txBody>
      </p:sp>
      <p:sp>
        <p:nvSpPr>
          <p:cNvPr id="44" name="TextBox 44"/>
          <p:cNvSpPr txBox="1"/>
          <p:nvPr/>
        </p:nvSpPr>
        <p:spPr>
          <a:xfrm>
            <a:off x="2013052" y="8718947"/>
            <a:ext cx="15055748" cy="374752"/>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Tổng hợp các vấn đề tồn đọng và định hướng công việc sắp tới.</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90127" y="601713"/>
            <a:ext cx="8042672" cy="531914"/>
          </a:xfrm>
          <a:prstGeom prst="rect">
            <a:avLst/>
          </a:prstGeom>
        </p:spPr>
        <p:txBody>
          <a:bodyPr lIns="0" tIns="0" rIns="0" bIns="0" rtlCol="0" anchor="t">
            <a:spAutoFit/>
          </a:bodyPr>
          <a:lstStyle/>
          <a:p>
            <a:pPr algn="l">
              <a:lnSpc>
                <a:spcPts val="3875"/>
              </a:lnSpc>
            </a:pPr>
            <a:r>
              <a:rPr lang="en-US" sz="3062" b="1">
                <a:solidFill>
                  <a:srgbClr val="FF0000"/>
                </a:solidFill>
                <a:latin typeface="Open Sans 1 Bold"/>
                <a:ea typeface="Open Sans 1 Bold"/>
                <a:cs typeface="Open Sans 1 Bold"/>
                <a:sym typeface="Open Sans 1 Bold"/>
              </a:rPr>
              <a:t>A. KẾT QUẢ CÔNG VIỆC HẠ TẦNG CNTT </a:t>
            </a:r>
            <a:r>
              <a:rPr lang="en-US" sz="3062" b="1">
                <a:solidFill>
                  <a:srgbClr val="000000"/>
                </a:solidFill>
                <a:latin typeface="Open Sans 1 Bold"/>
                <a:ea typeface="Open Sans 1 Bold"/>
                <a:cs typeface="Open Sans 1 Bold"/>
                <a:sym typeface="Open Sans 1 Bold"/>
              </a:rPr>
              <a:t>🛠️</a:t>
            </a:r>
          </a:p>
        </p:txBody>
      </p:sp>
      <p:sp>
        <p:nvSpPr>
          <p:cNvPr id="4" name="TextBox 4"/>
          <p:cNvSpPr txBox="1"/>
          <p:nvPr/>
        </p:nvSpPr>
        <p:spPr>
          <a:xfrm>
            <a:off x="1303582" y="1743075"/>
            <a:ext cx="9944100" cy="248979"/>
          </a:xfrm>
          <a:prstGeom prst="rect">
            <a:avLst/>
          </a:prstGeom>
        </p:spPr>
        <p:txBody>
          <a:bodyPr lIns="0" tIns="0" rIns="0" bIns="0" rtlCol="0" anchor="t">
            <a:spAutoFit/>
          </a:bodyPr>
          <a:lstStyle/>
          <a:p>
            <a:pPr algn="l">
              <a:lnSpc>
                <a:spcPts val="1937"/>
              </a:lnSpc>
            </a:pPr>
            <a:r>
              <a:rPr lang="en-US" sz="2000" b="1" dirty="0" err="1">
                <a:solidFill>
                  <a:srgbClr val="000099"/>
                </a:solidFill>
                <a:latin typeface="Open Sans 1 Bold"/>
                <a:ea typeface="Open Sans 1 Bold"/>
                <a:cs typeface="Open Sans 1 Bold"/>
                <a:sym typeface="Open Sans 1 Bold"/>
              </a:rPr>
              <a:t>Hệ</a:t>
            </a:r>
            <a:r>
              <a:rPr lang="en-US" sz="2000" b="1" dirty="0">
                <a:solidFill>
                  <a:srgbClr val="000099"/>
                </a:solidFill>
                <a:latin typeface="Open Sans 1 Bold"/>
                <a:ea typeface="Open Sans 1 Bold"/>
                <a:cs typeface="Open Sans 1 Bold"/>
                <a:sym typeface="Open Sans 1 Bold"/>
              </a:rPr>
              <a:t> </a:t>
            </a:r>
            <a:r>
              <a:rPr lang="en-US" sz="2000" b="1" dirty="0" err="1">
                <a:solidFill>
                  <a:srgbClr val="000099"/>
                </a:solidFill>
                <a:latin typeface="Open Sans 1 Bold"/>
                <a:ea typeface="Open Sans 1 Bold"/>
                <a:cs typeface="Open Sans 1 Bold"/>
                <a:sym typeface="Open Sans 1 Bold"/>
              </a:rPr>
              <a:t>thống</a:t>
            </a:r>
            <a:r>
              <a:rPr lang="en-US" sz="2000" b="1" dirty="0">
                <a:solidFill>
                  <a:srgbClr val="000099"/>
                </a:solidFill>
                <a:latin typeface="Open Sans 1 Bold"/>
                <a:ea typeface="Open Sans 1 Bold"/>
                <a:cs typeface="Open Sans 1 Bold"/>
                <a:sym typeface="Open Sans 1 Bold"/>
              </a:rPr>
              <a:t> </a:t>
            </a:r>
            <a:r>
              <a:rPr lang="en-US" sz="2000" b="1" dirty="0" err="1">
                <a:solidFill>
                  <a:srgbClr val="000099"/>
                </a:solidFill>
                <a:latin typeface="Open Sans 1 Bold"/>
                <a:ea typeface="Open Sans 1 Bold"/>
                <a:cs typeface="Open Sans 1 Bold"/>
                <a:sym typeface="Open Sans 1 Bold"/>
              </a:rPr>
              <a:t>Mạng</a:t>
            </a:r>
            <a:r>
              <a:rPr lang="en-US" sz="2000" b="1" dirty="0">
                <a:solidFill>
                  <a:srgbClr val="000099"/>
                </a:solidFill>
                <a:latin typeface="Open Sans 1 Bold"/>
                <a:ea typeface="Open Sans 1 Bold"/>
                <a:cs typeface="Open Sans 1 Bold"/>
                <a:sym typeface="Open Sans 1 Bold"/>
              </a:rPr>
              <a:t> &amp; Server</a:t>
            </a:r>
          </a:p>
        </p:txBody>
      </p:sp>
      <p:sp>
        <p:nvSpPr>
          <p:cNvPr id="5" name="TextBox 5"/>
          <p:cNvSpPr txBox="1"/>
          <p:nvPr/>
        </p:nvSpPr>
        <p:spPr>
          <a:xfrm>
            <a:off x="1303582" y="2171700"/>
            <a:ext cx="9944100" cy="487313"/>
          </a:xfrm>
          <a:prstGeom prst="rect">
            <a:avLst/>
          </a:prstGeom>
        </p:spPr>
        <p:txBody>
          <a:bodyPr lIns="0" tIns="0" rIns="0" bIns="0" rtlCol="0" anchor="t">
            <a:spAutoFit/>
          </a:bodyPr>
          <a:lstStyle/>
          <a:p>
            <a:pPr algn="l">
              <a:lnSpc>
                <a:spcPts val="1937"/>
              </a:lnSpc>
            </a:pPr>
            <a:r>
              <a:rPr lang="en-US" dirty="0" err="1">
                <a:solidFill>
                  <a:srgbClr val="000099"/>
                </a:solidFill>
                <a:latin typeface="Open Sans 1"/>
                <a:ea typeface="Open Sans 1"/>
                <a:cs typeface="Open Sans 1"/>
                <a:sym typeface="Open Sans 1"/>
              </a:rPr>
              <a:t>Các</a:t>
            </a:r>
            <a:r>
              <a:rPr lang="en-US" dirty="0">
                <a:solidFill>
                  <a:srgbClr val="000099"/>
                </a:solidFill>
                <a:latin typeface="Open Sans 1"/>
                <a:ea typeface="Open Sans 1"/>
                <a:cs typeface="Open Sans 1"/>
                <a:sym typeface="Open Sans 1"/>
              </a:rPr>
              <a:t> site </a:t>
            </a:r>
            <a:r>
              <a:rPr lang="en-US" dirty="0" err="1">
                <a:solidFill>
                  <a:srgbClr val="000099"/>
                </a:solidFill>
                <a:latin typeface="Open Sans 1"/>
                <a:ea typeface="Open Sans 1"/>
                <a:cs typeface="Open Sans 1"/>
                <a:sym typeface="Open Sans 1"/>
              </a:rPr>
              <a:t>hoạt</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động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ổn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định</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Đã</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cấu</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hình</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liên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kết</a:t>
            </a:r>
            <a:r>
              <a:rPr lang="en-US" dirty="0">
                <a:solidFill>
                  <a:srgbClr val="000099"/>
                </a:solidFill>
                <a:latin typeface="Open Sans 1"/>
                <a:ea typeface="Open Sans 1"/>
                <a:cs typeface="Open Sans 1"/>
                <a:sym typeface="Open Sans 1"/>
              </a:rPr>
              <a:t> mail </a:t>
            </a:r>
            <a:r>
              <a:rPr lang="en-US" dirty="0" err="1">
                <a:solidFill>
                  <a:srgbClr val="000099"/>
                </a:solidFill>
                <a:latin typeface="Open Sans 1"/>
                <a:ea typeface="Open Sans 1"/>
                <a:cs typeface="Open Sans 1"/>
                <a:sym typeface="Open Sans 1"/>
              </a:rPr>
              <a:t>phê</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duyệt</a:t>
            </a:r>
            <a:r>
              <a:rPr lang="en-US" dirty="0">
                <a:solidFill>
                  <a:srgbClr val="000099"/>
                </a:solidFill>
                <a:latin typeface="Open Sans 1"/>
                <a:ea typeface="Open Sans 1"/>
                <a:cs typeface="Open Sans 1"/>
                <a:sym typeface="Open Sans 1"/>
              </a:rPr>
              <a:t> EBS </a:t>
            </a:r>
            <a:r>
              <a:rPr lang="en-US" dirty="0" err="1">
                <a:solidFill>
                  <a:srgbClr val="000099"/>
                </a:solidFill>
                <a:latin typeface="Open Sans 1"/>
                <a:ea typeface="Open Sans 1"/>
                <a:cs typeface="Open Sans 1"/>
                <a:sym typeface="Open Sans 1"/>
              </a:rPr>
              <a:t>và</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chuyển</a:t>
            </a:r>
            <a:r>
              <a:rPr lang="en-US" dirty="0">
                <a:solidFill>
                  <a:srgbClr val="000099"/>
                </a:solidFill>
                <a:latin typeface="Open Sans 1"/>
                <a:ea typeface="Open Sans 1"/>
                <a:cs typeface="Open Sans 1"/>
                <a:sym typeface="Open Sans 1"/>
              </a:rPr>
              <a:t> Backup app 8007 qua </a:t>
            </a:r>
            <a:r>
              <a:rPr lang="en-US" dirty="0" err="1">
                <a:solidFill>
                  <a:srgbClr val="000099"/>
                </a:solidFill>
                <a:latin typeface="Open Sans 1"/>
                <a:ea typeface="Open Sans 1"/>
                <a:cs typeface="Open Sans 1"/>
                <a:sym typeface="Open Sans 1"/>
              </a:rPr>
              <a:t>Sanbox</a:t>
            </a:r>
            <a:r>
              <a:rPr lang="en-US" dirty="0">
                <a:solidFill>
                  <a:srgbClr val="000099"/>
                </a:solidFill>
                <a:latin typeface="Open Sans 1"/>
                <a:ea typeface="Open Sans 1"/>
                <a:cs typeface="Open Sans 1"/>
                <a:sym typeface="Open Sans 1"/>
              </a:rPr>
              <a:t> APP </a:t>
            </a:r>
            <a:r>
              <a:rPr lang="en-US" dirty="0" err="1">
                <a:solidFill>
                  <a:srgbClr val="000099"/>
                </a:solidFill>
                <a:latin typeface="Open Sans 1"/>
                <a:ea typeface="Open Sans 1"/>
                <a:cs typeface="Open Sans 1"/>
                <a:sym typeface="Open Sans 1"/>
              </a:rPr>
              <a:t>để</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tối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ưu</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hóa</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tài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nguyên</a:t>
            </a:r>
            <a:r>
              <a:rPr lang="en-US" dirty="0">
                <a:solidFill>
                  <a:srgbClr val="000099"/>
                </a:solidFill>
                <a:latin typeface="Open Sans 1"/>
                <a:ea typeface="Open Sans 1"/>
                <a:cs typeface="Open Sans 1"/>
                <a:sym typeface="Open Sans 1"/>
              </a:rPr>
              <a:t>.</a:t>
            </a:r>
          </a:p>
        </p:txBody>
      </p:sp>
      <p:sp>
        <p:nvSpPr>
          <p:cNvPr id="6" name="TextBox 6"/>
          <p:cNvSpPr txBox="1"/>
          <p:nvPr/>
        </p:nvSpPr>
        <p:spPr>
          <a:xfrm>
            <a:off x="1303582" y="2943225"/>
            <a:ext cx="9944100" cy="243656"/>
          </a:xfrm>
          <a:prstGeom prst="rect">
            <a:avLst/>
          </a:prstGeom>
        </p:spPr>
        <p:txBody>
          <a:bodyPr lIns="0" tIns="0" rIns="0" bIns="0" rtlCol="0" anchor="t">
            <a:spAutoFit/>
          </a:bodyPr>
          <a:lstStyle/>
          <a:p>
            <a:pPr algn="l">
              <a:lnSpc>
                <a:spcPts val="1937"/>
              </a:lnSpc>
            </a:pPr>
            <a:r>
              <a:rPr lang="en-US" sz="2000" b="1">
                <a:solidFill>
                  <a:srgbClr val="000099"/>
                </a:solidFill>
                <a:latin typeface="Open Sans 1 Bold"/>
                <a:ea typeface="Open Sans 1 Bold"/>
                <a:cs typeface="Open Sans 1 Bold"/>
                <a:sym typeface="Open Sans 1 Bold"/>
              </a:rPr>
              <a:t>Backup &amp; Lưu trữ</a:t>
            </a:r>
          </a:p>
        </p:txBody>
      </p:sp>
      <p:sp>
        <p:nvSpPr>
          <p:cNvPr id="7" name="TextBox 7"/>
          <p:cNvSpPr txBox="1"/>
          <p:nvPr/>
        </p:nvSpPr>
        <p:spPr>
          <a:xfrm>
            <a:off x="1303582" y="3371850"/>
            <a:ext cx="9944100" cy="487313"/>
          </a:xfrm>
          <a:prstGeom prst="rect">
            <a:avLst/>
          </a:prstGeom>
        </p:spPr>
        <p:txBody>
          <a:bodyPr lIns="0" tIns="0" rIns="0" bIns="0" rtlCol="0" anchor="t">
            <a:spAutoFit/>
          </a:bodyPr>
          <a:lstStyle/>
          <a:p>
            <a:pPr algn="l">
              <a:lnSpc>
                <a:spcPts val="1937"/>
              </a:lnSpc>
            </a:pPr>
            <a:r>
              <a:rPr lang="en-US" dirty="0" err="1">
                <a:solidFill>
                  <a:srgbClr val="000099"/>
                </a:solidFill>
                <a:latin typeface="Open Sans 1"/>
                <a:ea typeface="Open Sans 1"/>
                <a:cs typeface="Open Sans 1"/>
                <a:sym typeface="Open Sans 1"/>
              </a:rPr>
              <a:t>Hệ</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thống</a:t>
            </a:r>
            <a:r>
              <a:rPr lang="en-US" dirty="0">
                <a:solidFill>
                  <a:srgbClr val="000099"/>
                </a:solidFill>
                <a:latin typeface="Open Sans 1"/>
                <a:ea typeface="Open Sans 1"/>
                <a:cs typeface="Open Sans 1"/>
                <a:sym typeface="Open Sans 1"/>
              </a:rPr>
              <a:t> Backup </a:t>
            </a:r>
            <a:r>
              <a:rPr lang="en-US" dirty="0" err="1">
                <a:solidFill>
                  <a:srgbClr val="000099"/>
                </a:solidFill>
                <a:latin typeface="Open Sans 1"/>
                <a:ea typeface="Open Sans 1"/>
                <a:cs typeface="Open Sans 1"/>
                <a:sym typeface="Open Sans 1"/>
              </a:rPr>
              <a:t>được</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theo</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dõi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hàng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ngày</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tình</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trạng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hoạt</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động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ổn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định</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đảm</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bảo</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khả</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năng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phục</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hồi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dữ</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liệu</a:t>
            </a:r>
            <a:r>
              <a:rPr lang="en-US" dirty="0">
                <a:solidFill>
                  <a:srgbClr val="000099"/>
                </a:solidFill>
                <a:latin typeface="Open Sans 1"/>
                <a:ea typeface="Open Sans 1"/>
                <a:cs typeface="Open Sans 1"/>
                <a:sym typeface="Open Sans 1"/>
              </a:rPr>
              <a:t>.</a:t>
            </a:r>
          </a:p>
        </p:txBody>
      </p:sp>
      <p:sp>
        <p:nvSpPr>
          <p:cNvPr id="8" name="TextBox 8"/>
          <p:cNvSpPr txBox="1"/>
          <p:nvPr/>
        </p:nvSpPr>
        <p:spPr>
          <a:xfrm>
            <a:off x="1303582" y="4143375"/>
            <a:ext cx="9944100" cy="243656"/>
          </a:xfrm>
          <a:prstGeom prst="rect">
            <a:avLst/>
          </a:prstGeom>
        </p:spPr>
        <p:txBody>
          <a:bodyPr lIns="0" tIns="0" rIns="0" bIns="0" rtlCol="0" anchor="t">
            <a:spAutoFit/>
          </a:bodyPr>
          <a:lstStyle/>
          <a:p>
            <a:pPr algn="l">
              <a:lnSpc>
                <a:spcPts val="1937"/>
              </a:lnSpc>
            </a:pPr>
            <a:r>
              <a:rPr lang="en-US" sz="2000" b="1">
                <a:solidFill>
                  <a:srgbClr val="000099"/>
                </a:solidFill>
                <a:latin typeface="Open Sans 1 Bold"/>
                <a:ea typeface="Open Sans 1 Bold"/>
                <a:cs typeface="Open Sans 1 Bold"/>
                <a:sym typeface="Open Sans 1 Bold"/>
              </a:rPr>
              <a:t>Bảo trì &amp; License</a:t>
            </a:r>
          </a:p>
        </p:txBody>
      </p:sp>
      <p:sp>
        <p:nvSpPr>
          <p:cNvPr id="9" name="TextBox 9"/>
          <p:cNvSpPr txBox="1"/>
          <p:nvPr/>
        </p:nvSpPr>
        <p:spPr>
          <a:xfrm>
            <a:off x="1303582" y="4572000"/>
            <a:ext cx="9944100" cy="487313"/>
          </a:xfrm>
          <a:prstGeom prst="rect">
            <a:avLst/>
          </a:prstGeom>
        </p:spPr>
        <p:txBody>
          <a:bodyPr lIns="0" tIns="0" rIns="0" bIns="0" rtlCol="0" anchor="t">
            <a:spAutoFit/>
          </a:bodyPr>
          <a:lstStyle/>
          <a:p>
            <a:pPr algn="l">
              <a:lnSpc>
                <a:spcPts val="1937"/>
              </a:lnSpc>
            </a:pPr>
            <a:r>
              <a:rPr lang="en-US" dirty="0" err="1">
                <a:solidFill>
                  <a:srgbClr val="000099"/>
                </a:solidFill>
                <a:latin typeface="Open Sans 1"/>
                <a:ea typeface="Open Sans 1"/>
                <a:cs typeface="Open Sans 1"/>
                <a:sym typeface="Open Sans 1"/>
              </a:rPr>
              <a:t>Đã</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hoàn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tất</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trình</a:t>
            </a:r>
            <a:r>
              <a:rPr lang="en-US" dirty="0">
                <a:solidFill>
                  <a:srgbClr val="000099"/>
                </a:solidFill>
                <a:latin typeface="Open Sans 1"/>
                <a:ea typeface="Open Sans 1"/>
                <a:cs typeface="Open Sans 1"/>
                <a:sym typeface="Open Sans 1"/>
              </a:rPr>
              <a:t> </a:t>
            </a:r>
            <a:r>
              <a:rPr lang="en-US" dirty="0" err="1">
                <a:solidFill>
                  <a:srgbClr val="FF0101"/>
                </a:solidFill>
                <a:latin typeface="Open Sans 1"/>
                <a:ea typeface="Open Sans 1"/>
                <a:cs typeface="Open Sans 1"/>
                <a:sym typeface="Open Sans 1"/>
              </a:rPr>
              <a:t>Kế</a:t>
            </a:r>
            <a:r>
              <a:rPr lang="en-US" dirty="0">
                <a:solidFill>
                  <a:srgbClr val="FF0101"/>
                </a:solidFill>
                <a:latin typeface="Open Sans 1"/>
                <a:ea typeface="Open Sans 1"/>
                <a:cs typeface="Open Sans 1"/>
                <a:sym typeface="Open Sans 1"/>
              </a:rPr>
              <a:t> </a:t>
            </a:r>
            <a:r>
              <a:rPr lang="en-US" dirty="0" err="1">
                <a:solidFill>
                  <a:srgbClr val="FF0101"/>
                </a:solidFill>
                <a:latin typeface="Open Sans 1"/>
                <a:ea typeface="Open Sans 1"/>
                <a:cs typeface="Open Sans 1"/>
                <a:sym typeface="Open Sans 1"/>
              </a:rPr>
              <a:t>hoạch</a:t>
            </a:r>
            <a:r>
              <a:rPr lang="en-US" dirty="0">
                <a:solidFill>
                  <a:srgbClr val="FF0101"/>
                </a:solidFill>
                <a:latin typeface="Open Sans 1"/>
                <a:ea typeface="Open Sans 1"/>
                <a:cs typeface="Open Sans 1"/>
                <a:sym typeface="Open Sans 1"/>
              </a:rPr>
              <a:t> </a:t>
            </a:r>
            <a:r>
              <a:rPr lang="en-US" dirty="0" err="1">
                <a:solidFill>
                  <a:srgbClr val="FF0101"/>
                </a:solidFill>
                <a:latin typeface="Open Sans 1"/>
                <a:ea typeface="Open Sans 1"/>
                <a:cs typeface="Open Sans 1"/>
                <a:sym typeface="Open Sans 1"/>
              </a:rPr>
              <a:t>bảo</a:t>
            </a:r>
            <a:r>
              <a:rPr lang="en-US" dirty="0">
                <a:solidFill>
                  <a:srgbClr val="FF0101"/>
                </a:solidFill>
                <a:latin typeface="Open Sans 1"/>
                <a:ea typeface="Open Sans 1"/>
                <a:cs typeface="Open Sans 1"/>
                <a:sym typeface="Open Sans 1"/>
              </a:rPr>
              <a:t> </a:t>
            </a:r>
            <a:r>
              <a:rPr lang="en-US" dirty="0" err="1">
                <a:solidFill>
                  <a:srgbClr val="FF0101"/>
                </a:solidFill>
                <a:latin typeface="Open Sans 1"/>
                <a:ea typeface="Open Sans 1"/>
                <a:cs typeface="Open Sans 1"/>
                <a:sym typeface="Open Sans 1"/>
              </a:rPr>
              <a:t>trì</a:t>
            </a:r>
            <a:r>
              <a:rPr lang="en-US" dirty="0">
                <a:solidFill>
                  <a:srgbClr val="FF0101"/>
                </a:solidFill>
                <a:latin typeface="Open Sans 1"/>
                <a:ea typeface="Open Sans 1"/>
                <a:cs typeface="Open Sans 1"/>
                <a:sym typeface="Open Sans 1"/>
              </a:rPr>
              <a:t> 2025 (</a:t>
            </a:r>
            <a:r>
              <a:rPr lang="en-US" dirty="0" err="1">
                <a:solidFill>
                  <a:srgbClr val="FF0101"/>
                </a:solidFill>
                <a:latin typeface="Open Sans 1"/>
                <a:ea typeface="Open Sans 1"/>
                <a:cs typeface="Open Sans 1"/>
                <a:sym typeface="Open Sans 1"/>
              </a:rPr>
              <a:t>đã</a:t>
            </a:r>
            <a:r>
              <a:rPr lang="en-US" dirty="0">
                <a:solidFill>
                  <a:srgbClr val="FF0101"/>
                </a:solidFill>
                <a:latin typeface="Open Sans 1"/>
                <a:ea typeface="Open Sans 1"/>
                <a:cs typeface="Open Sans 1"/>
                <a:sym typeface="Open Sans 1"/>
              </a:rPr>
              <a:t> </a:t>
            </a:r>
            <a:r>
              <a:rPr lang="en-US" dirty="0" err="1">
                <a:solidFill>
                  <a:srgbClr val="FF0101"/>
                </a:solidFill>
                <a:latin typeface="Open Sans 1"/>
                <a:ea typeface="Open Sans 1"/>
                <a:cs typeface="Open Sans 1"/>
                <a:sym typeface="Open Sans 1"/>
              </a:rPr>
              <a:t>được</a:t>
            </a:r>
            <a:r>
              <a:rPr lang="en-US" dirty="0">
                <a:solidFill>
                  <a:srgbClr val="FF0101"/>
                </a:solidFill>
                <a:latin typeface="Open Sans 1"/>
                <a:ea typeface="Open Sans 1"/>
                <a:cs typeface="Open Sans 1"/>
                <a:sym typeface="Open Sans 1"/>
              </a:rPr>
              <a:t> </a:t>
            </a:r>
            <a:r>
              <a:rPr lang="en-US" dirty="0" err="1">
                <a:solidFill>
                  <a:srgbClr val="FF0101"/>
                </a:solidFill>
                <a:latin typeface="Open Sans 1"/>
                <a:ea typeface="Open Sans 1"/>
                <a:cs typeface="Open Sans 1"/>
                <a:sym typeface="Open Sans 1"/>
              </a:rPr>
              <a:t>duyệt</a:t>
            </a:r>
            <a:r>
              <a:rPr lang="en-US" dirty="0">
                <a:solidFill>
                  <a:srgbClr val="FF0101"/>
                </a:solidFill>
                <a:latin typeface="Open Sans 1"/>
                <a:ea typeface="Open Sans 1"/>
                <a:cs typeface="Open Sans 1"/>
                <a:sym typeface="Open Sans 1"/>
              </a:rPr>
              <a:t>)</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Đồng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thời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hoàn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tất</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chuẩn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bị</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Tờ</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trình</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gia</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hạn</a:t>
            </a:r>
            <a:r>
              <a:rPr lang="en-US" dirty="0">
                <a:solidFill>
                  <a:srgbClr val="000099"/>
                </a:solidFill>
                <a:latin typeface="Open Sans 1"/>
                <a:ea typeface="Open Sans 1"/>
                <a:cs typeface="Open Sans 1"/>
                <a:sym typeface="Open Sans 1"/>
              </a:rPr>
              <a:t> License Microsoft </a:t>
            </a:r>
            <a:r>
              <a:rPr lang="en-US" dirty="0" err="1">
                <a:solidFill>
                  <a:srgbClr val="000099"/>
                </a:solidFill>
                <a:latin typeface="Open Sans 1"/>
                <a:ea typeface="Open Sans 1"/>
                <a:cs typeface="Open Sans 1"/>
                <a:sym typeface="Open Sans 1"/>
              </a:rPr>
              <a:t>sắp</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tới</a:t>
            </a:r>
            <a:r>
              <a:rPr lang="en-US" dirty="0">
                <a:solidFill>
                  <a:srgbClr val="000099"/>
                </a:solidFill>
                <a:latin typeface="Open Sans 1"/>
                <a:ea typeface="Open Sans 1"/>
                <a:cs typeface="Open Sans 1"/>
                <a:sym typeface="Open Sans 1"/>
              </a:rPr>
              <a:t>.</a:t>
            </a:r>
          </a:p>
        </p:txBody>
      </p:sp>
      <p:sp>
        <p:nvSpPr>
          <p:cNvPr id="10" name="TextBox 10"/>
          <p:cNvSpPr txBox="1"/>
          <p:nvPr/>
        </p:nvSpPr>
        <p:spPr>
          <a:xfrm>
            <a:off x="1303582" y="5291345"/>
            <a:ext cx="9944100" cy="248979"/>
          </a:xfrm>
          <a:prstGeom prst="rect">
            <a:avLst/>
          </a:prstGeom>
        </p:spPr>
        <p:txBody>
          <a:bodyPr lIns="0" tIns="0" rIns="0" bIns="0" rtlCol="0" anchor="t">
            <a:spAutoFit/>
          </a:bodyPr>
          <a:lstStyle/>
          <a:p>
            <a:pPr algn="l">
              <a:lnSpc>
                <a:spcPts val="1937"/>
              </a:lnSpc>
            </a:pPr>
            <a:r>
              <a:rPr lang="en-US" sz="2000" b="1" dirty="0" err="1">
                <a:solidFill>
                  <a:srgbClr val="000099"/>
                </a:solidFill>
                <a:latin typeface="Open Sans 1 Bold"/>
                <a:ea typeface="Open Sans 1 Bold"/>
                <a:cs typeface="Open Sans 1 Bold"/>
                <a:sym typeface="Open Sans 1 Bold"/>
              </a:rPr>
              <a:t>Hệ</a:t>
            </a:r>
            <a:r>
              <a:rPr lang="en-US" sz="2000" b="1" dirty="0">
                <a:solidFill>
                  <a:srgbClr val="000099"/>
                </a:solidFill>
                <a:latin typeface="Open Sans 1 Bold"/>
                <a:ea typeface="Open Sans 1 Bold"/>
                <a:cs typeface="Open Sans 1 Bold"/>
                <a:sym typeface="Open Sans 1 Bold"/>
              </a:rPr>
              <a:t> </a:t>
            </a:r>
            <a:r>
              <a:rPr lang="en-US" sz="2000" b="1" dirty="0" err="1">
                <a:solidFill>
                  <a:srgbClr val="000099"/>
                </a:solidFill>
                <a:latin typeface="Open Sans 1 Bold"/>
                <a:ea typeface="Open Sans 1 Bold"/>
                <a:cs typeface="Open Sans 1 Bold"/>
                <a:sym typeface="Open Sans 1 Bold"/>
              </a:rPr>
              <a:t>thống</a:t>
            </a:r>
            <a:r>
              <a:rPr lang="en-US" sz="2000" b="1" dirty="0">
                <a:solidFill>
                  <a:srgbClr val="000099"/>
                </a:solidFill>
                <a:latin typeface="Open Sans 1 Bold"/>
                <a:ea typeface="Open Sans 1 Bold"/>
                <a:cs typeface="Open Sans 1 Bold"/>
                <a:sym typeface="Open Sans 1 Bold"/>
              </a:rPr>
              <a:t> Camera</a:t>
            </a:r>
          </a:p>
        </p:txBody>
      </p:sp>
      <p:sp>
        <p:nvSpPr>
          <p:cNvPr id="11" name="TextBox 11"/>
          <p:cNvSpPr txBox="1"/>
          <p:nvPr/>
        </p:nvSpPr>
        <p:spPr>
          <a:xfrm>
            <a:off x="1303582" y="5772150"/>
            <a:ext cx="9944100" cy="487313"/>
          </a:xfrm>
          <a:prstGeom prst="rect">
            <a:avLst/>
          </a:prstGeom>
        </p:spPr>
        <p:txBody>
          <a:bodyPr lIns="0" tIns="0" rIns="0" bIns="0" rtlCol="0" anchor="t">
            <a:spAutoFit/>
          </a:bodyPr>
          <a:lstStyle/>
          <a:p>
            <a:pPr algn="l">
              <a:lnSpc>
                <a:spcPts val="1937"/>
              </a:lnSpc>
            </a:pPr>
            <a:r>
              <a:rPr lang="en-US" dirty="0" err="1">
                <a:solidFill>
                  <a:srgbClr val="000099"/>
                </a:solidFill>
                <a:latin typeface="Open Sans 1"/>
                <a:ea typeface="Open Sans 1"/>
                <a:cs typeface="Open Sans 1"/>
                <a:sym typeface="Open Sans 1"/>
              </a:rPr>
              <a:t>Tiếp</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tục</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thống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kê</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tổng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thể</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hệ</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thống</a:t>
            </a:r>
            <a:r>
              <a:rPr lang="en-US" dirty="0">
                <a:solidFill>
                  <a:srgbClr val="000099"/>
                </a:solidFill>
                <a:latin typeface="Open Sans 1"/>
                <a:ea typeface="Open Sans 1"/>
                <a:cs typeface="Open Sans 1"/>
                <a:sym typeface="Open Sans 1"/>
              </a:rPr>
              <a:t> camera </a:t>
            </a:r>
            <a:r>
              <a:rPr lang="en-US" dirty="0" err="1">
                <a:solidFill>
                  <a:srgbClr val="000099"/>
                </a:solidFill>
                <a:latin typeface="Open Sans 1"/>
                <a:ea typeface="Open Sans 1"/>
                <a:cs typeface="Open Sans 1"/>
                <a:sym typeface="Open Sans 1"/>
              </a:rPr>
              <a:t>tại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các</a:t>
            </a:r>
            <a:r>
              <a:rPr lang="en-US" dirty="0">
                <a:solidFill>
                  <a:srgbClr val="000099"/>
                </a:solidFill>
                <a:latin typeface="Open Sans 1"/>
                <a:ea typeface="Open Sans 1"/>
                <a:cs typeface="Open Sans 1"/>
                <a:sym typeface="Open Sans 1"/>
              </a:rPr>
              <a:t> site. </a:t>
            </a:r>
            <a:r>
              <a:rPr lang="en-US" dirty="0" err="1">
                <a:solidFill>
                  <a:srgbClr val="000099"/>
                </a:solidFill>
                <a:latin typeface="Open Sans 1"/>
                <a:ea typeface="Open Sans 1"/>
                <a:cs typeface="Open Sans 1"/>
                <a:sym typeface="Open Sans 1"/>
              </a:rPr>
              <a:t>Ghi</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nhận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tại</a:t>
            </a:r>
            <a:r>
              <a:rPr lang="en-US" dirty="0">
                <a:solidFill>
                  <a:srgbClr val="000099"/>
                </a:solidFill>
                <a:latin typeface="Open Sans 1"/>
                <a:ea typeface="Open Sans 1"/>
                <a:cs typeface="Open Sans 1"/>
                <a:sym typeface="Open Sans 1"/>
              </a:rPr>
              <a:t> TDM </a:t>
            </a:r>
            <a:r>
              <a:rPr lang="en-US" dirty="0" err="1">
                <a:solidFill>
                  <a:srgbClr val="000099"/>
                </a:solidFill>
                <a:latin typeface="Open Sans 1"/>
                <a:ea typeface="Open Sans 1"/>
                <a:cs typeface="Open Sans 1"/>
                <a:sym typeface="Open Sans 1"/>
              </a:rPr>
              <a:t>đã</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kiểm</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tra</a:t>
            </a:r>
            <a:r>
              <a:rPr lang="en-US" dirty="0">
                <a:solidFill>
                  <a:srgbClr val="000099"/>
                </a:solidFill>
                <a:latin typeface="Open Sans 1"/>
                <a:ea typeface="Open Sans 1"/>
                <a:cs typeface="Open Sans 1"/>
                <a:sym typeface="Open Sans 1"/>
              </a:rPr>
              <a:t> </a:t>
            </a:r>
            <a:r>
              <a:rPr lang="en-US" b="1" dirty="0">
                <a:solidFill>
                  <a:srgbClr val="000099"/>
                </a:solidFill>
                <a:latin typeface="Open Sans 1 Bold"/>
                <a:ea typeface="Open Sans 1 Bold"/>
                <a:cs typeface="Open Sans 1 Bold"/>
                <a:sym typeface="Open Sans 1 Bold"/>
              </a:rPr>
              <a:t>199/205 </a:t>
            </a:r>
            <a:r>
              <a:rPr lang="en-US" b="1" dirty="0" err="1">
                <a:solidFill>
                  <a:srgbClr val="000099"/>
                </a:solidFill>
                <a:latin typeface="Open Sans 1 Bold"/>
                <a:ea typeface="Open Sans 1 Bold"/>
                <a:cs typeface="Open Sans 1 Bold"/>
                <a:sym typeface="Open Sans 1 Bold"/>
              </a:rPr>
              <a:t>kênh</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hoạt</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động</a:t>
            </a:r>
            <a:r>
              <a:rPr lang="en-US" dirty="0">
                <a:solidFill>
                  <a:srgbClr val="000099"/>
                </a:solidFill>
                <a:latin typeface="Open Sans 1"/>
                <a:ea typeface="Open Sans 1"/>
                <a:cs typeface="Open Sans 1"/>
                <a:sym typeface="Open Sans 1"/>
              </a:rPr>
              <a:t>.</a:t>
            </a:r>
          </a:p>
        </p:txBody>
      </p:sp>
      <p:sp>
        <p:nvSpPr>
          <p:cNvPr id="12" name="TextBox 12"/>
          <p:cNvSpPr txBox="1"/>
          <p:nvPr/>
        </p:nvSpPr>
        <p:spPr>
          <a:xfrm>
            <a:off x="1303582" y="6543675"/>
            <a:ext cx="9944100" cy="243656"/>
          </a:xfrm>
          <a:prstGeom prst="rect">
            <a:avLst/>
          </a:prstGeom>
        </p:spPr>
        <p:txBody>
          <a:bodyPr lIns="0" tIns="0" rIns="0" bIns="0" rtlCol="0" anchor="t">
            <a:spAutoFit/>
          </a:bodyPr>
          <a:lstStyle/>
          <a:p>
            <a:pPr algn="l">
              <a:lnSpc>
                <a:spcPts val="1937"/>
              </a:lnSpc>
            </a:pPr>
            <a:r>
              <a:rPr lang="en-US" sz="2000" b="1">
                <a:solidFill>
                  <a:srgbClr val="000099"/>
                </a:solidFill>
                <a:latin typeface="Open Sans 1 Bold"/>
                <a:ea typeface="Open Sans 1 Bold"/>
                <a:cs typeface="Open Sans 1 Bold"/>
                <a:sym typeface="Open Sans 1 Bold"/>
              </a:rPr>
              <a:t>Hỗ trợ Đặc biệt</a:t>
            </a:r>
          </a:p>
        </p:txBody>
      </p:sp>
      <p:sp>
        <p:nvSpPr>
          <p:cNvPr id="13" name="TextBox 13"/>
          <p:cNvSpPr txBox="1"/>
          <p:nvPr/>
        </p:nvSpPr>
        <p:spPr>
          <a:xfrm>
            <a:off x="1303582" y="6972300"/>
            <a:ext cx="9944100" cy="243656"/>
          </a:xfrm>
          <a:prstGeom prst="rect">
            <a:avLst/>
          </a:prstGeom>
        </p:spPr>
        <p:txBody>
          <a:bodyPr lIns="0" tIns="0" rIns="0" bIns="0" rtlCol="0" anchor="t">
            <a:spAutoFit/>
          </a:bodyPr>
          <a:lstStyle/>
          <a:p>
            <a:pPr algn="l">
              <a:lnSpc>
                <a:spcPts val="1937"/>
              </a:lnSpc>
            </a:pPr>
            <a:r>
              <a:rPr lang="en-US" dirty="0" err="1">
                <a:solidFill>
                  <a:srgbClr val="000099"/>
                </a:solidFill>
                <a:latin typeface="Open Sans 1"/>
                <a:ea typeface="Open Sans 1"/>
                <a:cs typeface="Open Sans 1"/>
                <a:sym typeface="Open Sans 1"/>
              </a:rPr>
              <a:t>Đã</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lên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hợp</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đồng</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mua</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Chữ</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ký</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số</a:t>
            </a:r>
            <a:r>
              <a:rPr lang="en-US" dirty="0">
                <a:solidFill>
                  <a:srgbClr val="000099"/>
                </a:solidFill>
                <a:latin typeface="Open Sans 1"/>
                <a:ea typeface="Open Sans 1"/>
                <a:cs typeface="Open Sans 1"/>
                <a:sym typeface="Open Sans 1"/>
              </a:rPr>
              <a:t> VNPT </a:t>
            </a:r>
            <a:r>
              <a:rPr lang="en-US" dirty="0" err="1">
                <a:solidFill>
                  <a:srgbClr val="000099"/>
                </a:solidFill>
                <a:latin typeface="Open Sans 1"/>
                <a:ea typeface="Open Sans 1"/>
                <a:cs typeface="Open Sans 1"/>
                <a:sym typeface="Open Sans 1"/>
              </a:rPr>
              <a:t>SmartCA</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phục</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vụ</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cho</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các</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cơ</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quan</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chức</a:t>
            </a:r>
            <a:r>
              <a:rPr lang="en-US" dirty="0">
                <a:solidFill>
                  <a:srgbClr val="000099"/>
                </a:solidFill>
                <a:latin typeface="Open Sans 1"/>
                <a:ea typeface="Open Sans 1"/>
                <a:cs typeface="Open Sans 1"/>
                <a:sym typeface="Open Sans 1"/>
              </a:rPr>
              <a:t> </a:t>
            </a:r>
            <a:r>
              <a:rPr lang="en-US" dirty="0" err="1">
                <a:solidFill>
                  <a:srgbClr val="000099"/>
                </a:solidFill>
                <a:latin typeface="Open Sans 1"/>
                <a:ea typeface="Open Sans 1"/>
                <a:cs typeface="Open Sans 1"/>
                <a:sym typeface="Open Sans 1"/>
              </a:rPr>
              <a:t>năng</a:t>
            </a:r>
            <a:r>
              <a:rPr lang="en-US" dirty="0">
                <a:solidFill>
                  <a:srgbClr val="000099"/>
                </a:solidFill>
                <a:latin typeface="Open Sans 1"/>
                <a:ea typeface="Open Sans 1"/>
                <a:cs typeface="Open Sans 1"/>
                <a:sym typeface="Open Sans 1"/>
              </a:rPr>
              <a:t> (COCQ).</a:t>
            </a:r>
          </a:p>
        </p:txBody>
      </p:sp>
      <p:grpSp>
        <p:nvGrpSpPr>
          <p:cNvPr id="14" name="Group 14"/>
          <p:cNvGrpSpPr/>
          <p:nvPr/>
        </p:nvGrpSpPr>
        <p:grpSpPr>
          <a:xfrm>
            <a:off x="11902429" y="1998907"/>
            <a:ext cx="4516193" cy="4516193"/>
            <a:chOff x="0" y="0"/>
            <a:chExt cx="6021591" cy="6021591"/>
          </a:xfrm>
        </p:grpSpPr>
        <p:sp>
          <p:nvSpPr>
            <p:cNvPr id="15" name="Freeform 15" descr="preencoded.png"/>
            <p:cNvSpPr/>
            <p:nvPr/>
          </p:nvSpPr>
          <p:spPr>
            <a:xfrm>
              <a:off x="0" y="0"/>
              <a:ext cx="6021578" cy="6021578"/>
            </a:xfrm>
            <a:custGeom>
              <a:avLst/>
              <a:gdLst/>
              <a:ahLst/>
              <a:cxnLst/>
              <a:rect l="l" t="t" r="r" b="b"/>
              <a:pathLst>
                <a:path w="6021578" h="6021578">
                  <a:moveTo>
                    <a:pt x="0" y="0"/>
                  </a:moveTo>
                  <a:lnTo>
                    <a:pt x="6021578" y="0"/>
                  </a:lnTo>
                  <a:lnTo>
                    <a:pt x="6021578" y="6021578"/>
                  </a:lnTo>
                  <a:lnTo>
                    <a:pt x="0" y="6021578"/>
                  </a:lnTo>
                  <a:lnTo>
                    <a:pt x="0" y="0"/>
                  </a:lnTo>
                  <a:close/>
                </a:path>
              </a:pathLst>
            </a:custGeom>
            <a:blipFill>
              <a:blip r:embed="rId3"/>
              <a:stretch>
                <a:fillRect/>
              </a:stretch>
            </a:blipFill>
          </p:spPr>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912762"/>
            <a:ext cx="11860559" cy="825998"/>
          </a:xfrm>
          <a:prstGeom prst="rect">
            <a:avLst/>
          </a:prstGeom>
        </p:spPr>
        <p:txBody>
          <a:bodyPr lIns="0" tIns="0" rIns="0" bIns="0" rtlCol="0" anchor="t">
            <a:spAutoFit/>
          </a:bodyPr>
          <a:lstStyle/>
          <a:p>
            <a:pPr algn="l">
              <a:lnSpc>
                <a:spcPts val="6249"/>
              </a:lnSpc>
            </a:pPr>
            <a:r>
              <a:rPr lang="en-US" sz="4999" b="1">
                <a:solidFill>
                  <a:srgbClr val="FF0000"/>
                </a:solidFill>
                <a:latin typeface="Open Sans 1 Bold"/>
                <a:ea typeface="Open Sans 1 Bold"/>
                <a:cs typeface="Open Sans 1 Bold"/>
                <a:sym typeface="Open Sans 1 Bold"/>
              </a:rPr>
              <a:t>B. TIẾN ĐỘ CÔNG VIỆC HỆ THỐNG ERP</a:t>
            </a:r>
          </a:p>
        </p:txBody>
      </p:sp>
      <p:sp>
        <p:nvSpPr>
          <p:cNvPr id="4" name="TextBox 4"/>
          <p:cNvSpPr txBox="1"/>
          <p:nvPr/>
        </p:nvSpPr>
        <p:spPr>
          <a:xfrm>
            <a:off x="992238" y="2144316"/>
            <a:ext cx="16303523" cy="614953"/>
          </a:xfrm>
          <a:prstGeom prst="rect">
            <a:avLst/>
          </a:prstGeom>
        </p:spPr>
        <p:txBody>
          <a:bodyPr lIns="0" tIns="0" rIns="0" bIns="0" rtlCol="0" anchor="t">
            <a:spAutoFit/>
          </a:bodyPr>
          <a:lstStyle/>
          <a:p>
            <a:pPr algn="l">
              <a:lnSpc>
                <a:spcPts val="4000"/>
              </a:lnSpc>
            </a:pPr>
            <a:r>
              <a:rPr lang="en-US" sz="2499">
                <a:solidFill>
                  <a:srgbClr val="000099"/>
                </a:solidFill>
                <a:latin typeface="Open Sans 1"/>
                <a:ea typeface="Open Sans 1"/>
                <a:cs typeface="Open Sans 1"/>
                <a:sym typeface="Open Sans 1"/>
              </a:rPr>
              <a:t>Đảm bảo vận hành ổn định và tiến hành các dự án nâng cấp chiến lược.</a:t>
            </a:r>
          </a:p>
        </p:txBody>
      </p:sp>
      <p:grpSp>
        <p:nvGrpSpPr>
          <p:cNvPr id="5" name="Group 5"/>
          <p:cNvGrpSpPr/>
          <p:nvPr/>
        </p:nvGrpSpPr>
        <p:grpSpPr>
          <a:xfrm>
            <a:off x="9129712" y="3046209"/>
            <a:ext cx="28575" cy="6299302"/>
            <a:chOff x="0" y="0"/>
            <a:chExt cx="38100" cy="8399069"/>
          </a:xfrm>
        </p:grpSpPr>
        <p:sp>
          <p:nvSpPr>
            <p:cNvPr id="6" name="Freeform 6"/>
            <p:cNvSpPr/>
            <p:nvPr/>
          </p:nvSpPr>
          <p:spPr>
            <a:xfrm>
              <a:off x="0" y="0"/>
              <a:ext cx="38100" cy="8399018"/>
            </a:xfrm>
            <a:custGeom>
              <a:avLst/>
              <a:gdLst/>
              <a:ahLst/>
              <a:cxnLst/>
              <a:rect l="l" t="t" r="r" b="b"/>
              <a:pathLst>
                <a:path w="38100" h="8399018">
                  <a:moveTo>
                    <a:pt x="0" y="19050"/>
                  </a:moveTo>
                  <a:cubicBezTo>
                    <a:pt x="0" y="8509"/>
                    <a:pt x="8509" y="0"/>
                    <a:pt x="19050" y="0"/>
                  </a:cubicBezTo>
                  <a:cubicBezTo>
                    <a:pt x="29591" y="0"/>
                    <a:pt x="38100" y="8509"/>
                    <a:pt x="38100" y="19050"/>
                  </a:cubicBezTo>
                  <a:lnTo>
                    <a:pt x="38100" y="8379968"/>
                  </a:lnTo>
                  <a:cubicBezTo>
                    <a:pt x="38100" y="8390510"/>
                    <a:pt x="29591" y="8399018"/>
                    <a:pt x="19050" y="8399018"/>
                  </a:cubicBezTo>
                  <a:cubicBezTo>
                    <a:pt x="8509" y="8399018"/>
                    <a:pt x="0" y="8390510"/>
                    <a:pt x="0" y="8379968"/>
                  </a:cubicBezTo>
                  <a:close/>
                </a:path>
              </a:pathLst>
            </a:custGeom>
            <a:solidFill>
              <a:srgbClr val="E5B2B2"/>
            </a:solidFill>
          </p:spPr>
        </p:sp>
      </p:grpSp>
      <p:grpSp>
        <p:nvGrpSpPr>
          <p:cNvPr id="7" name="Group 7"/>
          <p:cNvGrpSpPr/>
          <p:nvPr/>
        </p:nvGrpSpPr>
        <p:grpSpPr>
          <a:xfrm>
            <a:off x="8120139" y="3318872"/>
            <a:ext cx="765419" cy="28575"/>
            <a:chOff x="0" y="0"/>
            <a:chExt cx="1020559" cy="38100"/>
          </a:xfrm>
        </p:grpSpPr>
        <p:sp>
          <p:nvSpPr>
            <p:cNvPr id="8" name="Freeform 8"/>
            <p:cNvSpPr/>
            <p:nvPr/>
          </p:nvSpPr>
          <p:spPr>
            <a:xfrm>
              <a:off x="0" y="0"/>
              <a:ext cx="1020572" cy="38100"/>
            </a:xfrm>
            <a:custGeom>
              <a:avLst/>
              <a:gdLst/>
              <a:ahLst/>
              <a:cxnLst/>
              <a:rect l="l" t="t" r="r" b="b"/>
              <a:pathLst>
                <a:path w="1020572" h="38100">
                  <a:moveTo>
                    <a:pt x="0" y="19050"/>
                  </a:moveTo>
                  <a:cubicBezTo>
                    <a:pt x="0" y="8509"/>
                    <a:pt x="8509" y="0"/>
                    <a:pt x="19050" y="0"/>
                  </a:cubicBezTo>
                  <a:lnTo>
                    <a:pt x="1001522" y="0"/>
                  </a:lnTo>
                  <a:cubicBezTo>
                    <a:pt x="1012063" y="0"/>
                    <a:pt x="1020572" y="8509"/>
                    <a:pt x="1020572" y="19050"/>
                  </a:cubicBezTo>
                  <a:cubicBezTo>
                    <a:pt x="1020572" y="29591"/>
                    <a:pt x="1012063" y="38100"/>
                    <a:pt x="1001522" y="38100"/>
                  </a:cubicBezTo>
                  <a:lnTo>
                    <a:pt x="19050" y="38100"/>
                  </a:lnTo>
                  <a:cubicBezTo>
                    <a:pt x="8509" y="38100"/>
                    <a:pt x="0" y="29591"/>
                    <a:pt x="0" y="19050"/>
                  </a:cubicBezTo>
                  <a:close/>
                </a:path>
              </a:pathLst>
            </a:custGeom>
            <a:solidFill>
              <a:srgbClr val="E5B2B2"/>
            </a:solidFill>
          </p:spPr>
        </p:sp>
      </p:grpSp>
      <p:grpSp>
        <p:nvGrpSpPr>
          <p:cNvPr id="9" name="Group 9"/>
          <p:cNvGrpSpPr/>
          <p:nvPr/>
        </p:nvGrpSpPr>
        <p:grpSpPr>
          <a:xfrm>
            <a:off x="8852221" y="3041447"/>
            <a:ext cx="583559" cy="583559"/>
            <a:chOff x="0" y="0"/>
            <a:chExt cx="778078" cy="778078"/>
          </a:xfrm>
        </p:grpSpPr>
        <p:sp>
          <p:nvSpPr>
            <p:cNvPr id="10" name="Freeform 10"/>
            <p:cNvSpPr/>
            <p:nvPr/>
          </p:nvSpPr>
          <p:spPr>
            <a:xfrm>
              <a:off x="6350" y="6350"/>
              <a:ext cx="765302" cy="765302"/>
            </a:xfrm>
            <a:custGeom>
              <a:avLst/>
              <a:gdLst/>
              <a:ahLst/>
              <a:cxnLst/>
              <a:rect l="l" t="t" r="r" b="b"/>
              <a:pathLst>
                <a:path w="765302" h="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FFCCCC"/>
            </a:solidFill>
          </p:spPr>
        </p:sp>
        <p:sp>
          <p:nvSpPr>
            <p:cNvPr id="11" name="Freeform 11"/>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E5B2B2"/>
            </a:solidFill>
          </p:spPr>
        </p:sp>
      </p:grpSp>
      <p:sp>
        <p:nvSpPr>
          <p:cNvPr id="12" name="TextBox 12"/>
          <p:cNvSpPr txBox="1"/>
          <p:nvPr/>
        </p:nvSpPr>
        <p:spPr>
          <a:xfrm>
            <a:off x="8952605" y="3151137"/>
            <a:ext cx="382638" cy="421186"/>
          </a:xfrm>
          <a:prstGeom prst="rect">
            <a:avLst/>
          </a:prstGeom>
        </p:spPr>
        <p:txBody>
          <a:bodyPr lIns="0" tIns="0" rIns="0" bIns="0" rtlCol="0" anchor="t">
            <a:spAutoFit/>
          </a:bodyPr>
          <a:lstStyle/>
          <a:p>
            <a:pPr algn="ctr">
              <a:lnSpc>
                <a:spcPts val="3000"/>
              </a:lnSpc>
            </a:pPr>
            <a:r>
              <a:rPr lang="en-US" sz="3000" b="1">
                <a:solidFill>
                  <a:srgbClr val="000099"/>
                </a:solidFill>
                <a:latin typeface="Open Sans 1 Bold"/>
                <a:ea typeface="Open Sans 1 Bold"/>
                <a:cs typeface="Open Sans 1 Bold"/>
                <a:sym typeface="Open Sans 1 Bold"/>
              </a:rPr>
              <a:t>1</a:t>
            </a:r>
          </a:p>
        </p:txBody>
      </p:sp>
      <p:sp>
        <p:nvSpPr>
          <p:cNvPr id="13" name="TextBox 13"/>
          <p:cNvSpPr txBox="1"/>
          <p:nvPr/>
        </p:nvSpPr>
        <p:spPr>
          <a:xfrm>
            <a:off x="4678413" y="3114827"/>
            <a:ext cx="3189684" cy="417614"/>
          </a:xfrm>
          <a:prstGeom prst="rect">
            <a:avLst/>
          </a:prstGeom>
        </p:spPr>
        <p:txBody>
          <a:bodyPr lIns="0" tIns="0" rIns="0" bIns="0" rtlCol="0" anchor="t">
            <a:spAutoFit/>
          </a:bodyPr>
          <a:lstStyle/>
          <a:p>
            <a:pPr algn="r">
              <a:lnSpc>
                <a:spcPts val="3124"/>
              </a:lnSpc>
            </a:pPr>
            <a:r>
              <a:rPr lang="en-US" sz="2499" b="1">
                <a:solidFill>
                  <a:srgbClr val="000099"/>
                </a:solidFill>
                <a:latin typeface="Open Sans 1 Bold"/>
                <a:ea typeface="Open Sans 1 Bold"/>
                <a:cs typeface="Open Sans 1 Bold"/>
                <a:sym typeface="Open Sans 1 Bold"/>
              </a:rPr>
              <a:t>Vận hành &amp; Bảo trì</a:t>
            </a:r>
          </a:p>
        </p:txBody>
      </p:sp>
      <p:sp>
        <p:nvSpPr>
          <p:cNvPr id="14" name="TextBox 14"/>
          <p:cNvSpPr txBox="1"/>
          <p:nvPr/>
        </p:nvSpPr>
        <p:spPr>
          <a:xfrm>
            <a:off x="992238" y="3609232"/>
            <a:ext cx="6875859" cy="1301353"/>
          </a:xfrm>
          <a:prstGeom prst="rect">
            <a:avLst/>
          </a:prstGeom>
        </p:spPr>
        <p:txBody>
          <a:bodyPr lIns="0" tIns="0" rIns="0" bIns="0" rtlCol="0" anchor="t">
            <a:spAutoFit/>
          </a:bodyPr>
          <a:lstStyle/>
          <a:p>
            <a:pPr algn="r">
              <a:lnSpc>
                <a:spcPts val="3187"/>
              </a:lnSpc>
            </a:pPr>
            <a:r>
              <a:rPr lang="en-US" sz="2000">
                <a:solidFill>
                  <a:srgbClr val="000099"/>
                </a:solidFill>
                <a:latin typeface="Open Sans 1"/>
                <a:ea typeface="Open Sans 1"/>
                <a:cs typeface="Open Sans 1"/>
                <a:sym typeface="Open Sans 1"/>
              </a:rPr>
              <a:t>Hoàn thành ký duyệt </a:t>
            </a:r>
            <a:r>
              <a:rPr lang="en-US" sz="2000" b="1">
                <a:solidFill>
                  <a:srgbClr val="000099"/>
                </a:solidFill>
                <a:latin typeface="Open Sans 1 Bold"/>
                <a:ea typeface="Open Sans 1 Bold"/>
                <a:cs typeface="Open Sans 1 Bold"/>
                <a:sym typeface="Open Sans 1 Bold"/>
              </a:rPr>
              <a:t>Hợp đồng bảo trì 06 tháng Database + DRSite</a:t>
            </a:r>
            <a:r>
              <a:rPr lang="en-US" sz="2000">
                <a:solidFill>
                  <a:srgbClr val="000099"/>
                </a:solidFill>
                <a:latin typeface="Open Sans 1"/>
                <a:ea typeface="Open Sans 1"/>
                <a:cs typeface="Open Sans 1"/>
                <a:sym typeface="Open Sans 1"/>
              </a:rPr>
              <a:t>, đảm bảo tính liên tục và an toàn dữ liệu cho hệ thống ERP cốt lõi.</a:t>
            </a:r>
          </a:p>
        </p:txBody>
      </p:sp>
      <p:grpSp>
        <p:nvGrpSpPr>
          <p:cNvPr id="15" name="Group 15"/>
          <p:cNvGrpSpPr/>
          <p:nvPr/>
        </p:nvGrpSpPr>
        <p:grpSpPr>
          <a:xfrm>
            <a:off x="9402442" y="4849863"/>
            <a:ext cx="765419" cy="28575"/>
            <a:chOff x="0" y="0"/>
            <a:chExt cx="1020559" cy="38100"/>
          </a:xfrm>
        </p:grpSpPr>
        <p:sp>
          <p:nvSpPr>
            <p:cNvPr id="16" name="Freeform 16"/>
            <p:cNvSpPr/>
            <p:nvPr/>
          </p:nvSpPr>
          <p:spPr>
            <a:xfrm>
              <a:off x="0" y="0"/>
              <a:ext cx="1020572" cy="38100"/>
            </a:xfrm>
            <a:custGeom>
              <a:avLst/>
              <a:gdLst/>
              <a:ahLst/>
              <a:cxnLst/>
              <a:rect l="l" t="t" r="r" b="b"/>
              <a:pathLst>
                <a:path w="1020572" h="38100">
                  <a:moveTo>
                    <a:pt x="0" y="19050"/>
                  </a:moveTo>
                  <a:cubicBezTo>
                    <a:pt x="0" y="8509"/>
                    <a:pt x="8509" y="0"/>
                    <a:pt x="19050" y="0"/>
                  </a:cubicBezTo>
                  <a:lnTo>
                    <a:pt x="1001522" y="0"/>
                  </a:lnTo>
                  <a:cubicBezTo>
                    <a:pt x="1012063" y="0"/>
                    <a:pt x="1020572" y="8509"/>
                    <a:pt x="1020572" y="19050"/>
                  </a:cubicBezTo>
                  <a:cubicBezTo>
                    <a:pt x="1020572" y="29591"/>
                    <a:pt x="1012063" y="38100"/>
                    <a:pt x="1001522" y="38100"/>
                  </a:cubicBezTo>
                  <a:lnTo>
                    <a:pt x="19050" y="38100"/>
                  </a:lnTo>
                  <a:cubicBezTo>
                    <a:pt x="8509" y="38100"/>
                    <a:pt x="0" y="29591"/>
                    <a:pt x="0" y="19050"/>
                  </a:cubicBezTo>
                  <a:close/>
                </a:path>
              </a:pathLst>
            </a:custGeom>
            <a:solidFill>
              <a:srgbClr val="E5B2B2"/>
            </a:solidFill>
          </p:spPr>
        </p:sp>
      </p:grpSp>
      <p:grpSp>
        <p:nvGrpSpPr>
          <p:cNvPr id="17" name="Group 17"/>
          <p:cNvGrpSpPr/>
          <p:nvPr/>
        </p:nvGrpSpPr>
        <p:grpSpPr>
          <a:xfrm>
            <a:off x="8852221" y="4572448"/>
            <a:ext cx="583559" cy="583559"/>
            <a:chOff x="0" y="0"/>
            <a:chExt cx="778078" cy="778078"/>
          </a:xfrm>
        </p:grpSpPr>
        <p:sp>
          <p:nvSpPr>
            <p:cNvPr id="18" name="Freeform 18"/>
            <p:cNvSpPr/>
            <p:nvPr/>
          </p:nvSpPr>
          <p:spPr>
            <a:xfrm>
              <a:off x="6350" y="6350"/>
              <a:ext cx="765302" cy="765302"/>
            </a:xfrm>
            <a:custGeom>
              <a:avLst/>
              <a:gdLst/>
              <a:ahLst/>
              <a:cxnLst/>
              <a:rect l="l" t="t" r="r" b="b"/>
              <a:pathLst>
                <a:path w="765302" h="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FFCCCC"/>
            </a:solidFill>
          </p:spPr>
        </p:sp>
        <p:sp>
          <p:nvSpPr>
            <p:cNvPr id="19" name="Freeform 19"/>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E5B2B2"/>
            </a:solidFill>
          </p:spPr>
        </p:sp>
      </p:grpSp>
      <p:sp>
        <p:nvSpPr>
          <p:cNvPr id="20" name="TextBox 20"/>
          <p:cNvSpPr txBox="1"/>
          <p:nvPr/>
        </p:nvSpPr>
        <p:spPr>
          <a:xfrm>
            <a:off x="8952605" y="4682128"/>
            <a:ext cx="382638" cy="421186"/>
          </a:xfrm>
          <a:prstGeom prst="rect">
            <a:avLst/>
          </a:prstGeom>
        </p:spPr>
        <p:txBody>
          <a:bodyPr lIns="0" tIns="0" rIns="0" bIns="0" rtlCol="0" anchor="t">
            <a:spAutoFit/>
          </a:bodyPr>
          <a:lstStyle/>
          <a:p>
            <a:pPr algn="ctr">
              <a:lnSpc>
                <a:spcPts val="3000"/>
              </a:lnSpc>
            </a:pPr>
            <a:r>
              <a:rPr lang="en-US" sz="3000" b="1">
                <a:solidFill>
                  <a:srgbClr val="000099"/>
                </a:solidFill>
                <a:latin typeface="Open Sans 1 Bold"/>
                <a:ea typeface="Open Sans 1 Bold"/>
                <a:cs typeface="Open Sans 1 Bold"/>
                <a:sym typeface="Open Sans 1 Bold"/>
              </a:rPr>
              <a:t>2</a:t>
            </a:r>
          </a:p>
        </p:txBody>
      </p:sp>
      <p:sp>
        <p:nvSpPr>
          <p:cNvPr id="21" name="TextBox 21"/>
          <p:cNvSpPr txBox="1"/>
          <p:nvPr/>
        </p:nvSpPr>
        <p:spPr>
          <a:xfrm>
            <a:off x="10419902" y="4645819"/>
            <a:ext cx="3826373" cy="417614"/>
          </a:xfrm>
          <a:prstGeom prst="rect">
            <a:avLst/>
          </a:prstGeom>
        </p:spPr>
        <p:txBody>
          <a:bodyPr lIns="0" tIns="0" rIns="0" bIns="0" rtlCol="0" anchor="t">
            <a:spAutoFit/>
          </a:bodyPr>
          <a:lstStyle/>
          <a:p>
            <a:pPr algn="l">
              <a:lnSpc>
                <a:spcPts val="3124"/>
              </a:lnSpc>
            </a:pPr>
            <a:r>
              <a:rPr lang="en-US" sz="2499" b="1">
                <a:solidFill>
                  <a:srgbClr val="000099"/>
                </a:solidFill>
                <a:latin typeface="Open Sans 1 Bold"/>
                <a:ea typeface="Open Sans 1 Bold"/>
                <a:cs typeface="Open Sans 1 Bold"/>
                <a:sym typeface="Open Sans 1 Bold"/>
              </a:rPr>
              <a:t>Hóa đơn Điện tử (HĐĐT)</a:t>
            </a:r>
          </a:p>
        </p:txBody>
      </p:sp>
      <p:sp>
        <p:nvSpPr>
          <p:cNvPr id="22" name="TextBox 22"/>
          <p:cNvSpPr txBox="1"/>
          <p:nvPr/>
        </p:nvSpPr>
        <p:spPr>
          <a:xfrm>
            <a:off x="10419902" y="5140223"/>
            <a:ext cx="6875859" cy="1301353"/>
          </a:xfrm>
          <a:prstGeom prst="rect">
            <a:avLst/>
          </a:prstGeom>
        </p:spPr>
        <p:txBody>
          <a:bodyPr lIns="0" tIns="0" rIns="0" bIns="0" rtlCol="0" anchor="t">
            <a:spAutoFit/>
          </a:bodyPr>
          <a:lstStyle/>
          <a:p>
            <a:pPr algn="l">
              <a:lnSpc>
                <a:spcPts val="3187"/>
              </a:lnSpc>
            </a:pPr>
            <a:r>
              <a:rPr lang="en-US" sz="2000">
                <a:solidFill>
                  <a:srgbClr val="000099"/>
                </a:solidFill>
                <a:latin typeface="Open Sans 1"/>
                <a:ea typeface="Open Sans 1"/>
                <a:cs typeface="Open Sans 1"/>
                <a:sym typeface="Open Sans 1"/>
              </a:rPr>
              <a:t>Theo dõi ổn định sau Golive HĐĐT cải tiến ND70. Đã </a:t>
            </a:r>
            <a:r>
              <a:rPr lang="en-US" sz="2000">
                <a:solidFill>
                  <a:srgbClr val="FF0101"/>
                </a:solidFill>
                <a:latin typeface="Open Sans 1"/>
                <a:ea typeface="Open Sans 1"/>
                <a:cs typeface="Open Sans 1"/>
                <a:sym typeface="Open Sans 1"/>
              </a:rPr>
              <a:t>Hoàn thành và ký duyệt các biên bản nghiệm thu</a:t>
            </a:r>
            <a:r>
              <a:rPr lang="en-US" sz="2000">
                <a:solidFill>
                  <a:srgbClr val="000099"/>
                </a:solidFill>
                <a:latin typeface="Open Sans 1"/>
                <a:ea typeface="Open Sans 1"/>
                <a:cs typeface="Open Sans 1"/>
                <a:sym typeface="Open Sans 1"/>
              </a:rPr>
              <a:t> liên quan đến dự án này.</a:t>
            </a:r>
          </a:p>
        </p:txBody>
      </p:sp>
      <p:grpSp>
        <p:nvGrpSpPr>
          <p:cNvPr id="23" name="Group 23"/>
          <p:cNvGrpSpPr/>
          <p:nvPr/>
        </p:nvGrpSpPr>
        <p:grpSpPr>
          <a:xfrm>
            <a:off x="8120139" y="6169523"/>
            <a:ext cx="765419" cy="28575"/>
            <a:chOff x="0" y="0"/>
            <a:chExt cx="1020559" cy="38100"/>
          </a:xfrm>
        </p:grpSpPr>
        <p:sp>
          <p:nvSpPr>
            <p:cNvPr id="24" name="Freeform 24"/>
            <p:cNvSpPr/>
            <p:nvPr/>
          </p:nvSpPr>
          <p:spPr>
            <a:xfrm>
              <a:off x="0" y="0"/>
              <a:ext cx="1020572" cy="38100"/>
            </a:xfrm>
            <a:custGeom>
              <a:avLst/>
              <a:gdLst/>
              <a:ahLst/>
              <a:cxnLst/>
              <a:rect l="l" t="t" r="r" b="b"/>
              <a:pathLst>
                <a:path w="1020572" h="38100">
                  <a:moveTo>
                    <a:pt x="0" y="19050"/>
                  </a:moveTo>
                  <a:cubicBezTo>
                    <a:pt x="0" y="8509"/>
                    <a:pt x="8509" y="0"/>
                    <a:pt x="19050" y="0"/>
                  </a:cubicBezTo>
                  <a:lnTo>
                    <a:pt x="1001522" y="0"/>
                  </a:lnTo>
                  <a:cubicBezTo>
                    <a:pt x="1012063" y="0"/>
                    <a:pt x="1020572" y="8509"/>
                    <a:pt x="1020572" y="19050"/>
                  </a:cubicBezTo>
                  <a:cubicBezTo>
                    <a:pt x="1020572" y="29591"/>
                    <a:pt x="1012063" y="38100"/>
                    <a:pt x="1001522" y="38100"/>
                  </a:cubicBezTo>
                  <a:lnTo>
                    <a:pt x="19050" y="38100"/>
                  </a:lnTo>
                  <a:cubicBezTo>
                    <a:pt x="8509" y="38100"/>
                    <a:pt x="0" y="29591"/>
                    <a:pt x="0" y="19050"/>
                  </a:cubicBezTo>
                  <a:close/>
                </a:path>
              </a:pathLst>
            </a:custGeom>
            <a:solidFill>
              <a:srgbClr val="E5B2B2"/>
            </a:solidFill>
          </p:spPr>
        </p:sp>
      </p:grpSp>
      <p:grpSp>
        <p:nvGrpSpPr>
          <p:cNvPr id="25" name="Group 25"/>
          <p:cNvGrpSpPr/>
          <p:nvPr/>
        </p:nvGrpSpPr>
        <p:grpSpPr>
          <a:xfrm>
            <a:off x="8852221" y="5892108"/>
            <a:ext cx="583559" cy="583559"/>
            <a:chOff x="0" y="0"/>
            <a:chExt cx="778078" cy="778078"/>
          </a:xfrm>
        </p:grpSpPr>
        <p:sp>
          <p:nvSpPr>
            <p:cNvPr id="26" name="Freeform 26"/>
            <p:cNvSpPr/>
            <p:nvPr/>
          </p:nvSpPr>
          <p:spPr>
            <a:xfrm>
              <a:off x="6350" y="6350"/>
              <a:ext cx="765302" cy="765302"/>
            </a:xfrm>
            <a:custGeom>
              <a:avLst/>
              <a:gdLst/>
              <a:ahLst/>
              <a:cxnLst/>
              <a:rect l="l" t="t" r="r" b="b"/>
              <a:pathLst>
                <a:path w="765302" h="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FFCCCC"/>
            </a:solidFill>
          </p:spPr>
        </p:sp>
        <p:sp>
          <p:nvSpPr>
            <p:cNvPr id="27" name="Freeform 27"/>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E5B2B2"/>
            </a:solidFill>
          </p:spPr>
        </p:sp>
      </p:grpSp>
      <p:sp>
        <p:nvSpPr>
          <p:cNvPr id="28" name="TextBox 28"/>
          <p:cNvSpPr txBox="1"/>
          <p:nvPr/>
        </p:nvSpPr>
        <p:spPr>
          <a:xfrm>
            <a:off x="8952605" y="6001788"/>
            <a:ext cx="382638" cy="421186"/>
          </a:xfrm>
          <a:prstGeom prst="rect">
            <a:avLst/>
          </a:prstGeom>
        </p:spPr>
        <p:txBody>
          <a:bodyPr lIns="0" tIns="0" rIns="0" bIns="0" rtlCol="0" anchor="t">
            <a:spAutoFit/>
          </a:bodyPr>
          <a:lstStyle/>
          <a:p>
            <a:pPr algn="ctr">
              <a:lnSpc>
                <a:spcPts val="3000"/>
              </a:lnSpc>
            </a:pPr>
            <a:r>
              <a:rPr lang="en-US" sz="3000" b="1">
                <a:solidFill>
                  <a:srgbClr val="000099"/>
                </a:solidFill>
                <a:latin typeface="Open Sans 1 Bold"/>
                <a:ea typeface="Open Sans 1 Bold"/>
                <a:cs typeface="Open Sans 1 Bold"/>
                <a:sym typeface="Open Sans 1 Bold"/>
              </a:rPr>
              <a:t>3</a:t>
            </a:r>
          </a:p>
        </p:txBody>
      </p:sp>
      <p:sp>
        <p:nvSpPr>
          <p:cNvPr id="29" name="TextBox 29"/>
          <p:cNvSpPr txBox="1"/>
          <p:nvPr/>
        </p:nvSpPr>
        <p:spPr>
          <a:xfrm>
            <a:off x="4678413" y="5965479"/>
            <a:ext cx="3189684" cy="417614"/>
          </a:xfrm>
          <a:prstGeom prst="rect">
            <a:avLst/>
          </a:prstGeom>
        </p:spPr>
        <p:txBody>
          <a:bodyPr lIns="0" tIns="0" rIns="0" bIns="0" rtlCol="0" anchor="t">
            <a:spAutoFit/>
          </a:bodyPr>
          <a:lstStyle/>
          <a:p>
            <a:pPr algn="r">
              <a:lnSpc>
                <a:spcPts val="3124"/>
              </a:lnSpc>
            </a:pPr>
            <a:r>
              <a:rPr lang="en-US" sz="2499" b="1">
                <a:solidFill>
                  <a:srgbClr val="000099"/>
                </a:solidFill>
                <a:latin typeface="Open Sans 1 Bold"/>
                <a:ea typeface="Open Sans 1 Bold"/>
                <a:cs typeface="Open Sans 1 Bold"/>
                <a:sym typeface="Open Sans 1 Bold"/>
              </a:rPr>
              <a:t>Nâng cấp ERP</a:t>
            </a:r>
          </a:p>
        </p:txBody>
      </p:sp>
      <p:sp>
        <p:nvSpPr>
          <p:cNvPr id="30" name="TextBox 30"/>
          <p:cNvSpPr txBox="1"/>
          <p:nvPr/>
        </p:nvSpPr>
        <p:spPr>
          <a:xfrm>
            <a:off x="992238" y="6459884"/>
            <a:ext cx="6875859" cy="1301353"/>
          </a:xfrm>
          <a:prstGeom prst="rect">
            <a:avLst/>
          </a:prstGeom>
        </p:spPr>
        <p:txBody>
          <a:bodyPr lIns="0" tIns="0" rIns="0" bIns="0" rtlCol="0" anchor="t">
            <a:spAutoFit/>
          </a:bodyPr>
          <a:lstStyle/>
          <a:p>
            <a:pPr algn="r">
              <a:lnSpc>
                <a:spcPts val="3187"/>
              </a:lnSpc>
            </a:pPr>
            <a:r>
              <a:rPr lang="en-US" sz="2000">
                <a:solidFill>
                  <a:srgbClr val="000099"/>
                </a:solidFill>
                <a:latin typeface="Open Sans 1"/>
                <a:ea typeface="Open Sans 1"/>
                <a:cs typeface="Open Sans 1"/>
                <a:sym typeface="Open Sans 1"/>
              </a:rPr>
              <a:t>Hợp đồng dự án Nâng cấp ERP đã được phê duyệt. Đang thực hiện theo kế hoạch và đã hoàn thành các Biên bản Khảo sát (BBKS) sơ lược ban đầu.</a:t>
            </a:r>
          </a:p>
        </p:txBody>
      </p:sp>
      <p:grpSp>
        <p:nvGrpSpPr>
          <p:cNvPr id="31" name="Group 31"/>
          <p:cNvGrpSpPr/>
          <p:nvPr/>
        </p:nvGrpSpPr>
        <p:grpSpPr>
          <a:xfrm>
            <a:off x="9402442" y="7489184"/>
            <a:ext cx="765419" cy="28575"/>
            <a:chOff x="0" y="0"/>
            <a:chExt cx="1020559" cy="38100"/>
          </a:xfrm>
        </p:grpSpPr>
        <p:sp>
          <p:nvSpPr>
            <p:cNvPr id="32" name="Freeform 32"/>
            <p:cNvSpPr/>
            <p:nvPr/>
          </p:nvSpPr>
          <p:spPr>
            <a:xfrm>
              <a:off x="0" y="0"/>
              <a:ext cx="1020572" cy="38100"/>
            </a:xfrm>
            <a:custGeom>
              <a:avLst/>
              <a:gdLst/>
              <a:ahLst/>
              <a:cxnLst/>
              <a:rect l="l" t="t" r="r" b="b"/>
              <a:pathLst>
                <a:path w="1020572" h="38100">
                  <a:moveTo>
                    <a:pt x="0" y="19050"/>
                  </a:moveTo>
                  <a:cubicBezTo>
                    <a:pt x="0" y="8509"/>
                    <a:pt x="8509" y="0"/>
                    <a:pt x="19050" y="0"/>
                  </a:cubicBezTo>
                  <a:lnTo>
                    <a:pt x="1001522" y="0"/>
                  </a:lnTo>
                  <a:cubicBezTo>
                    <a:pt x="1012063" y="0"/>
                    <a:pt x="1020572" y="8509"/>
                    <a:pt x="1020572" y="19050"/>
                  </a:cubicBezTo>
                  <a:cubicBezTo>
                    <a:pt x="1020572" y="29591"/>
                    <a:pt x="1012063" y="38100"/>
                    <a:pt x="1001522" y="38100"/>
                  </a:cubicBezTo>
                  <a:lnTo>
                    <a:pt x="19050" y="38100"/>
                  </a:lnTo>
                  <a:cubicBezTo>
                    <a:pt x="8509" y="38100"/>
                    <a:pt x="0" y="29591"/>
                    <a:pt x="0" y="19050"/>
                  </a:cubicBezTo>
                  <a:close/>
                </a:path>
              </a:pathLst>
            </a:custGeom>
            <a:solidFill>
              <a:srgbClr val="E5B2B2"/>
            </a:solidFill>
          </p:spPr>
        </p:sp>
      </p:grpSp>
      <p:grpSp>
        <p:nvGrpSpPr>
          <p:cNvPr id="33" name="Group 33"/>
          <p:cNvGrpSpPr/>
          <p:nvPr/>
        </p:nvGrpSpPr>
        <p:grpSpPr>
          <a:xfrm>
            <a:off x="8852221" y="7211768"/>
            <a:ext cx="583559" cy="583559"/>
            <a:chOff x="0" y="0"/>
            <a:chExt cx="778078" cy="778078"/>
          </a:xfrm>
        </p:grpSpPr>
        <p:sp>
          <p:nvSpPr>
            <p:cNvPr id="34" name="Freeform 34"/>
            <p:cNvSpPr/>
            <p:nvPr/>
          </p:nvSpPr>
          <p:spPr>
            <a:xfrm>
              <a:off x="6350" y="6350"/>
              <a:ext cx="765302" cy="765302"/>
            </a:xfrm>
            <a:custGeom>
              <a:avLst/>
              <a:gdLst/>
              <a:ahLst/>
              <a:cxnLst/>
              <a:rect l="l" t="t" r="r" b="b"/>
              <a:pathLst>
                <a:path w="765302" h="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FFCCCC"/>
            </a:solidFill>
          </p:spPr>
        </p:sp>
        <p:sp>
          <p:nvSpPr>
            <p:cNvPr id="35" name="Freeform 35"/>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E5B2B2"/>
            </a:solidFill>
          </p:spPr>
        </p:sp>
      </p:grpSp>
      <p:sp>
        <p:nvSpPr>
          <p:cNvPr id="36" name="TextBox 36"/>
          <p:cNvSpPr txBox="1"/>
          <p:nvPr/>
        </p:nvSpPr>
        <p:spPr>
          <a:xfrm>
            <a:off x="8952605" y="7321448"/>
            <a:ext cx="382638" cy="421186"/>
          </a:xfrm>
          <a:prstGeom prst="rect">
            <a:avLst/>
          </a:prstGeom>
        </p:spPr>
        <p:txBody>
          <a:bodyPr lIns="0" tIns="0" rIns="0" bIns="0" rtlCol="0" anchor="t">
            <a:spAutoFit/>
          </a:bodyPr>
          <a:lstStyle/>
          <a:p>
            <a:pPr algn="ctr">
              <a:lnSpc>
                <a:spcPts val="3000"/>
              </a:lnSpc>
            </a:pPr>
            <a:r>
              <a:rPr lang="en-US" sz="3000" b="1">
                <a:solidFill>
                  <a:srgbClr val="000099"/>
                </a:solidFill>
                <a:latin typeface="Open Sans 1 Bold"/>
                <a:ea typeface="Open Sans 1 Bold"/>
                <a:cs typeface="Open Sans 1 Bold"/>
                <a:sym typeface="Open Sans 1 Bold"/>
              </a:rPr>
              <a:t>4</a:t>
            </a:r>
          </a:p>
        </p:txBody>
      </p:sp>
      <p:sp>
        <p:nvSpPr>
          <p:cNvPr id="37" name="TextBox 37"/>
          <p:cNvSpPr txBox="1"/>
          <p:nvPr/>
        </p:nvSpPr>
        <p:spPr>
          <a:xfrm>
            <a:off x="10419902" y="7285139"/>
            <a:ext cx="3189684" cy="417614"/>
          </a:xfrm>
          <a:prstGeom prst="rect">
            <a:avLst/>
          </a:prstGeom>
        </p:spPr>
        <p:txBody>
          <a:bodyPr lIns="0" tIns="0" rIns="0" bIns="0" rtlCol="0" anchor="t">
            <a:spAutoFit/>
          </a:bodyPr>
          <a:lstStyle/>
          <a:p>
            <a:pPr algn="l">
              <a:lnSpc>
                <a:spcPts val="3124"/>
              </a:lnSpc>
            </a:pPr>
            <a:r>
              <a:rPr lang="en-US" sz="2499" b="1">
                <a:solidFill>
                  <a:srgbClr val="000099"/>
                </a:solidFill>
                <a:latin typeface="Open Sans 1 Bold"/>
                <a:ea typeface="Open Sans 1 Bold"/>
                <a:cs typeface="Open Sans 1 Bold"/>
                <a:sym typeface="Open Sans 1 Bold"/>
              </a:rPr>
              <a:t>QR Code Thép Hộp</a:t>
            </a:r>
          </a:p>
        </p:txBody>
      </p:sp>
      <p:sp>
        <p:nvSpPr>
          <p:cNvPr id="38" name="TextBox 38"/>
          <p:cNvSpPr txBox="1"/>
          <p:nvPr/>
        </p:nvSpPr>
        <p:spPr>
          <a:xfrm>
            <a:off x="10419902" y="7779544"/>
            <a:ext cx="6875859" cy="892969"/>
          </a:xfrm>
          <a:prstGeom prst="rect">
            <a:avLst/>
          </a:prstGeom>
        </p:spPr>
        <p:txBody>
          <a:bodyPr lIns="0" tIns="0" rIns="0" bIns="0" rtlCol="0" anchor="t">
            <a:spAutoFit/>
          </a:bodyPr>
          <a:lstStyle/>
          <a:p>
            <a:pPr algn="l">
              <a:lnSpc>
                <a:spcPts val="3187"/>
              </a:lnSpc>
            </a:pPr>
            <a:r>
              <a:rPr lang="en-US" sz="2000" b="1">
                <a:solidFill>
                  <a:srgbClr val="000099"/>
                </a:solidFill>
                <a:latin typeface="Open Sans 1 Bold"/>
                <a:ea typeface="Open Sans 1 Bold"/>
                <a:cs typeface="Open Sans 1 Bold"/>
                <a:sym typeface="Open Sans 1 Bold"/>
              </a:rPr>
              <a:t>Hợp đồng triển khai đã hoàn thành ký duyệt</a:t>
            </a:r>
            <a:r>
              <a:rPr lang="en-US" sz="2000">
                <a:solidFill>
                  <a:srgbClr val="000099"/>
                </a:solidFill>
                <a:latin typeface="Open Sans 1"/>
                <a:ea typeface="Open Sans 1"/>
                <a:cs typeface="Open Sans 1"/>
                <a:sym typeface="Open Sans 1"/>
              </a:rPr>
              <a:t>, chính thức bắt đầu dự án số hóa quản lý sản phẩm.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1940566"/>
            <a:ext cx="16303523" cy="1800520"/>
          </a:xfrm>
          <a:prstGeom prst="rect">
            <a:avLst/>
          </a:prstGeom>
        </p:spPr>
        <p:txBody>
          <a:bodyPr lIns="0" tIns="0" rIns="0" bIns="0" rtlCol="0" anchor="t">
            <a:spAutoFit/>
          </a:bodyPr>
          <a:lstStyle/>
          <a:p>
            <a:pPr algn="l">
              <a:lnSpc>
                <a:spcPts val="6937"/>
              </a:lnSpc>
            </a:pPr>
            <a:r>
              <a:rPr lang="en-US" sz="5562" b="1">
                <a:solidFill>
                  <a:srgbClr val="FF0000"/>
                </a:solidFill>
                <a:latin typeface="Open Sans 1 Bold"/>
                <a:ea typeface="Open Sans 1 Bold"/>
                <a:cs typeface="Open Sans 1 Bold"/>
                <a:sym typeface="Open Sans 1 Bold"/>
              </a:rPr>
              <a:t>C. KẾT QUẢ CÔNG VIỆC EOFFICE – HCM &amp; PHÁT SINH</a:t>
            </a:r>
          </a:p>
        </p:txBody>
      </p:sp>
      <p:grpSp>
        <p:nvGrpSpPr>
          <p:cNvPr id="4" name="Group 4"/>
          <p:cNvGrpSpPr/>
          <p:nvPr/>
        </p:nvGrpSpPr>
        <p:grpSpPr>
          <a:xfrm>
            <a:off x="987476" y="4303366"/>
            <a:ext cx="16313048" cy="4019102"/>
            <a:chOff x="0" y="0"/>
            <a:chExt cx="21750731" cy="5358803"/>
          </a:xfrm>
        </p:grpSpPr>
        <p:sp>
          <p:nvSpPr>
            <p:cNvPr id="5" name="Freeform 5"/>
            <p:cNvSpPr/>
            <p:nvPr/>
          </p:nvSpPr>
          <p:spPr>
            <a:xfrm>
              <a:off x="6350" y="6350"/>
              <a:ext cx="21737955" cy="5346065"/>
            </a:xfrm>
            <a:custGeom>
              <a:avLst/>
              <a:gdLst/>
              <a:ahLst/>
              <a:cxnLst/>
              <a:rect l="l" t="t" r="r" b="b"/>
              <a:pathLst>
                <a:path w="21737955" h="5346065">
                  <a:moveTo>
                    <a:pt x="0" y="158750"/>
                  </a:moveTo>
                  <a:cubicBezTo>
                    <a:pt x="0" y="71120"/>
                    <a:pt x="71247" y="0"/>
                    <a:pt x="159004" y="0"/>
                  </a:cubicBezTo>
                  <a:lnTo>
                    <a:pt x="21578951" y="0"/>
                  </a:lnTo>
                  <a:cubicBezTo>
                    <a:pt x="21666836" y="0"/>
                    <a:pt x="21737955" y="71120"/>
                    <a:pt x="21737955" y="158750"/>
                  </a:cubicBezTo>
                  <a:lnTo>
                    <a:pt x="21737955" y="5187315"/>
                  </a:lnTo>
                  <a:cubicBezTo>
                    <a:pt x="21737955" y="5274945"/>
                    <a:pt x="21666708" y="5346065"/>
                    <a:pt x="21578951" y="5346065"/>
                  </a:cubicBezTo>
                  <a:lnTo>
                    <a:pt x="159004" y="5346065"/>
                  </a:lnTo>
                  <a:cubicBezTo>
                    <a:pt x="71120" y="5346065"/>
                    <a:pt x="0" y="5274945"/>
                    <a:pt x="0" y="5187315"/>
                  </a:cubicBezTo>
                  <a:close/>
                </a:path>
              </a:pathLst>
            </a:custGeom>
            <a:solidFill>
              <a:srgbClr val="FFCCCC"/>
            </a:solidFill>
          </p:spPr>
        </p:sp>
        <p:sp>
          <p:nvSpPr>
            <p:cNvPr id="6" name="Freeform 6"/>
            <p:cNvSpPr/>
            <p:nvPr/>
          </p:nvSpPr>
          <p:spPr>
            <a:xfrm>
              <a:off x="0" y="0"/>
              <a:ext cx="21750655" cy="5358765"/>
            </a:xfrm>
            <a:custGeom>
              <a:avLst/>
              <a:gdLst/>
              <a:ahLst/>
              <a:cxnLst/>
              <a:rect l="l" t="t" r="r" b="b"/>
              <a:pathLst>
                <a:path w="21750655" h="5358765">
                  <a:moveTo>
                    <a:pt x="0" y="165100"/>
                  </a:moveTo>
                  <a:cubicBezTo>
                    <a:pt x="0" y="73914"/>
                    <a:pt x="74041" y="0"/>
                    <a:pt x="165354" y="0"/>
                  </a:cubicBezTo>
                  <a:lnTo>
                    <a:pt x="21585301" y="0"/>
                  </a:lnTo>
                  <a:lnTo>
                    <a:pt x="21585301" y="6350"/>
                  </a:lnTo>
                  <a:lnTo>
                    <a:pt x="21585301" y="0"/>
                  </a:lnTo>
                  <a:cubicBezTo>
                    <a:pt x="21676615" y="0"/>
                    <a:pt x="21750655" y="73914"/>
                    <a:pt x="21750655" y="165100"/>
                  </a:cubicBezTo>
                  <a:lnTo>
                    <a:pt x="21744305" y="165100"/>
                  </a:lnTo>
                  <a:lnTo>
                    <a:pt x="21750655" y="165100"/>
                  </a:lnTo>
                  <a:lnTo>
                    <a:pt x="21750655" y="5193665"/>
                  </a:lnTo>
                  <a:lnTo>
                    <a:pt x="21744305" y="5193665"/>
                  </a:lnTo>
                  <a:lnTo>
                    <a:pt x="21750655" y="5193665"/>
                  </a:lnTo>
                  <a:cubicBezTo>
                    <a:pt x="21750655" y="5284851"/>
                    <a:pt x="21676615" y="5358765"/>
                    <a:pt x="21585301" y="5358765"/>
                  </a:cubicBezTo>
                  <a:lnTo>
                    <a:pt x="21585301" y="5352415"/>
                  </a:lnTo>
                  <a:lnTo>
                    <a:pt x="21585301" y="5358765"/>
                  </a:lnTo>
                  <a:lnTo>
                    <a:pt x="165354" y="5358765"/>
                  </a:lnTo>
                  <a:lnTo>
                    <a:pt x="165354" y="5352415"/>
                  </a:lnTo>
                  <a:lnTo>
                    <a:pt x="165354" y="5358765"/>
                  </a:lnTo>
                  <a:cubicBezTo>
                    <a:pt x="74041" y="5358765"/>
                    <a:pt x="0" y="5284851"/>
                    <a:pt x="0" y="5193665"/>
                  </a:cubicBezTo>
                  <a:lnTo>
                    <a:pt x="0" y="165100"/>
                  </a:lnTo>
                  <a:lnTo>
                    <a:pt x="6350" y="165100"/>
                  </a:lnTo>
                  <a:lnTo>
                    <a:pt x="0" y="165100"/>
                  </a:lnTo>
                  <a:moveTo>
                    <a:pt x="12700" y="165100"/>
                  </a:moveTo>
                  <a:lnTo>
                    <a:pt x="12700" y="5193665"/>
                  </a:lnTo>
                  <a:lnTo>
                    <a:pt x="6350" y="5193665"/>
                  </a:lnTo>
                  <a:lnTo>
                    <a:pt x="12700" y="5193665"/>
                  </a:lnTo>
                  <a:cubicBezTo>
                    <a:pt x="12700" y="5277866"/>
                    <a:pt x="81026" y="5346065"/>
                    <a:pt x="165354" y="5346065"/>
                  </a:cubicBezTo>
                  <a:lnTo>
                    <a:pt x="21585301" y="5346065"/>
                  </a:lnTo>
                  <a:cubicBezTo>
                    <a:pt x="21669629" y="5346065"/>
                    <a:pt x="21737955" y="5277866"/>
                    <a:pt x="21737955" y="5193665"/>
                  </a:cubicBezTo>
                  <a:lnTo>
                    <a:pt x="21737955" y="165100"/>
                  </a:lnTo>
                  <a:cubicBezTo>
                    <a:pt x="21737955" y="80899"/>
                    <a:pt x="21669629" y="12700"/>
                    <a:pt x="21585301" y="12700"/>
                  </a:cubicBezTo>
                  <a:lnTo>
                    <a:pt x="165354" y="12700"/>
                  </a:lnTo>
                  <a:lnTo>
                    <a:pt x="165354" y="6350"/>
                  </a:lnTo>
                  <a:lnTo>
                    <a:pt x="165354" y="12700"/>
                  </a:lnTo>
                  <a:cubicBezTo>
                    <a:pt x="81026" y="12700"/>
                    <a:pt x="12700" y="80899"/>
                    <a:pt x="12700" y="165100"/>
                  </a:cubicBezTo>
                  <a:close/>
                </a:path>
              </a:pathLst>
            </a:custGeom>
            <a:solidFill>
              <a:srgbClr val="E5B2B2"/>
            </a:solidFill>
          </p:spPr>
        </p:sp>
      </p:grpSp>
      <p:grpSp>
        <p:nvGrpSpPr>
          <p:cNvPr id="7" name="Group 7"/>
          <p:cNvGrpSpPr/>
          <p:nvPr/>
        </p:nvGrpSpPr>
        <p:grpSpPr>
          <a:xfrm>
            <a:off x="1001763" y="4317654"/>
            <a:ext cx="5428059" cy="3990527"/>
            <a:chOff x="0" y="0"/>
            <a:chExt cx="7237412" cy="5320703"/>
          </a:xfrm>
        </p:grpSpPr>
        <p:sp>
          <p:nvSpPr>
            <p:cNvPr id="8" name="Freeform 8"/>
            <p:cNvSpPr/>
            <p:nvPr/>
          </p:nvSpPr>
          <p:spPr>
            <a:xfrm>
              <a:off x="0" y="0"/>
              <a:ext cx="7237349" cy="5320665"/>
            </a:xfrm>
            <a:custGeom>
              <a:avLst/>
              <a:gdLst/>
              <a:ahLst/>
              <a:cxnLst/>
              <a:rect l="l" t="t" r="r" b="b"/>
              <a:pathLst>
                <a:path w="7237349" h="5320665">
                  <a:moveTo>
                    <a:pt x="0" y="158750"/>
                  </a:moveTo>
                  <a:cubicBezTo>
                    <a:pt x="0" y="71120"/>
                    <a:pt x="71120" y="0"/>
                    <a:pt x="158750" y="0"/>
                  </a:cubicBezTo>
                  <a:lnTo>
                    <a:pt x="7078599" y="0"/>
                  </a:lnTo>
                  <a:cubicBezTo>
                    <a:pt x="7166229" y="0"/>
                    <a:pt x="7237349" y="71120"/>
                    <a:pt x="7237349" y="158750"/>
                  </a:cubicBezTo>
                  <a:lnTo>
                    <a:pt x="7237349" y="5161915"/>
                  </a:lnTo>
                  <a:cubicBezTo>
                    <a:pt x="7237349" y="5249545"/>
                    <a:pt x="7166229" y="5320665"/>
                    <a:pt x="7078599" y="5320665"/>
                  </a:cubicBezTo>
                  <a:lnTo>
                    <a:pt x="158750" y="5320665"/>
                  </a:lnTo>
                  <a:cubicBezTo>
                    <a:pt x="71120" y="5320665"/>
                    <a:pt x="0" y="5249545"/>
                    <a:pt x="0" y="5161915"/>
                  </a:cubicBezTo>
                  <a:close/>
                </a:path>
              </a:pathLst>
            </a:custGeom>
            <a:solidFill>
              <a:srgbClr val="FFCCCC"/>
            </a:solidFill>
          </p:spPr>
        </p:sp>
      </p:grpSp>
      <p:sp>
        <p:nvSpPr>
          <p:cNvPr id="9" name="TextBox 9"/>
          <p:cNvSpPr txBox="1"/>
          <p:nvPr/>
        </p:nvSpPr>
        <p:spPr>
          <a:xfrm>
            <a:off x="1285284" y="4582116"/>
            <a:ext cx="4252912" cy="550659"/>
          </a:xfrm>
          <a:prstGeom prst="rect">
            <a:avLst/>
          </a:prstGeom>
        </p:spPr>
        <p:txBody>
          <a:bodyPr lIns="0" tIns="0" rIns="0" bIns="0" rtlCol="0" anchor="t">
            <a:spAutoFit/>
          </a:bodyPr>
          <a:lstStyle/>
          <a:p>
            <a:pPr algn="l">
              <a:lnSpc>
                <a:spcPts val="4125"/>
              </a:lnSpc>
            </a:pPr>
            <a:r>
              <a:rPr lang="en-US" sz="3312" b="1">
                <a:solidFill>
                  <a:srgbClr val="000099"/>
                </a:solidFill>
                <a:latin typeface="Open Sans 1 Bold"/>
                <a:ea typeface="Open Sans 1 Bold"/>
                <a:cs typeface="Open Sans 1 Bold"/>
                <a:sym typeface="Open Sans 1 Bold"/>
              </a:rPr>
              <a:t>EOFFICE &amp; HCM</a:t>
            </a:r>
          </a:p>
        </p:txBody>
      </p:sp>
      <p:sp>
        <p:nvSpPr>
          <p:cNvPr id="10" name="TextBox 10"/>
          <p:cNvSpPr txBox="1"/>
          <p:nvPr/>
        </p:nvSpPr>
        <p:spPr>
          <a:xfrm>
            <a:off x="1285284" y="5217166"/>
            <a:ext cx="4861027" cy="2807494"/>
          </a:xfrm>
          <a:prstGeom prst="rect">
            <a:avLst/>
          </a:prstGeom>
        </p:spPr>
        <p:txBody>
          <a:bodyPr lIns="0" tIns="0" rIns="0" bIns="0" rtlCol="0" anchor="t">
            <a:spAutoFit/>
          </a:bodyPr>
          <a:lstStyle/>
          <a:p>
            <a:pPr algn="l">
              <a:lnSpc>
                <a:spcPts val="3562"/>
              </a:lnSpc>
            </a:pPr>
            <a:r>
              <a:rPr lang="en-US" sz="2187">
                <a:solidFill>
                  <a:srgbClr val="000099"/>
                </a:solidFill>
                <a:latin typeface="Open Sans 1"/>
                <a:ea typeface="Open Sans 1"/>
                <a:cs typeface="Open Sans 1"/>
                <a:sym typeface="Open Sans 1"/>
              </a:rPr>
              <a:t>Đã thực hiện điều chỉnh phòng/ban và thay đổi chức danh trên hệ thống theo Cơ cấu tổ chức mới của Khối Sản Xuất và Phòng Quản lý kho, đảm bảo dữ liệu nhân sự đồng bộ và chính xác.</a:t>
            </a:r>
          </a:p>
        </p:txBody>
      </p:sp>
      <p:grpSp>
        <p:nvGrpSpPr>
          <p:cNvPr id="11" name="Group 11"/>
          <p:cNvGrpSpPr/>
          <p:nvPr/>
        </p:nvGrpSpPr>
        <p:grpSpPr>
          <a:xfrm>
            <a:off x="6429823" y="4317654"/>
            <a:ext cx="5428212" cy="3990527"/>
            <a:chOff x="0" y="0"/>
            <a:chExt cx="7237616" cy="5320703"/>
          </a:xfrm>
        </p:grpSpPr>
        <p:sp>
          <p:nvSpPr>
            <p:cNvPr id="12" name="Freeform 12"/>
            <p:cNvSpPr/>
            <p:nvPr/>
          </p:nvSpPr>
          <p:spPr>
            <a:xfrm>
              <a:off x="0" y="0"/>
              <a:ext cx="7237603" cy="5320665"/>
            </a:xfrm>
            <a:custGeom>
              <a:avLst/>
              <a:gdLst/>
              <a:ahLst/>
              <a:cxnLst/>
              <a:rect l="l" t="t" r="r" b="b"/>
              <a:pathLst>
                <a:path w="7237603" h="5320665">
                  <a:moveTo>
                    <a:pt x="0" y="0"/>
                  </a:moveTo>
                  <a:lnTo>
                    <a:pt x="7237603" y="0"/>
                  </a:lnTo>
                  <a:lnTo>
                    <a:pt x="7237603" y="5320665"/>
                  </a:lnTo>
                  <a:lnTo>
                    <a:pt x="0" y="5320665"/>
                  </a:lnTo>
                  <a:close/>
                </a:path>
              </a:pathLst>
            </a:custGeom>
            <a:solidFill>
              <a:srgbClr val="FFCCCC"/>
            </a:solidFill>
          </p:spPr>
        </p:sp>
      </p:grpSp>
      <p:grpSp>
        <p:nvGrpSpPr>
          <p:cNvPr id="13" name="Group 13"/>
          <p:cNvGrpSpPr/>
          <p:nvPr/>
        </p:nvGrpSpPr>
        <p:grpSpPr>
          <a:xfrm>
            <a:off x="6429823" y="4317654"/>
            <a:ext cx="38100" cy="3990527"/>
            <a:chOff x="0" y="0"/>
            <a:chExt cx="50800" cy="5320703"/>
          </a:xfrm>
        </p:grpSpPr>
        <p:sp>
          <p:nvSpPr>
            <p:cNvPr id="14" name="Freeform 14"/>
            <p:cNvSpPr/>
            <p:nvPr/>
          </p:nvSpPr>
          <p:spPr>
            <a:xfrm>
              <a:off x="0" y="0"/>
              <a:ext cx="50800" cy="5320665"/>
            </a:xfrm>
            <a:custGeom>
              <a:avLst/>
              <a:gdLst/>
              <a:ahLst/>
              <a:cxnLst/>
              <a:rect l="l" t="t" r="r" b="b"/>
              <a:pathLst>
                <a:path w="50800" h="5320665">
                  <a:moveTo>
                    <a:pt x="0" y="25400"/>
                  </a:moveTo>
                  <a:cubicBezTo>
                    <a:pt x="0" y="11430"/>
                    <a:pt x="11430" y="0"/>
                    <a:pt x="25400" y="0"/>
                  </a:cubicBezTo>
                  <a:cubicBezTo>
                    <a:pt x="39370" y="0"/>
                    <a:pt x="50800" y="11430"/>
                    <a:pt x="50800" y="25400"/>
                  </a:cubicBezTo>
                  <a:lnTo>
                    <a:pt x="50800" y="5295265"/>
                  </a:lnTo>
                  <a:cubicBezTo>
                    <a:pt x="50800" y="5309235"/>
                    <a:pt x="39370" y="5320665"/>
                    <a:pt x="25400" y="5320665"/>
                  </a:cubicBezTo>
                  <a:cubicBezTo>
                    <a:pt x="11430" y="5320665"/>
                    <a:pt x="0" y="5309235"/>
                    <a:pt x="0" y="5295265"/>
                  </a:cubicBezTo>
                  <a:close/>
                </a:path>
              </a:pathLst>
            </a:custGeom>
            <a:solidFill>
              <a:srgbClr val="E5B2B2"/>
            </a:solidFill>
          </p:spPr>
        </p:sp>
      </p:grpSp>
      <p:sp>
        <p:nvSpPr>
          <p:cNvPr id="15" name="TextBox 15"/>
          <p:cNvSpPr txBox="1"/>
          <p:nvPr/>
        </p:nvSpPr>
        <p:spPr>
          <a:xfrm>
            <a:off x="6713334" y="4582116"/>
            <a:ext cx="4861169" cy="1082278"/>
          </a:xfrm>
          <a:prstGeom prst="rect">
            <a:avLst/>
          </a:prstGeom>
        </p:spPr>
        <p:txBody>
          <a:bodyPr lIns="0" tIns="0" rIns="0" bIns="0" rtlCol="0" anchor="t">
            <a:spAutoFit/>
          </a:bodyPr>
          <a:lstStyle/>
          <a:p>
            <a:pPr algn="l">
              <a:lnSpc>
                <a:spcPts val="4125"/>
              </a:lnSpc>
            </a:pPr>
            <a:r>
              <a:rPr lang="en-US" sz="3312" b="1">
                <a:solidFill>
                  <a:srgbClr val="000099"/>
                </a:solidFill>
                <a:latin typeface="Open Sans 1 Bold"/>
                <a:ea typeface="Open Sans 1 Bold"/>
                <a:cs typeface="Open Sans 1 Bold"/>
                <a:sym typeface="Open Sans 1 Bold"/>
              </a:rPr>
              <a:t>Ngừng Kho Trung Chuyển (ERP)</a:t>
            </a:r>
          </a:p>
        </p:txBody>
      </p:sp>
      <p:sp>
        <p:nvSpPr>
          <p:cNvPr id="16" name="TextBox 16"/>
          <p:cNvSpPr txBox="1"/>
          <p:nvPr/>
        </p:nvSpPr>
        <p:spPr>
          <a:xfrm>
            <a:off x="6713334" y="5748785"/>
            <a:ext cx="4861169" cy="1900237"/>
          </a:xfrm>
          <a:prstGeom prst="rect">
            <a:avLst/>
          </a:prstGeom>
        </p:spPr>
        <p:txBody>
          <a:bodyPr lIns="0" tIns="0" rIns="0" bIns="0" rtlCol="0" anchor="t">
            <a:spAutoFit/>
          </a:bodyPr>
          <a:lstStyle/>
          <a:p>
            <a:pPr algn="l">
              <a:lnSpc>
                <a:spcPts val="3562"/>
              </a:lnSpc>
            </a:pPr>
            <a:r>
              <a:rPr lang="en-US" sz="2187">
                <a:solidFill>
                  <a:srgbClr val="000099"/>
                </a:solidFill>
                <a:latin typeface="Open Sans 1"/>
                <a:ea typeface="Open Sans 1"/>
                <a:cs typeface="Open Sans 1"/>
                <a:sym typeface="Open Sans 1"/>
              </a:rPr>
              <a:t>Thông báo </a:t>
            </a:r>
            <a:r>
              <a:rPr lang="en-US" sz="2187" b="1">
                <a:solidFill>
                  <a:srgbClr val="000099"/>
                </a:solidFill>
                <a:latin typeface="Open Sans 1 Bold"/>
                <a:ea typeface="Open Sans 1 Bold"/>
                <a:cs typeface="Open Sans 1 Bold"/>
                <a:sym typeface="Open Sans 1 Bold"/>
              </a:rPr>
              <a:t>ngưng sử dụng kho trung chuyển</a:t>
            </a:r>
            <a:r>
              <a:rPr lang="en-US" sz="2187">
                <a:solidFill>
                  <a:srgbClr val="000099"/>
                </a:solidFill>
                <a:latin typeface="Open Sans 1"/>
                <a:ea typeface="Open Sans 1"/>
                <a:cs typeface="Open Sans 1"/>
                <a:sym typeface="Open Sans 1"/>
              </a:rPr>
              <a:t> trên hệ thống ERP chính thức từ ngày </a:t>
            </a:r>
            <a:r>
              <a:rPr lang="en-US" sz="2187">
                <a:solidFill>
                  <a:srgbClr val="FF0101"/>
                </a:solidFill>
                <a:latin typeface="Open Sans 1"/>
                <a:ea typeface="Open Sans 1"/>
                <a:cs typeface="Open Sans 1"/>
                <a:sym typeface="Open Sans 1"/>
              </a:rPr>
              <a:t>01/11/2025</a:t>
            </a:r>
            <a:r>
              <a:rPr lang="en-US" sz="2187">
                <a:solidFill>
                  <a:srgbClr val="000099"/>
                </a:solidFill>
                <a:latin typeface="Open Sans 1"/>
                <a:ea typeface="Open Sans 1"/>
                <a:cs typeface="Open Sans 1"/>
                <a:sym typeface="Open Sans 1"/>
              </a:rPr>
              <a:t>, tối ưu hóa quy trình quản lý kho hàng.</a:t>
            </a:r>
          </a:p>
        </p:txBody>
      </p:sp>
      <p:grpSp>
        <p:nvGrpSpPr>
          <p:cNvPr id="17" name="Group 17"/>
          <p:cNvGrpSpPr/>
          <p:nvPr/>
        </p:nvGrpSpPr>
        <p:grpSpPr>
          <a:xfrm>
            <a:off x="11858034" y="4317654"/>
            <a:ext cx="5428212" cy="3990527"/>
            <a:chOff x="0" y="0"/>
            <a:chExt cx="7237616" cy="5320703"/>
          </a:xfrm>
        </p:grpSpPr>
        <p:sp>
          <p:nvSpPr>
            <p:cNvPr id="18" name="Freeform 18"/>
            <p:cNvSpPr/>
            <p:nvPr/>
          </p:nvSpPr>
          <p:spPr>
            <a:xfrm>
              <a:off x="0" y="0"/>
              <a:ext cx="7237603" cy="5320665"/>
            </a:xfrm>
            <a:custGeom>
              <a:avLst/>
              <a:gdLst/>
              <a:ahLst/>
              <a:cxnLst/>
              <a:rect l="l" t="t" r="r" b="b"/>
              <a:pathLst>
                <a:path w="7237603" h="5320665">
                  <a:moveTo>
                    <a:pt x="0" y="0"/>
                  </a:moveTo>
                  <a:lnTo>
                    <a:pt x="7237603" y="0"/>
                  </a:lnTo>
                  <a:lnTo>
                    <a:pt x="7237603" y="5320665"/>
                  </a:lnTo>
                  <a:lnTo>
                    <a:pt x="0" y="5320665"/>
                  </a:lnTo>
                  <a:close/>
                </a:path>
              </a:pathLst>
            </a:custGeom>
            <a:solidFill>
              <a:srgbClr val="FFCCCC"/>
            </a:solidFill>
          </p:spPr>
        </p:sp>
      </p:grpSp>
      <p:grpSp>
        <p:nvGrpSpPr>
          <p:cNvPr id="19" name="Group 19"/>
          <p:cNvGrpSpPr/>
          <p:nvPr/>
        </p:nvGrpSpPr>
        <p:grpSpPr>
          <a:xfrm>
            <a:off x="11858034" y="4317654"/>
            <a:ext cx="38100" cy="3990527"/>
            <a:chOff x="0" y="0"/>
            <a:chExt cx="50800" cy="5320703"/>
          </a:xfrm>
        </p:grpSpPr>
        <p:sp>
          <p:nvSpPr>
            <p:cNvPr id="20" name="Freeform 20"/>
            <p:cNvSpPr/>
            <p:nvPr/>
          </p:nvSpPr>
          <p:spPr>
            <a:xfrm>
              <a:off x="0" y="0"/>
              <a:ext cx="50800" cy="5320665"/>
            </a:xfrm>
            <a:custGeom>
              <a:avLst/>
              <a:gdLst/>
              <a:ahLst/>
              <a:cxnLst/>
              <a:rect l="l" t="t" r="r" b="b"/>
              <a:pathLst>
                <a:path w="50800" h="5320665">
                  <a:moveTo>
                    <a:pt x="0" y="25400"/>
                  </a:moveTo>
                  <a:cubicBezTo>
                    <a:pt x="0" y="11430"/>
                    <a:pt x="11430" y="0"/>
                    <a:pt x="25400" y="0"/>
                  </a:cubicBezTo>
                  <a:cubicBezTo>
                    <a:pt x="39370" y="0"/>
                    <a:pt x="50800" y="11430"/>
                    <a:pt x="50800" y="25400"/>
                  </a:cubicBezTo>
                  <a:lnTo>
                    <a:pt x="50800" y="5295265"/>
                  </a:lnTo>
                  <a:cubicBezTo>
                    <a:pt x="50800" y="5309235"/>
                    <a:pt x="39370" y="5320665"/>
                    <a:pt x="25400" y="5320665"/>
                  </a:cubicBezTo>
                  <a:cubicBezTo>
                    <a:pt x="11430" y="5320665"/>
                    <a:pt x="0" y="5309235"/>
                    <a:pt x="0" y="5295265"/>
                  </a:cubicBezTo>
                  <a:close/>
                </a:path>
              </a:pathLst>
            </a:custGeom>
            <a:solidFill>
              <a:srgbClr val="E5B2B2"/>
            </a:solidFill>
          </p:spPr>
        </p:sp>
      </p:grpSp>
      <p:sp>
        <p:nvSpPr>
          <p:cNvPr id="21" name="TextBox 21"/>
          <p:cNvSpPr txBox="1"/>
          <p:nvPr/>
        </p:nvSpPr>
        <p:spPr>
          <a:xfrm>
            <a:off x="12141546" y="4582116"/>
            <a:ext cx="4861169" cy="1082278"/>
          </a:xfrm>
          <a:prstGeom prst="rect">
            <a:avLst/>
          </a:prstGeom>
        </p:spPr>
        <p:txBody>
          <a:bodyPr lIns="0" tIns="0" rIns="0" bIns="0" rtlCol="0" anchor="t">
            <a:spAutoFit/>
          </a:bodyPr>
          <a:lstStyle/>
          <a:p>
            <a:pPr algn="l">
              <a:lnSpc>
                <a:spcPts val="4125"/>
              </a:lnSpc>
            </a:pPr>
            <a:r>
              <a:rPr lang="en-US" sz="3312" b="1">
                <a:solidFill>
                  <a:srgbClr val="000099"/>
                </a:solidFill>
                <a:latin typeface="Open Sans 1 Bold"/>
                <a:ea typeface="Open Sans 1 Bold"/>
                <a:cs typeface="Open Sans 1 Bold"/>
                <a:sym typeface="Open Sans 1 Bold"/>
              </a:rPr>
              <a:t>Chiết Khấu Bán Hàng (CKBH)</a:t>
            </a:r>
          </a:p>
        </p:txBody>
      </p:sp>
      <p:sp>
        <p:nvSpPr>
          <p:cNvPr id="22" name="TextBox 22"/>
          <p:cNvSpPr txBox="1"/>
          <p:nvPr/>
        </p:nvSpPr>
        <p:spPr>
          <a:xfrm>
            <a:off x="12141546" y="5748785"/>
            <a:ext cx="4861169" cy="1900237"/>
          </a:xfrm>
          <a:prstGeom prst="rect">
            <a:avLst/>
          </a:prstGeom>
        </p:spPr>
        <p:txBody>
          <a:bodyPr lIns="0" tIns="0" rIns="0" bIns="0" rtlCol="0" anchor="t">
            <a:spAutoFit/>
          </a:bodyPr>
          <a:lstStyle/>
          <a:p>
            <a:pPr algn="l">
              <a:lnSpc>
                <a:spcPts val="3562"/>
              </a:lnSpc>
            </a:pPr>
            <a:r>
              <a:rPr lang="en-US" sz="2187">
                <a:solidFill>
                  <a:srgbClr val="000099"/>
                </a:solidFill>
                <a:latin typeface="Open Sans 1"/>
                <a:ea typeface="Open Sans 1"/>
                <a:cs typeface="Open Sans 1"/>
                <a:sym typeface="Open Sans 1"/>
              </a:rPr>
              <a:t>Đã tổ chức họp trao đổi phạm vi phát sinh các Change Request (CR) sau Golive với đối tác iERP, chuẩn bị cho các đợt điều chỉnh tiếp theo.</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806348"/>
            <a:ext cx="11394281" cy="667788"/>
          </a:xfrm>
          <a:prstGeom prst="rect">
            <a:avLst/>
          </a:prstGeom>
        </p:spPr>
        <p:txBody>
          <a:bodyPr lIns="0" tIns="0" rIns="0" bIns="0" rtlCol="0" anchor="t">
            <a:spAutoFit/>
          </a:bodyPr>
          <a:lstStyle/>
          <a:p>
            <a:pPr algn="l">
              <a:lnSpc>
                <a:spcPts val="4875"/>
              </a:lnSpc>
            </a:pPr>
            <a:r>
              <a:rPr lang="en-US" sz="3875" b="1">
                <a:solidFill>
                  <a:srgbClr val="FF0000"/>
                </a:solidFill>
                <a:latin typeface="Open Sans 1 Bold"/>
                <a:ea typeface="Open Sans 1 Bold"/>
                <a:cs typeface="Open Sans 1 Bold"/>
                <a:sym typeface="Open Sans 1 Bold"/>
              </a:rPr>
              <a:t>D. CHUYỂN ĐỔI SỐ (CĐS) &amp; SÁNG KIẾN VỀ AI </a:t>
            </a:r>
            <a:r>
              <a:rPr lang="en-US" sz="3875" b="1">
                <a:solidFill>
                  <a:srgbClr val="000000"/>
                </a:solidFill>
                <a:latin typeface="Open Sans 1 Bold"/>
                <a:ea typeface="Open Sans 1 Bold"/>
                <a:cs typeface="Open Sans 1 Bold"/>
                <a:sym typeface="Open Sans 1 Bold"/>
              </a:rPr>
              <a:t>💡</a:t>
            </a:r>
          </a:p>
        </p:txBody>
      </p:sp>
      <p:sp>
        <p:nvSpPr>
          <p:cNvPr id="4" name="TextBox 4"/>
          <p:cNvSpPr txBox="1"/>
          <p:nvPr/>
        </p:nvSpPr>
        <p:spPr>
          <a:xfrm>
            <a:off x="992238" y="1960664"/>
            <a:ext cx="4432402" cy="505568"/>
          </a:xfrm>
          <a:prstGeom prst="rect">
            <a:avLst/>
          </a:prstGeom>
        </p:spPr>
        <p:txBody>
          <a:bodyPr lIns="0" tIns="0" rIns="0" bIns="0" rtlCol="0" anchor="t">
            <a:spAutoFit/>
          </a:bodyPr>
          <a:lstStyle/>
          <a:p>
            <a:pPr algn="l">
              <a:lnSpc>
                <a:spcPts val="3875"/>
              </a:lnSpc>
            </a:pPr>
            <a:r>
              <a:rPr lang="en-US" sz="3125" b="1">
                <a:solidFill>
                  <a:srgbClr val="FF0000"/>
                </a:solidFill>
                <a:latin typeface="Open Sans 1 Bold"/>
                <a:ea typeface="Open Sans 1 Bold"/>
                <a:cs typeface="Open Sans 1 Bold"/>
                <a:sym typeface="Open Sans 1 Bold"/>
              </a:rPr>
              <a:t>Tiếp Cận Công Nghệ AI</a:t>
            </a:r>
          </a:p>
        </p:txBody>
      </p:sp>
      <p:sp>
        <p:nvSpPr>
          <p:cNvPr id="5" name="TextBox 5"/>
          <p:cNvSpPr txBox="1"/>
          <p:nvPr/>
        </p:nvSpPr>
        <p:spPr>
          <a:xfrm>
            <a:off x="992238" y="2607469"/>
            <a:ext cx="7909770" cy="374752"/>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Đã hoàn thành và trình duyệt </a:t>
            </a:r>
            <a:r>
              <a:rPr lang="en-US" sz="1562">
                <a:solidFill>
                  <a:srgbClr val="FF0101"/>
                </a:solidFill>
                <a:latin typeface="Open Sans 1"/>
                <a:ea typeface="Open Sans 1"/>
                <a:cs typeface="Open Sans 1"/>
                <a:sym typeface="Open Sans 1"/>
              </a:rPr>
              <a:t>Đề xuất lộ trình tiếp cận kiến thức và ứng dụng AI</a:t>
            </a:r>
          </a:p>
        </p:txBody>
      </p:sp>
      <p:grpSp>
        <p:nvGrpSpPr>
          <p:cNvPr id="6" name="Group 6"/>
          <p:cNvGrpSpPr/>
          <p:nvPr/>
        </p:nvGrpSpPr>
        <p:grpSpPr>
          <a:xfrm>
            <a:off x="992238" y="3701653"/>
            <a:ext cx="5536702" cy="5536702"/>
            <a:chOff x="0" y="0"/>
            <a:chExt cx="7382269" cy="7382269"/>
          </a:xfrm>
        </p:grpSpPr>
        <p:sp>
          <p:nvSpPr>
            <p:cNvPr id="7" name="Freeform 7" descr="preencoded.png"/>
            <p:cNvSpPr/>
            <p:nvPr/>
          </p:nvSpPr>
          <p:spPr>
            <a:xfrm>
              <a:off x="0" y="0"/>
              <a:ext cx="7382256" cy="7382256"/>
            </a:xfrm>
            <a:custGeom>
              <a:avLst/>
              <a:gdLst/>
              <a:ahLst/>
              <a:cxnLst/>
              <a:rect l="l" t="t" r="r" b="b"/>
              <a:pathLst>
                <a:path w="7382256" h="7382256">
                  <a:moveTo>
                    <a:pt x="0" y="0"/>
                  </a:moveTo>
                  <a:lnTo>
                    <a:pt x="7382256" y="0"/>
                  </a:lnTo>
                  <a:lnTo>
                    <a:pt x="7382256" y="7382256"/>
                  </a:lnTo>
                  <a:lnTo>
                    <a:pt x="0" y="7382256"/>
                  </a:lnTo>
                  <a:lnTo>
                    <a:pt x="0" y="0"/>
                  </a:lnTo>
                  <a:close/>
                </a:path>
              </a:pathLst>
            </a:custGeom>
            <a:blipFill>
              <a:blip r:embed="rId3"/>
              <a:stretch>
                <a:fillRect/>
              </a:stretch>
            </a:blipFill>
          </p:spPr>
        </p:sp>
      </p:grpSp>
      <p:sp>
        <p:nvSpPr>
          <p:cNvPr id="8" name="TextBox 8"/>
          <p:cNvSpPr txBox="1"/>
          <p:nvPr/>
        </p:nvSpPr>
        <p:spPr>
          <a:xfrm>
            <a:off x="9395517" y="1960664"/>
            <a:ext cx="4754461" cy="505568"/>
          </a:xfrm>
          <a:prstGeom prst="rect">
            <a:avLst/>
          </a:prstGeom>
        </p:spPr>
        <p:txBody>
          <a:bodyPr lIns="0" tIns="0" rIns="0" bIns="0" rtlCol="0" anchor="t">
            <a:spAutoFit/>
          </a:bodyPr>
          <a:lstStyle/>
          <a:p>
            <a:pPr algn="l">
              <a:lnSpc>
                <a:spcPts val="3875"/>
              </a:lnSpc>
            </a:pPr>
            <a:r>
              <a:rPr lang="en-US" sz="3125" b="1">
                <a:solidFill>
                  <a:srgbClr val="FF0000"/>
                </a:solidFill>
                <a:latin typeface="Open Sans 1 Bold"/>
                <a:ea typeface="Open Sans 1 Bold"/>
                <a:cs typeface="Open Sans 1 Bold"/>
                <a:sym typeface="Open Sans 1 Bold"/>
              </a:rPr>
              <a:t>Hoạt động CĐS Tổng thể</a:t>
            </a:r>
          </a:p>
        </p:txBody>
      </p:sp>
      <p:grpSp>
        <p:nvGrpSpPr>
          <p:cNvPr id="9" name="Group 9"/>
          <p:cNvGrpSpPr/>
          <p:nvPr/>
        </p:nvGrpSpPr>
        <p:grpSpPr>
          <a:xfrm>
            <a:off x="9381230" y="2675182"/>
            <a:ext cx="7938345" cy="1626098"/>
            <a:chOff x="0" y="0"/>
            <a:chExt cx="10584459" cy="2168131"/>
          </a:xfrm>
        </p:grpSpPr>
        <p:sp>
          <p:nvSpPr>
            <p:cNvPr id="10" name="Freeform 10"/>
            <p:cNvSpPr/>
            <p:nvPr/>
          </p:nvSpPr>
          <p:spPr>
            <a:xfrm>
              <a:off x="19050" y="19050"/>
              <a:ext cx="10546461" cy="2130044"/>
            </a:xfrm>
            <a:custGeom>
              <a:avLst/>
              <a:gdLst/>
              <a:ahLst/>
              <a:cxnLst/>
              <a:rect l="l" t="t" r="r" b="b"/>
              <a:pathLst>
                <a:path w="10546461" h="2130044">
                  <a:moveTo>
                    <a:pt x="0" y="182880"/>
                  </a:moveTo>
                  <a:cubicBezTo>
                    <a:pt x="0" y="81915"/>
                    <a:pt x="83058" y="0"/>
                    <a:pt x="185547" y="0"/>
                  </a:cubicBezTo>
                  <a:lnTo>
                    <a:pt x="10360914" y="0"/>
                  </a:lnTo>
                  <a:cubicBezTo>
                    <a:pt x="10463403" y="0"/>
                    <a:pt x="10546461" y="81915"/>
                    <a:pt x="10546461" y="182880"/>
                  </a:cubicBezTo>
                  <a:lnTo>
                    <a:pt x="10546461" y="1947164"/>
                  </a:lnTo>
                  <a:cubicBezTo>
                    <a:pt x="10546461" y="2048129"/>
                    <a:pt x="10463403" y="2130044"/>
                    <a:pt x="10360914" y="2130044"/>
                  </a:cubicBezTo>
                  <a:lnTo>
                    <a:pt x="185547" y="2130044"/>
                  </a:lnTo>
                  <a:cubicBezTo>
                    <a:pt x="83058" y="2130044"/>
                    <a:pt x="0" y="2048129"/>
                    <a:pt x="0" y="1947164"/>
                  </a:cubicBezTo>
                  <a:close/>
                </a:path>
              </a:pathLst>
            </a:custGeom>
            <a:solidFill>
              <a:srgbClr val="FFFFFF"/>
            </a:solidFill>
          </p:spPr>
        </p:sp>
        <p:sp>
          <p:nvSpPr>
            <p:cNvPr id="11" name="Freeform 11"/>
            <p:cNvSpPr/>
            <p:nvPr/>
          </p:nvSpPr>
          <p:spPr>
            <a:xfrm>
              <a:off x="0" y="0"/>
              <a:ext cx="10584561" cy="2168144"/>
            </a:xfrm>
            <a:custGeom>
              <a:avLst/>
              <a:gdLst/>
              <a:ahLst/>
              <a:cxnLst/>
              <a:rect l="l" t="t" r="r" b="b"/>
              <a:pathLst>
                <a:path w="10584561" h="2168144">
                  <a:moveTo>
                    <a:pt x="0" y="201930"/>
                  </a:moveTo>
                  <a:cubicBezTo>
                    <a:pt x="0" y="90170"/>
                    <a:pt x="91821" y="0"/>
                    <a:pt x="204597" y="0"/>
                  </a:cubicBezTo>
                  <a:lnTo>
                    <a:pt x="10379964" y="0"/>
                  </a:lnTo>
                  <a:lnTo>
                    <a:pt x="10379964" y="19050"/>
                  </a:lnTo>
                  <a:lnTo>
                    <a:pt x="10379964" y="0"/>
                  </a:lnTo>
                  <a:cubicBezTo>
                    <a:pt x="10492613" y="0"/>
                    <a:pt x="10584561" y="90170"/>
                    <a:pt x="10584561" y="201930"/>
                  </a:cubicBezTo>
                  <a:lnTo>
                    <a:pt x="10565511" y="201930"/>
                  </a:lnTo>
                  <a:lnTo>
                    <a:pt x="10584561" y="201930"/>
                  </a:lnTo>
                  <a:lnTo>
                    <a:pt x="10584561" y="1966214"/>
                  </a:lnTo>
                  <a:lnTo>
                    <a:pt x="10565511" y="1966214"/>
                  </a:lnTo>
                  <a:lnTo>
                    <a:pt x="10584561" y="1966214"/>
                  </a:lnTo>
                  <a:cubicBezTo>
                    <a:pt x="10584561" y="2077974"/>
                    <a:pt x="10492740" y="2168144"/>
                    <a:pt x="10379964" y="2168144"/>
                  </a:cubicBezTo>
                  <a:lnTo>
                    <a:pt x="10379964" y="2149094"/>
                  </a:lnTo>
                  <a:lnTo>
                    <a:pt x="10379964" y="2168144"/>
                  </a:lnTo>
                  <a:lnTo>
                    <a:pt x="204597" y="2168144"/>
                  </a:lnTo>
                  <a:lnTo>
                    <a:pt x="204597" y="2149094"/>
                  </a:lnTo>
                  <a:lnTo>
                    <a:pt x="204597" y="2168144"/>
                  </a:lnTo>
                  <a:cubicBezTo>
                    <a:pt x="91948" y="2168144"/>
                    <a:pt x="0" y="2077974"/>
                    <a:pt x="0" y="1966214"/>
                  </a:cubicBezTo>
                  <a:lnTo>
                    <a:pt x="0" y="201930"/>
                  </a:lnTo>
                  <a:lnTo>
                    <a:pt x="19050" y="201930"/>
                  </a:lnTo>
                  <a:lnTo>
                    <a:pt x="0" y="201930"/>
                  </a:lnTo>
                  <a:moveTo>
                    <a:pt x="38100" y="201930"/>
                  </a:moveTo>
                  <a:lnTo>
                    <a:pt x="38100" y="1966214"/>
                  </a:lnTo>
                  <a:lnTo>
                    <a:pt x="19050" y="1966214"/>
                  </a:lnTo>
                  <a:lnTo>
                    <a:pt x="38100" y="1966214"/>
                  </a:lnTo>
                  <a:cubicBezTo>
                    <a:pt x="38100" y="2056384"/>
                    <a:pt x="112395" y="2130044"/>
                    <a:pt x="204597" y="2130044"/>
                  </a:cubicBezTo>
                  <a:lnTo>
                    <a:pt x="10379964" y="2130044"/>
                  </a:lnTo>
                  <a:cubicBezTo>
                    <a:pt x="10472166" y="2130044"/>
                    <a:pt x="10546461" y="2056384"/>
                    <a:pt x="10546461" y="1966214"/>
                  </a:cubicBezTo>
                  <a:lnTo>
                    <a:pt x="10546461" y="201930"/>
                  </a:lnTo>
                  <a:cubicBezTo>
                    <a:pt x="10546461" y="111760"/>
                    <a:pt x="10472166" y="38100"/>
                    <a:pt x="10379964" y="38100"/>
                  </a:cubicBezTo>
                  <a:lnTo>
                    <a:pt x="204597" y="38100"/>
                  </a:lnTo>
                  <a:lnTo>
                    <a:pt x="204597" y="19050"/>
                  </a:lnTo>
                  <a:lnTo>
                    <a:pt x="204597" y="38100"/>
                  </a:lnTo>
                  <a:cubicBezTo>
                    <a:pt x="112395" y="38100"/>
                    <a:pt x="38100" y="111760"/>
                    <a:pt x="38100" y="201930"/>
                  </a:cubicBezTo>
                  <a:close/>
                </a:path>
              </a:pathLst>
            </a:custGeom>
            <a:solidFill>
              <a:srgbClr val="E5B2B2"/>
            </a:solidFill>
          </p:spPr>
        </p:sp>
      </p:grpSp>
      <p:grpSp>
        <p:nvGrpSpPr>
          <p:cNvPr id="12" name="Group 12"/>
          <p:cNvGrpSpPr/>
          <p:nvPr/>
        </p:nvGrpSpPr>
        <p:grpSpPr>
          <a:xfrm>
            <a:off x="9366942" y="2689469"/>
            <a:ext cx="114300" cy="1597523"/>
            <a:chOff x="0" y="0"/>
            <a:chExt cx="152400" cy="2130031"/>
          </a:xfrm>
        </p:grpSpPr>
        <p:sp>
          <p:nvSpPr>
            <p:cNvPr id="13" name="Freeform 13"/>
            <p:cNvSpPr/>
            <p:nvPr/>
          </p:nvSpPr>
          <p:spPr>
            <a:xfrm>
              <a:off x="0" y="0"/>
              <a:ext cx="152400" cy="2130044"/>
            </a:xfrm>
            <a:custGeom>
              <a:avLst/>
              <a:gdLst/>
              <a:ahLst/>
              <a:cxnLst/>
              <a:rect l="l" t="t" r="r" b="b"/>
              <a:pathLst>
                <a:path w="152400" h="2130044">
                  <a:moveTo>
                    <a:pt x="0" y="76200"/>
                  </a:moveTo>
                  <a:cubicBezTo>
                    <a:pt x="0" y="34163"/>
                    <a:pt x="34163" y="0"/>
                    <a:pt x="76200" y="0"/>
                  </a:cubicBezTo>
                  <a:cubicBezTo>
                    <a:pt x="118237" y="0"/>
                    <a:pt x="152400" y="34163"/>
                    <a:pt x="152400" y="76200"/>
                  </a:cubicBezTo>
                  <a:lnTo>
                    <a:pt x="152400" y="2053844"/>
                  </a:lnTo>
                  <a:cubicBezTo>
                    <a:pt x="152400" y="2095881"/>
                    <a:pt x="118237" y="2130044"/>
                    <a:pt x="76200" y="2130044"/>
                  </a:cubicBezTo>
                  <a:cubicBezTo>
                    <a:pt x="34163" y="2130044"/>
                    <a:pt x="0" y="2095881"/>
                    <a:pt x="0" y="2053844"/>
                  </a:cubicBezTo>
                  <a:close/>
                </a:path>
              </a:pathLst>
            </a:custGeom>
            <a:solidFill>
              <a:srgbClr val="FF0101"/>
            </a:solidFill>
          </p:spPr>
        </p:sp>
      </p:grpSp>
      <p:sp>
        <p:nvSpPr>
          <p:cNvPr id="14" name="TextBox 14"/>
          <p:cNvSpPr txBox="1"/>
          <p:nvPr/>
        </p:nvSpPr>
        <p:spPr>
          <a:xfrm>
            <a:off x="9708204" y="2897391"/>
            <a:ext cx="2989955"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Phối hợp Phòng Kế Toán</a:t>
            </a:r>
          </a:p>
        </p:txBody>
      </p:sp>
      <p:sp>
        <p:nvSpPr>
          <p:cNvPr id="15" name="TextBox 15"/>
          <p:cNvSpPr txBox="1"/>
          <p:nvPr/>
        </p:nvSpPr>
        <p:spPr>
          <a:xfrm>
            <a:off x="9708204" y="3367678"/>
            <a:ext cx="7370121" cy="692353"/>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Tổ chức họp đánh giá giải pháp cho </a:t>
            </a:r>
            <a:r>
              <a:rPr lang="en-US" sz="1562" b="1">
                <a:solidFill>
                  <a:srgbClr val="000099"/>
                </a:solidFill>
                <a:latin typeface="Open Sans 1 Bold"/>
                <a:ea typeface="Open Sans 1 Bold"/>
                <a:cs typeface="Open Sans 1 Bold"/>
                <a:sym typeface="Open Sans 1 Bold"/>
              </a:rPr>
              <a:t>11 issues</a:t>
            </a:r>
            <a:r>
              <a:rPr lang="en-US" sz="1562">
                <a:solidFill>
                  <a:srgbClr val="000099"/>
                </a:solidFill>
                <a:latin typeface="Open Sans 1"/>
                <a:ea typeface="Open Sans 1"/>
                <a:cs typeface="Open Sans 1"/>
                <a:sym typeface="Open Sans 1"/>
              </a:rPr>
              <a:t> phát sinh và đề xuất lựa chọn đơn vị thực hiện để giải quyết dứt điểm các vấn đề tồn đọng.</a:t>
            </a:r>
          </a:p>
        </p:txBody>
      </p:sp>
      <p:grpSp>
        <p:nvGrpSpPr>
          <p:cNvPr id="16" name="Group 16"/>
          <p:cNvGrpSpPr/>
          <p:nvPr/>
        </p:nvGrpSpPr>
        <p:grpSpPr>
          <a:xfrm>
            <a:off x="9381230" y="4471092"/>
            <a:ext cx="7938345" cy="1626098"/>
            <a:chOff x="0" y="0"/>
            <a:chExt cx="10584459" cy="2168131"/>
          </a:xfrm>
        </p:grpSpPr>
        <p:sp>
          <p:nvSpPr>
            <p:cNvPr id="17" name="Freeform 17"/>
            <p:cNvSpPr/>
            <p:nvPr/>
          </p:nvSpPr>
          <p:spPr>
            <a:xfrm>
              <a:off x="19050" y="19050"/>
              <a:ext cx="10546461" cy="2130044"/>
            </a:xfrm>
            <a:custGeom>
              <a:avLst/>
              <a:gdLst/>
              <a:ahLst/>
              <a:cxnLst/>
              <a:rect l="l" t="t" r="r" b="b"/>
              <a:pathLst>
                <a:path w="10546461" h="2130044">
                  <a:moveTo>
                    <a:pt x="0" y="182880"/>
                  </a:moveTo>
                  <a:cubicBezTo>
                    <a:pt x="0" y="81915"/>
                    <a:pt x="83058" y="0"/>
                    <a:pt x="185547" y="0"/>
                  </a:cubicBezTo>
                  <a:lnTo>
                    <a:pt x="10360914" y="0"/>
                  </a:lnTo>
                  <a:cubicBezTo>
                    <a:pt x="10463403" y="0"/>
                    <a:pt x="10546461" y="81915"/>
                    <a:pt x="10546461" y="182880"/>
                  </a:cubicBezTo>
                  <a:lnTo>
                    <a:pt x="10546461" y="1947164"/>
                  </a:lnTo>
                  <a:cubicBezTo>
                    <a:pt x="10546461" y="2048129"/>
                    <a:pt x="10463403" y="2130044"/>
                    <a:pt x="10360914" y="2130044"/>
                  </a:cubicBezTo>
                  <a:lnTo>
                    <a:pt x="185547" y="2130044"/>
                  </a:lnTo>
                  <a:cubicBezTo>
                    <a:pt x="83058" y="2130044"/>
                    <a:pt x="0" y="2048129"/>
                    <a:pt x="0" y="1947164"/>
                  </a:cubicBezTo>
                  <a:close/>
                </a:path>
              </a:pathLst>
            </a:custGeom>
            <a:solidFill>
              <a:srgbClr val="FFFFFF"/>
            </a:solidFill>
          </p:spPr>
        </p:sp>
        <p:sp>
          <p:nvSpPr>
            <p:cNvPr id="18" name="Freeform 18"/>
            <p:cNvSpPr/>
            <p:nvPr/>
          </p:nvSpPr>
          <p:spPr>
            <a:xfrm>
              <a:off x="0" y="0"/>
              <a:ext cx="10584561" cy="2168144"/>
            </a:xfrm>
            <a:custGeom>
              <a:avLst/>
              <a:gdLst/>
              <a:ahLst/>
              <a:cxnLst/>
              <a:rect l="l" t="t" r="r" b="b"/>
              <a:pathLst>
                <a:path w="10584561" h="2168144">
                  <a:moveTo>
                    <a:pt x="0" y="201930"/>
                  </a:moveTo>
                  <a:cubicBezTo>
                    <a:pt x="0" y="90170"/>
                    <a:pt x="91821" y="0"/>
                    <a:pt x="204597" y="0"/>
                  </a:cubicBezTo>
                  <a:lnTo>
                    <a:pt x="10379964" y="0"/>
                  </a:lnTo>
                  <a:lnTo>
                    <a:pt x="10379964" y="19050"/>
                  </a:lnTo>
                  <a:lnTo>
                    <a:pt x="10379964" y="0"/>
                  </a:lnTo>
                  <a:cubicBezTo>
                    <a:pt x="10492613" y="0"/>
                    <a:pt x="10584561" y="90170"/>
                    <a:pt x="10584561" y="201930"/>
                  </a:cubicBezTo>
                  <a:lnTo>
                    <a:pt x="10565511" y="201930"/>
                  </a:lnTo>
                  <a:lnTo>
                    <a:pt x="10584561" y="201930"/>
                  </a:lnTo>
                  <a:lnTo>
                    <a:pt x="10584561" y="1966214"/>
                  </a:lnTo>
                  <a:lnTo>
                    <a:pt x="10565511" y="1966214"/>
                  </a:lnTo>
                  <a:lnTo>
                    <a:pt x="10584561" y="1966214"/>
                  </a:lnTo>
                  <a:cubicBezTo>
                    <a:pt x="10584561" y="2077974"/>
                    <a:pt x="10492740" y="2168144"/>
                    <a:pt x="10379964" y="2168144"/>
                  </a:cubicBezTo>
                  <a:lnTo>
                    <a:pt x="10379964" y="2149094"/>
                  </a:lnTo>
                  <a:lnTo>
                    <a:pt x="10379964" y="2168144"/>
                  </a:lnTo>
                  <a:lnTo>
                    <a:pt x="204597" y="2168144"/>
                  </a:lnTo>
                  <a:lnTo>
                    <a:pt x="204597" y="2149094"/>
                  </a:lnTo>
                  <a:lnTo>
                    <a:pt x="204597" y="2168144"/>
                  </a:lnTo>
                  <a:cubicBezTo>
                    <a:pt x="91948" y="2168144"/>
                    <a:pt x="0" y="2077974"/>
                    <a:pt x="0" y="1966214"/>
                  </a:cubicBezTo>
                  <a:lnTo>
                    <a:pt x="0" y="201930"/>
                  </a:lnTo>
                  <a:lnTo>
                    <a:pt x="19050" y="201930"/>
                  </a:lnTo>
                  <a:lnTo>
                    <a:pt x="0" y="201930"/>
                  </a:lnTo>
                  <a:moveTo>
                    <a:pt x="38100" y="201930"/>
                  </a:moveTo>
                  <a:lnTo>
                    <a:pt x="38100" y="1966214"/>
                  </a:lnTo>
                  <a:lnTo>
                    <a:pt x="19050" y="1966214"/>
                  </a:lnTo>
                  <a:lnTo>
                    <a:pt x="38100" y="1966214"/>
                  </a:lnTo>
                  <a:cubicBezTo>
                    <a:pt x="38100" y="2056384"/>
                    <a:pt x="112395" y="2130044"/>
                    <a:pt x="204597" y="2130044"/>
                  </a:cubicBezTo>
                  <a:lnTo>
                    <a:pt x="10379964" y="2130044"/>
                  </a:lnTo>
                  <a:cubicBezTo>
                    <a:pt x="10472166" y="2130044"/>
                    <a:pt x="10546461" y="2056384"/>
                    <a:pt x="10546461" y="1966214"/>
                  </a:cubicBezTo>
                  <a:lnTo>
                    <a:pt x="10546461" y="201930"/>
                  </a:lnTo>
                  <a:cubicBezTo>
                    <a:pt x="10546461" y="111760"/>
                    <a:pt x="10472166" y="38100"/>
                    <a:pt x="10379964" y="38100"/>
                  </a:cubicBezTo>
                  <a:lnTo>
                    <a:pt x="204597" y="38100"/>
                  </a:lnTo>
                  <a:lnTo>
                    <a:pt x="204597" y="19050"/>
                  </a:lnTo>
                  <a:lnTo>
                    <a:pt x="204597" y="38100"/>
                  </a:lnTo>
                  <a:cubicBezTo>
                    <a:pt x="112395" y="38100"/>
                    <a:pt x="38100" y="111760"/>
                    <a:pt x="38100" y="201930"/>
                  </a:cubicBezTo>
                  <a:close/>
                </a:path>
              </a:pathLst>
            </a:custGeom>
            <a:solidFill>
              <a:srgbClr val="E5B2B2"/>
            </a:solidFill>
          </p:spPr>
        </p:sp>
      </p:grpSp>
      <p:grpSp>
        <p:nvGrpSpPr>
          <p:cNvPr id="19" name="Group 19"/>
          <p:cNvGrpSpPr/>
          <p:nvPr/>
        </p:nvGrpSpPr>
        <p:grpSpPr>
          <a:xfrm>
            <a:off x="9366942" y="4485380"/>
            <a:ext cx="114300" cy="1597523"/>
            <a:chOff x="0" y="0"/>
            <a:chExt cx="152400" cy="2130031"/>
          </a:xfrm>
        </p:grpSpPr>
        <p:sp>
          <p:nvSpPr>
            <p:cNvPr id="20" name="Freeform 20"/>
            <p:cNvSpPr/>
            <p:nvPr/>
          </p:nvSpPr>
          <p:spPr>
            <a:xfrm>
              <a:off x="0" y="0"/>
              <a:ext cx="152400" cy="2130044"/>
            </a:xfrm>
            <a:custGeom>
              <a:avLst/>
              <a:gdLst/>
              <a:ahLst/>
              <a:cxnLst/>
              <a:rect l="l" t="t" r="r" b="b"/>
              <a:pathLst>
                <a:path w="152400" h="2130044">
                  <a:moveTo>
                    <a:pt x="0" y="76200"/>
                  </a:moveTo>
                  <a:cubicBezTo>
                    <a:pt x="0" y="34163"/>
                    <a:pt x="34163" y="0"/>
                    <a:pt x="76200" y="0"/>
                  </a:cubicBezTo>
                  <a:cubicBezTo>
                    <a:pt x="118237" y="0"/>
                    <a:pt x="152400" y="34163"/>
                    <a:pt x="152400" y="76200"/>
                  </a:cubicBezTo>
                  <a:lnTo>
                    <a:pt x="152400" y="2053844"/>
                  </a:lnTo>
                  <a:cubicBezTo>
                    <a:pt x="152400" y="2095881"/>
                    <a:pt x="118237" y="2130044"/>
                    <a:pt x="76200" y="2130044"/>
                  </a:cubicBezTo>
                  <a:cubicBezTo>
                    <a:pt x="34163" y="2130044"/>
                    <a:pt x="0" y="2095881"/>
                    <a:pt x="0" y="2053844"/>
                  </a:cubicBezTo>
                  <a:close/>
                </a:path>
              </a:pathLst>
            </a:custGeom>
            <a:solidFill>
              <a:srgbClr val="FF0101"/>
            </a:solidFill>
          </p:spPr>
        </p:sp>
      </p:grpSp>
      <p:sp>
        <p:nvSpPr>
          <p:cNvPr id="21" name="TextBox 21"/>
          <p:cNvSpPr txBox="1"/>
          <p:nvPr/>
        </p:nvSpPr>
        <p:spPr>
          <a:xfrm>
            <a:off x="9708204" y="4693291"/>
            <a:ext cx="2480815" cy="329060"/>
          </a:xfrm>
          <a:prstGeom prst="rect">
            <a:avLst/>
          </a:prstGeom>
        </p:spPr>
        <p:txBody>
          <a:bodyPr lIns="0" tIns="0" rIns="0" bIns="0" rtlCol="0" anchor="t">
            <a:spAutoFit/>
          </a:bodyPr>
          <a:lstStyle/>
          <a:p>
            <a:pPr algn="l">
              <a:lnSpc>
                <a:spcPts val="2437"/>
              </a:lnSpc>
            </a:pPr>
            <a:r>
              <a:rPr lang="en-US" sz="1937" b="1">
                <a:solidFill>
                  <a:srgbClr val="000099"/>
                </a:solidFill>
                <a:latin typeface="Open Sans 1 Bold"/>
                <a:ea typeface="Open Sans 1 Bold"/>
                <a:cs typeface="Open Sans 1 Bold"/>
                <a:sym typeface="Open Sans 1 Bold"/>
              </a:rPr>
              <a:t>Họp Về CĐS Nội Bộ</a:t>
            </a:r>
          </a:p>
        </p:txBody>
      </p:sp>
      <p:sp>
        <p:nvSpPr>
          <p:cNvPr id="22" name="TextBox 22"/>
          <p:cNvSpPr txBox="1"/>
          <p:nvPr/>
        </p:nvSpPr>
        <p:spPr>
          <a:xfrm>
            <a:off x="9708204" y="5163588"/>
            <a:ext cx="7370121" cy="692353"/>
          </a:xfrm>
          <a:prstGeom prst="rect">
            <a:avLst/>
          </a:prstGeom>
        </p:spPr>
        <p:txBody>
          <a:bodyPr lIns="0" tIns="0" rIns="0" bIns="0" rtlCol="0" anchor="t">
            <a:spAutoFit/>
          </a:bodyPr>
          <a:lstStyle/>
          <a:p>
            <a:pPr algn="l">
              <a:lnSpc>
                <a:spcPts val="2499"/>
              </a:lnSpc>
            </a:pPr>
            <a:r>
              <a:rPr lang="en-US" sz="1562">
                <a:solidFill>
                  <a:srgbClr val="000099"/>
                </a:solidFill>
                <a:latin typeface="Open Sans 1"/>
                <a:ea typeface="Open Sans 1"/>
                <a:cs typeface="Open Sans 1"/>
                <a:sym typeface="Open Sans 1"/>
              </a:rPr>
              <a:t>Tổ chức họp với Phòng Kỹ Thuật (P.KT) để thống nhất các vấn đề liên quan đến chiến lược và các dự án </a:t>
            </a:r>
            <a:r>
              <a:rPr lang="en-US" sz="1562" b="1">
                <a:solidFill>
                  <a:srgbClr val="000099"/>
                </a:solidFill>
                <a:latin typeface="Open Sans 1 Bold"/>
                <a:ea typeface="Open Sans 1 Bold"/>
                <a:cs typeface="Open Sans 1 Bold"/>
                <a:sym typeface="Open Sans 1 Bold"/>
              </a:rPr>
              <a:t>Chuyển đổi số</a:t>
            </a:r>
            <a:r>
              <a:rPr lang="en-US" sz="1562">
                <a:solidFill>
                  <a:srgbClr val="000099"/>
                </a:solidFill>
                <a:latin typeface="Open Sans 1"/>
                <a:ea typeface="Open Sans 1"/>
                <a:cs typeface="Open Sans 1"/>
                <a:sym typeface="Open Sans 1"/>
              </a:rPr>
              <a:t> đang triển khai.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2458936"/>
            <a:ext cx="15246772" cy="871537"/>
          </a:xfrm>
          <a:prstGeom prst="rect">
            <a:avLst/>
          </a:prstGeom>
        </p:spPr>
        <p:txBody>
          <a:bodyPr lIns="0" tIns="0" rIns="0" bIns="0" rtlCol="0" anchor="t">
            <a:spAutoFit/>
          </a:bodyPr>
          <a:lstStyle/>
          <a:p>
            <a:pPr algn="l">
              <a:lnSpc>
                <a:spcPts val="6937"/>
              </a:lnSpc>
            </a:pPr>
            <a:r>
              <a:rPr lang="en-US" sz="5562" b="1">
                <a:solidFill>
                  <a:srgbClr val="FF0000"/>
                </a:solidFill>
                <a:latin typeface="Open Sans 1 Bold"/>
                <a:ea typeface="Open Sans 1 Bold"/>
                <a:cs typeface="Open Sans 1 Bold"/>
                <a:sym typeface="Open Sans 1 Bold"/>
              </a:rPr>
              <a:t>E. TỔNG HỢP CÁC CÔNG VIỆC HOÀN THÀNH</a:t>
            </a:r>
          </a:p>
        </p:txBody>
      </p:sp>
      <p:sp>
        <p:nvSpPr>
          <p:cNvPr id="4" name="TextBox 4"/>
          <p:cNvSpPr txBox="1"/>
          <p:nvPr/>
        </p:nvSpPr>
        <p:spPr>
          <a:xfrm>
            <a:off x="992238" y="4225080"/>
            <a:ext cx="3810000" cy="792661"/>
          </a:xfrm>
          <a:prstGeom prst="rect">
            <a:avLst/>
          </a:prstGeom>
        </p:spPr>
        <p:txBody>
          <a:bodyPr lIns="0" tIns="0" rIns="0" bIns="0" rtlCol="0" anchor="t">
            <a:spAutoFit/>
          </a:bodyPr>
          <a:lstStyle/>
          <a:p>
            <a:pPr algn="ctr">
              <a:lnSpc>
                <a:spcPts val="7312"/>
              </a:lnSpc>
            </a:pPr>
            <a:r>
              <a:rPr lang="en-US" sz="7312" b="1">
                <a:solidFill>
                  <a:srgbClr val="000099"/>
                </a:solidFill>
                <a:latin typeface="Open Sans 1 Bold"/>
                <a:ea typeface="Open Sans 1 Bold"/>
                <a:cs typeface="Open Sans 1 Bold"/>
                <a:sym typeface="Open Sans 1 Bold"/>
              </a:rPr>
              <a:t>—</a:t>
            </a:r>
          </a:p>
        </p:txBody>
      </p:sp>
      <p:sp>
        <p:nvSpPr>
          <p:cNvPr id="5" name="TextBox 5"/>
          <p:cNvSpPr txBox="1"/>
          <p:nvPr/>
        </p:nvSpPr>
        <p:spPr>
          <a:xfrm>
            <a:off x="1125141" y="5362423"/>
            <a:ext cx="3544043" cy="452437"/>
          </a:xfrm>
          <a:prstGeom prst="rect">
            <a:avLst/>
          </a:prstGeom>
        </p:spPr>
        <p:txBody>
          <a:bodyPr lIns="0" tIns="0" rIns="0" bIns="0" rtlCol="0" anchor="t">
            <a:spAutoFit/>
          </a:bodyPr>
          <a:lstStyle/>
          <a:p>
            <a:pPr algn="ctr">
              <a:lnSpc>
                <a:spcPts val="3437"/>
              </a:lnSpc>
            </a:pPr>
            <a:r>
              <a:rPr lang="en-US" sz="2750" b="1">
                <a:solidFill>
                  <a:srgbClr val="000099"/>
                </a:solidFill>
                <a:latin typeface="Open Sans 1 Bold"/>
                <a:ea typeface="Open Sans 1 Bold"/>
                <a:cs typeface="Open Sans 1 Bold"/>
                <a:sym typeface="Open Sans 1 Bold"/>
              </a:rPr>
              <a:t>Hợp Đồng Bảo Trì</a:t>
            </a:r>
          </a:p>
        </p:txBody>
      </p:sp>
      <p:sp>
        <p:nvSpPr>
          <p:cNvPr id="6" name="TextBox 6"/>
          <p:cNvSpPr txBox="1"/>
          <p:nvPr/>
        </p:nvSpPr>
        <p:spPr>
          <a:xfrm>
            <a:off x="992238" y="5899252"/>
            <a:ext cx="3810000" cy="1446609"/>
          </a:xfrm>
          <a:prstGeom prst="rect">
            <a:avLst/>
          </a:prstGeom>
        </p:spPr>
        <p:txBody>
          <a:bodyPr lIns="0" tIns="0" rIns="0" bIns="0" rtlCol="0" anchor="t">
            <a:spAutoFit/>
          </a:bodyPr>
          <a:lstStyle/>
          <a:p>
            <a:pPr algn="ctr">
              <a:lnSpc>
                <a:spcPts val="3562"/>
              </a:lnSpc>
            </a:pPr>
            <a:r>
              <a:rPr lang="en-US" sz="2187">
                <a:solidFill>
                  <a:srgbClr val="000099"/>
                </a:solidFill>
                <a:latin typeface="Open Sans 1"/>
                <a:ea typeface="Open Sans 1"/>
                <a:cs typeface="Open Sans 1"/>
                <a:sym typeface="Open Sans 1"/>
              </a:rPr>
              <a:t>Hoàn thành ký duyệt Hợp đồng bảo trì 06 tháng Database + DRSite.</a:t>
            </a:r>
          </a:p>
        </p:txBody>
      </p:sp>
      <p:sp>
        <p:nvSpPr>
          <p:cNvPr id="7" name="TextBox 7"/>
          <p:cNvSpPr txBox="1"/>
          <p:nvPr/>
        </p:nvSpPr>
        <p:spPr>
          <a:xfrm>
            <a:off x="5156597" y="4225080"/>
            <a:ext cx="3810152" cy="792661"/>
          </a:xfrm>
          <a:prstGeom prst="rect">
            <a:avLst/>
          </a:prstGeom>
        </p:spPr>
        <p:txBody>
          <a:bodyPr lIns="0" tIns="0" rIns="0" bIns="0" rtlCol="0" anchor="t">
            <a:spAutoFit/>
          </a:bodyPr>
          <a:lstStyle/>
          <a:p>
            <a:pPr algn="ctr">
              <a:lnSpc>
                <a:spcPts val="7312"/>
              </a:lnSpc>
            </a:pPr>
            <a:r>
              <a:rPr lang="en-US" sz="7312" b="1">
                <a:solidFill>
                  <a:srgbClr val="000099"/>
                </a:solidFill>
                <a:latin typeface="Open Sans 1 Bold"/>
                <a:ea typeface="Open Sans 1 Bold"/>
                <a:cs typeface="Open Sans 1 Bold"/>
                <a:sym typeface="Open Sans 1 Bold"/>
              </a:rPr>
              <a:t>—</a:t>
            </a:r>
          </a:p>
        </p:txBody>
      </p:sp>
      <p:sp>
        <p:nvSpPr>
          <p:cNvPr id="8" name="TextBox 8"/>
          <p:cNvSpPr txBox="1"/>
          <p:nvPr/>
        </p:nvSpPr>
        <p:spPr>
          <a:xfrm>
            <a:off x="5289652" y="5362423"/>
            <a:ext cx="3544043" cy="452437"/>
          </a:xfrm>
          <a:prstGeom prst="rect">
            <a:avLst/>
          </a:prstGeom>
        </p:spPr>
        <p:txBody>
          <a:bodyPr lIns="0" tIns="0" rIns="0" bIns="0" rtlCol="0" anchor="t">
            <a:spAutoFit/>
          </a:bodyPr>
          <a:lstStyle/>
          <a:p>
            <a:pPr algn="ctr">
              <a:lnSpc>
                <a:spcPts val="3437"/>
              </a:lnSpc>
            </a:pPr>
            <a:r>
              <a:rPr lang="en-US" sz="2750" b="1">
                <a:solidFill>
                  <a:srgbClr val="000099"/>
                </a:solidFill>
                <a:latin typeface="Open Sans 1 Bold"/>
                <a:ea typeface="Open Sans 1 Bold"/>
                <a:cs typeface="Open Sans 1 Bold"/>
                <a:sym typeface="Open Sans 1 Bold"/>
              </a:rPr>
              <a:t>Camera Hoạt Động</a:t>
            </a:r>
          </a:p>
        </p:txBody>
      </p:sp>
      <p:sp>
        <p:nvSpPr>
          <p:cNvPr id="9" name="TextBox 9"/>
          <p:cNvSpPr txBox="1"/>
          <p:nvPr/>
        </p:nvSpPr>
        <p:spPr>
          <a:xfrm>
            <a:off x="5156597" y="5899252"/>
            <a:ext cx="3810152" cy="1900237"/>
          </a:xfrm>
          <a:prstGeom prst="rect">
            <a:avLst/>
          </a:prstGeom>
        </p:spPr>
        <p:txBody>
          <a:bodyPr lIns="0" tIns="0" rIns="0" bIns="0" rtlCol="0" anchor="t">
            <a:spAutoFit/>
          </a:bodyPr>
          <a:lstStyle/>
          <a:p>
            <a:pPr algn="ctr">
              <a:lnSpc>
                <a:spcPts val="3562"/>
              </a:lnSpc>
            </a:pPr>
            <a:r>
              <a:rPr lang="en-US" sz="2187">
                <a:solidFill>
                  <a:srgbClr val="000099"/>
                </a:solidFill>
                <a:latin typeface="Open Sans 1"/>
                <a:ea typeface="Open Sans 1"/>
                <a:cs typeface="Open Sans 1"/>
                <a:sym typeface="Open Sans 1"/>
              </a:rPr>
              <a:t>Số kênh camera đã kiểm tra và xác nhận hoạt động ổn định tại TDM (trong tổng 205).</a:t>
            </a:r>
          </a:p>
        </p:txBody>
      </p:sp>
      <p:sp>
        <p:nvSpPr>
          <p:cNvPr id="10" name="TextBox 10"/>
          <p:cNvSpPr txBox="1"/>
          <p:nvPr/>
        </p:nvSpPr>
        <p:spPr>
          <a:xfrm>
            <a:off x="9321108" y="4225080"/>
            <a:ext cx="3810152" cy="792661"/>
          </a:xfrm>
          <a:prstGeom prst="rect">
            <a:avLst/>
          </a:prstGeom>
        </p:spPr>
        <p:txBody>
          <a:bodyPr lIns="0" tIns="0" rIns="0" bIns="0" rtlCol="0" anchor="t">
            <a:spAutoFit/>
          </a:bodyPr>
          <a:lstStyle/>
          <a:p>
            <a:pPr algn="ctr">
              <a:lnSpc>
                <a:spcPts val="7312"/>
              </a:lnSpc>
            </a:pPr>
            <a:r>
              <a:rPr lang="en-US" sz="7312" b="1">
                <a:solidFill>
                  <a:srgbClr val="000099"/>
                </a:solidFill>
                <a:latin typeface="Open Sans 1 Bold"/>
                <a:ea typeface="Open Sans 1 Bold"/>
                <a:cs typeface="Open Sans 1 Bold"/>
                <a:sym typeface="Open Sans 1 Bold"/>
              </a:rPr>
              <a:t>—</a:t>
            </a:r>
          </a:p>
        </p:txBody>
      </p:sp>
      <p:sp>
        <p:nvSpPr>
          <p:cNvPr id="11" name="TextBox 11"/>
          <p:cNvSpPr txBox="1"/>
          <p:nvPr/>
        </p:nvSpPr>
        <p:spPr>
          <a:xfrm>
            <a:off x="9454153" y="5362423"/>
            <a:ext cx="3544043" cy="452437"/>
          </a:xfrm>
          <a:prstGeom prst="rect">
            <a:avLst/>
          </a:prstGeom>
        </p:spPr>
        <p:txBody>
          <a:bodyPr lIns="0" tIns="0" rIns="0" bIns="0" rtlCol="0" anchor="t">
            <a:spAutoFit/>
          </a:bodyPr>
          <a:lstStyle/>
          <a:p>
            <a:pPr algn="ctr">
              <a:lnSpc>
                <a:spcPts val="3437"/>
              </a:lnSpc>
            </a:pPr>
            <a:r>
              <a:rPr lang="en-US" sz="2750" b="1">
                <a:solidFill>
                  <a:srgbClr val="000099"/>
                </a:solidFill>
                <a:latin typeface="Open Sans 1 Bold"/>
                <a:ea typeface="Open Sans 1 Bold"/>
                <a:cs typeface="Open Sans 1 Bold"/>
                <a:sym typeface="Open Sans 1 Bold"/>
              </a:rPr>
              <a:t>HĐĐT Nghiệm Thu</a:t>
            </a:r>
          </a:p>
        </p:txBody>
      </p:sp>
      <p:sp>
        <p:nvSpPr>
          <p:cNvPr id="12" name="TextBox 12"/>
          <p:cNvSpPr txBox="1"/>
          <p:nvPr/>
        </p:nvSpPr>
        <p:spPr>
          <a:xfrm>
            <a:off x="9321108" y="5899252"/>
            <a:ext cx="3810152" cy="1900237"/>
          </a:xfrm>
          <a:prstGeom prst="rect">
            <a:avLst/>
          </a:prstGeom>
        </p:spPr>
        <p:txBody>
          <a:bodyPr lIns="0" tIns="0" rIns="0" bIns="0" rtlCol="0" anchor="t">
            <a:spAutoFit/>
          </a:bodyPr>
          <a:lstStyle/>
          <a:p>
            <a:pPr algn="ctr">
              <a:lnSpc>
                <a:spcPts val="3562"/>
              </a:lnSpc>
            </a:pPr>
            <a:r>
              <a:rPr lang="en-US" sz="2187">
                <a:solidFill>
                  <a:srgbClr val="000099"/>
                </a:solidFill>
                <a:latin typeface="Open Sans 1"/>
                <a:ea typeface="Open Sans 1"/>
                <a:cs typeface="Open Sans 1"/>
                <a:sym typeface="Open Sans 1"/>
              </a:rPr>
              <a:t>Hoàn thành tất cả các Biên bản Nghiệm thu liên quan đến Hóa đơn Điện tử cải tiến ND70.</a:t>
            </a:r>
          </a:p>
        </p:txBody>
      </p:sp>
      <p:sp>
        <p:nvSpPr>
          <p:cNvPr id="13" name="TextBox 13"/>
          <p:cNvSpPr txBox="1"/>
          <p:nvPr/>
        </p:nvSpPr>
        <p:spPr>
          <a:xfrm>
            <a:off x="13485609" y="4225080"/>
            <a:ext cx="3810152" cy="792661"/>
          </a:xfrm>
          <a:prstGeom prst="rect">
            <a:avLst/>
          </a:prstGeom>
        </p:spPr>
        <p:txBody>
          <a:bodyPr lIns="0" tIns="0" rIns="0" bIns="0" rtlCol="0" anchor="t">
            <a:spAutoFit/>
          </a:bodyPr>
          <a:lstStyle/>
          <a:p>
            <a:pPr algn="ctr">
              <a:lnSpc>
                <a:spcPts val="7312"/>
              </a:lnSpc>
            </a:pPr>
            <a:r>
              <a:rPr lang="en-US" sz="7312" b="1">
                <a:solidFill>
                  <a:srgbClr val="000099"/>
                </a:solidFill>
                <a:latin typeface="Open Sans 1 Bold"/>
                <a:ea typeface="Open Sans 1 Bold"/>
                <a:cs typeface="Open Sans 1 Bold"/>
                <a:sym typeface="Open Sans 1 Bold"/>
              </a:rPr>
              <a:t>—</a:t>
            </a:r>
          </a:p>
        </p:txBody>
      </p:sp>
      <p:sp>
        <p:nvSpPr>
          <p:cNvPr id="14" name="TextBox 14"/>
          <p:cNvSpPr txBox="1"/>
          <p:nvPr/>
        </p:nvSpPr>
        <p:spPr>
          <a:xfrm>
            <a:off x="13618664" y="5362423"/>
            <a:ext cx="3544043" cy="452437"/>
          </a:xfrm>
          <a:prstGeom prst="rect">
            <a:avLst/>
          </a:prstGeom>
        </p:spPr>
        <p:txBody>
          <a:bodyPr lIns="0" tIns="0" rIns="0" bIns="0" rtlCol="0" anchor="t">
            <a:spAutoFit/>
          </a:bodyPr>
          <a:lstStyle/>
          <a:p>
            <a:pPr algn="ctr">
              <a:lnSpc>
                <a:spcPts val="3437"/>
              </a:lnSpc>
            </a:pPr>
            <a:r>
              <a:rPr lang="en-US" sz="2750" b="1">
                <a:solidFill>
                  <a:srgbClr val="000099"/>
                </a:solidFill>
                <a:latin typeface="Open Sans 1 Bold"/>
                <a:ea typeface="Open Sans 1 Bold"/>
                <a:cs typeface="Open Sans 1 Bold"/>
                <a:sym typeface="Open Sans 1 Bold"/>
              </a:rPr>
              <a:t>Đề Xuất AI</a:t>
            </a:r>
          </a:p>
        </p:txBody>
      </p:sp>
      <p:sp>
        <p:nvSpPr>
          <p:cNvPr id="15" name="TextBox 15"/>
          <p:cNvSpPr txBox="1"/>
          <p:nvPr/>
        </p:nvSpPr>
        <p:spPr>
          <a:xfrm>
            <a:off x="13485609" y="5899252"/>
            <a:ext cx="3810152" cy="1446609"/>
          </a:xfrm>
          <a:prstGeom prst="rect">
            <a:avLst/>
          </a:prstGeom>
        </p:spPr>
        <p:txBody>
          <a:bodyPr lIns="0" tIns="0" rIns="0" bIns="0" rtlCol="0" anchor="t">
            <a:spAutoFit/>
          </a:bodyPr>
          <a:lstStyle/>
          <a:p>
            <a:pPr algn="ctr">
              <a:lnSpc>
                <a:spcPts val="3562"/>
              </a:lnSpc>
            </a:pPr>
            <a:r>
              <a:rPr lang="en-US" sz="2187">
                <a:solidFill>
                  <a:srgbClr val="000099"/>
                </a:solidFill>
                <a:latin typeface="Open Sans 1"/>
                <a:ea typeface="Open Sans 1"/>
                <a:cs typeface="Open Sans 1"/>
                <a:sym typeface="Open Sans 1"/>
              </a:rPr>
              <a:t>Hoàn thành Tờ trình Đề xuất lộ trình tiếp cận kiến thức và ứng dụng AI của TDA.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028700" y="3973948"/>
            <a:ext cx="4834338" cy="3590014"/>
            <a:chOff x="0" y="0"/>
            <a:chExt cx="1094522" cy="812800"/>
          </a:xfrm>
        </p:grpSpPr>
        <p:sp>
          <p:nvSpPr>
            <p:cNvPr id="4" name="Freeform 4"/>
            <p:cNvSpPr/>
            <p:nvPr/>
          </p:nvSpPr>
          <p:spPr>
            <a:xfrm>
              <a:off x="0" y="0"/>
              <a:ext cx="1094522" cy="812800"/>
            </a:xfrm>
            <a:custGeom>
              <a:avLst/>
              <a:gdLst/>
              <a:ahLst/>
              <a:cxnLst/>
              <a:rect l="l" t="t" r="r" b="b"/>
              <a:pathLst>
                <a:path w="1094522" h="812800">
                  <a:moveTo>
                    <a:pt x="0" y="0"/>
                  </a:moveTo>
                  <a:lnTo>
                    <a:pt x="1094522" y="0"/>
                  </a:lnTo>
                  <a:lnTo>
                    <a:pt x="1094522" y="812800"/>
                  </a:lnTo>
                  <a:lnTo>
                    <a:pt x="0" y="812800"/>
                  </a:lnTo>
                  <a:close/>
                </a:path>
              </a:pathLst>
            </a:custGeom>
            <a:blipFill>
              <a:blip r:embed="rId2"/>
              <a:stretch>
                <a:fillRect l="-9863" r="-9863"/>
              </a:stretch>
            </a:blipFill>
          </p:spPr>
        </p:sp>
      </p:grpSp>
      <p:grpSp>
        <p:nvGrpSpPr>
          <p:cNvPr id="5" name="Group 5"/>
          <p:cNvGrpSpPr/>
          <p:nvPr/>
        </p:nvGrpSpPr>
        <p:grpSpPr>
          <a:xfrm>
            <a:off x="6526803" y="3973948"/>
            <a:ext cx="4834338" cy="3590014"/>
            <a:chOff x="0" y="0"/>
            <a:chExt cx="1094522" cy="812800"/>
          </a:xfrm>
        </p:grpSpPr>
        <p:sp>
          <p:nvSpPr>
            <p:cNvPr id="6" name="Freeform 6"/>
            <p:cNvSpPr/>
            <p:nvPr/>
          </p:nvSpPr>
          <p:spPr>
            <a:xfrm>
              <a:off x="0" y="0"/>
              <a:ext cx="1094522" cy="812800"/>
            </a:xfrm>
            <a:custGeom>
              <a:avLst/>
              <a:gdLst/>
              <a:ahLst/>
              <a:cxnLst/>
              <a:rect l="l" t="t" r="r" b="b"/>
              <a:pathLst>
                <a:path w="1094522" h="812800">
                  <a:moveTo>
                    <a:pt x="0" y="0"/>
                  </a:moveTo>
                  <a:lnTo>
                    <a:pt x="1094522" y="0"/>
                  </a:lnTo>
                  <a:lnTo>
                    <a:pt x="1094522" y="812800"/>
                  </a:lnTo>
                  <a:lnTo>
                    <a:pt x="0" y="812800"/>
                  </a:lnTo>
                  <a:close/>
                </a:path>
              </a:pathLst>
            </a:custGeom>
            <a:blipFill>
              <a:blip r:embed="rId3"/>
              <a:stretch>
                <a:fillRect l="-10014" r="-10014"/>
              </a:stretch>
            </a:blipFill>
          </p:spPr>
        </p:sp>
      </p:grpSp>
      <p:grpSp>
        <p:nvGrpSpPr>
          <p:cNvPr id="7" name="Group 7"/>
          <p:cNvGrpSpPr/>
          <p:nvPr/>
        </p:nvGrpSpPr>
        <p:grpSpPr>
          <a:xfrm>
            <a:off x="12424962" y="3973948"/>
            <a:ext cx="4834338" cy="3590014"/>
            <a:chOff x="0" y="0"/>
            <a:chExt cx="1094522" cy="812800"/>
          </a:xfrm>
        </p:grpSpPr>
        <p:sp>
          <p:nvSpPr>
            <p:cNvPr id="8" name="Freeform 8"/>
            <p:cNvSpPr/>
            <p:nvPr/>
          </p:nvSpPr>
          <p:spPr>
            <a:xfrm>
              <a:off x="0" y="0"/>
              <a:ext cx="1094522" cy="812800"/>
            </a:xfrm>
            <a:custGeom>
              <a:avLst/>
              <a:gdLst/>
              <a:ahLst/>
              <a:cxnLst/>
              <a:rect l="l" t="t" r="r" b="b"/>
              <a:pathLst>
                <a:path w="1094522" h="812800">
                  <a:moveTo>
                    <a:pt x="0" y="0"/>
                  </a:moveTo>
                  <a:lnTo>
                    <a:pt x="1094522" y="0"/>
                  </a:lnTo>
                  <a:lnTo>
                    <a:pt x="1094522" y="812800"/>
                  </a:lnTo>
                  <a:lnTo>
                    <a:pt x="0" y="812800"/>
                  </a:lnTo>
                  <a:close/>
                </a:path>
              </a:pathLst>
            </a:custGeom>
            <a:blipFill>
              <a:blip r:embed="rId4"/>
              <a:stretch>
                <a:fillRect l="-10014" r="-10014"/>
              </a:stretch>
            </a:blipFill>
          </p:spPr>
        </p:sp>
      </p:grpSp>
      <p:sp>
        <p:nvSpPr>
          <p:cNvPr id="9" name="TextBox 9"/>
          <p:cNvSpPr txBox="1"/>
          <p:nvPr/>
        </p:nvSpPr>
        <p:spPr>
          <a:xfrm>
            <a:off x="1028700" y="1575770"/>
            <a:ext cx="10996207" cy="828675"/>
          </a:xfrm>
          <a:prstGeom prst="rect">
            <a:avLst/>
          </a:prstGeom>
        </p:spPr>
        <p:txBody>
          <a:bodyPr lIns="0" tIns="0" rIns="0" bIns="0" rtlCol="0" anchor="t">
            <a:spAutoFit/>
          </a:bodyPr>
          <a:lstStyle/>
          <a:p>
            <a:pPr marL="0" lvl="0" indent="0" algn="l">
              <a:lnSpc>
                <a:spcPts val="6671"/>
              </a:lnSpc>
              <a:spcBef>
                <a:spcPct val="0"/>
              </a:spcBef>
            </a:pPr>
            <a:r>
              <a:rPr lang="vi-VN" sz="5559" b="1" dirty="0" smtClean="0">
                <a:solidFill>
                  <a:srgbClr val="FF0000"/>
                </a:solidFill>
                <a:latin typeface="Open Sans 1 Bold"/>
                <a:ea typeface="Open Sans 1 Bold"/>
                <a:cs typeface="Open Sans 1 Bold"/>
                <a:sym typeface="Open Sans 1 Bold"/>
              </a:rPr>
              <a:t>PAGE HEADING</a:t>
            </a:r>
            <a:endParaRPr lang="en-US" sz="5559" b="1" dirty="0">
              <a:solidFill>
                <a:srgbClr val="FF0000"/>
              </a:solidFill>
              <a:latin typeface="Open Sans 1 Bold"/>
              <a:ea typeface="Open Sans 1 Bold"/>
              <a:cs typeface="Open Sans 1 Bold"/>
              <a:sym typeface="Open Sans 1 Bold"/>
            </a:endParaRPr>
          </a:p>
        </p:txBody>
      </p:sp>
      <p:sp>
        <p:nvSpPr>
          <p:cNvPr id="10" name="TextBox 10"/>
          <p:cNvSpPr txBox="1"/>
          <p:nvPr/>
        </p:nvSpPr>
        <p:spPr>
          <a:xfrm>
            <a:off x="1028700" y="7994748"/>
            <a:ext cx="4834338" cy="511810"/>
          </a:xfrm>
          <a:prstGeom prst="rect">
            <a:avLst/>
          </a:prstGeom>
        </p:spPr>
        <p:txBody>
          <a:bodyPr lIns="0" tIns="0" rIns="0" bIns="0" rtlCol="0" anchor="t">
            <a:spAutoFit/>
          </a:bodyPr>
          <a:lstStyle/>
          <a:p>
            <a:pPr marL="0" lvl="0" indent="0" algn="ctr">
              <a:lnSpc>
                <a:spcPts val="4159"/>
              </a:lnSpc>
              <a:spcBef>
                <a:spcPct val="0"/>
              </a:spcBef>
            </a:pPr>
            <a:r>
              <a:rPr lang="en-US" sz="3199" b="1">
                <a:solidFill>
                  <a:srgbClr val="000099"/>
                </a:solidFill>
                <a:latin typeface="Open Sans 1 Bold"/>
                <a:ea typeface="Open Sans 1 Bold"/>
                <a:cs typeface="Open Sans 1 Bold"/>
                <a:sym typeface="Open Sans 1 Bold"/>
              </a:rPr>
              <a:t>Project 1</a:t>
            </a:r>
          </a:p>
        </p:txBody>
      </p:sp>
      <p:sp>
        <p:nvSpPr>
          <p:cNvPr id="11" name="TextBox 11"/>
          <p:cNvSpPr txBox="1"/>
          <p:nvPr/>
        </p:nvSpPr>
        <p:spPr>
          <a:xfrm>
            <a:off x="6726831" y="7994748"/>
            <a:ext cx="4834338" cy="450215"/>
          </a:xfrm>
          <a:prstGeom prst="rect">
            <a:avLst/>
          </a:prstGeom>
        </p:spPr>
        <p:txBody>
          <a:bodyPr lIns="0" tIns="0" rIns="0" bIns="0" rtlCol="0" anchor="t">
            <a:spAutoFit/>
          </a:bodyPr>
          <a:lstStyle/>
          <a:p>
            <a:pPr marL="0" lvl="0" indent="0" algn="ctr">
              <a:lnSpc>
                <a:spcPts val="3640"/>
              </a:lnSpc>
              <a:spcBef>
                <a:spcPct val="0"/>
              </a:spcBef>
            </a:pPr>
            <a:r>
              <a:rPr lang="en-US" sz="2800" b="1">
                <a:solidFill>
                  <a:srgbClr val="000099"/>
                </a:solidFill>
                <a:latin typeface="Open Sans 1 Bold"/>
                <a:ea typeface="Open Sans 1 Bold"/>
                <a:cs typeface="Open Sans 1 Bold"/>
                <a:sym typeface="Open Sans 1 Bold"/>
              </a:rPr>
              <a:t>Project 2</a:t>
            </a:r>
          </a:p>
        </p:txBody>
      </p:sp>
      <p:sp>
        <p:nvSpPr>
          <p:cNvPr id="12" name="TextBox 12"/>
          <p:cNvSpPr txBox="1"/>
          <p:nvPr/>
        </p:nvSpPr>
        <p:spPr>
          <a:xfrm>
            <a:off x="12424962" y="7994748"/>
            <a:ext cx="4834338" cy="450215"/>
          </a:xfrm>
          <a:prstGeom prst="rect">
            <a:avLst/>
          </a:prstGeom>
        </p:spPr>
        <p:txBody>
          <a:bodyPr lIns="0" tIns="0" rIns="0" bIns="0" rtlCol="0" anchor="t">
            <a:spAutoFit/>
          </a:bodyPr>
          <a:lstStyle/>
          <a:p>
            <a:pPr marL="0" lvl="0" indent="0" algn="ctr">
              <a:lnSpc>
                <a:spcPts val="3640"/>
              </a:lnSpc>
              <a:spcBef>
                <a:spcPct val="0"/>
              </a:spcBef>
            </a:pPr>
            <a:r>
              <a:rPr lang="en-US" sz="2800" b="1">
                <a:solidFill>
                  <a:srgbClr val="000099"/>
                </a:solidFill>
                <a:latin typeface="Open Sans 1 Bold"/>
                <a:ea typeface="Open Sans 1 Bold"/>
                <a:cs typeface="Open Sans 1 Bold"/>
                <a:sym typeface="Open Sans 1 Bold"/>
              </a:rPr>
              <a:t>Project 3</a:t>
            </a:r>
          </a:p>
        </p:txBody>
      </p:sp>
      <p:sp>
        <p:nvSpPr>
          <p:cNvPr id="13" name="TextBox 13"/>
          <p:cNvSpPr txBox="1"/>
          <p:nvPr/>
        </p:nvSpPr>
        <p:spPr>
          <a:xfrm>
            <a:off x="1417837" y="8961318"/>
            <a:ext cx="4425479" cy="464820"/>
          </a:xfrm>
          <a:prstGeom prst="rect">
            <a:avLst/>
          </a:prstGeom>
        </p:spPr>
        <p:txBody>
          <a:bodyPr lIns="0" tIns="0" rIns="0" bIns="0" rtlCol="0" anchor="t">
            <a:spAutoFit/>
          </a:bodyPr>
          <a:lstStyle/>
          <a:p>
            <a:pPr algn="ctr">
              <a:lnSpc>
                <a:spcPts val="3779"/>
              </a:lnSpc>
            </a:pPr>
            <a:r>
              <a:rPr lang="en-US" sz="2699">
                <a:solidFill>
                  <a:srgbClr val="000000"/>
                </a:solidFill>
                <a:latin typeface="Canva Sans"/>
                <a:ea typeface="Canva Sans"/>
                <a:cs typeface="Canva Sans"/>
                <a:sym typeface="Canva Sans"/>
              </a:rPr>
              <a:t>Add a little bit of body text</a:t>
            </a:r>
          </a:p>
        </p:txBody>
      </p:sp>
      <p:sp>
        <p:nvSpPr>
          <p:cNvPr id="14" name="TextBox 14"/>
          <p:cNvSpPr txBox="1"/>
          <p:nvPr/>
        </p:nvSpPr>
        <p:spPr>
          <a:xfrm>
            <a:off x="7115670" y="8961318"/>
            <a:ext cx="4426074" cy="464820"/>
          </a:xfrm>
          <a:prstGeom prst="rect">
            <a:avLst/>
          </a:prstGeom>
        </p:spPr>
        <p:txBody>
          <a:bodyPr lIns="0" tIns="0" rIns="0" bIns="0" rtlCol="0" anchor="t">
            <a:spAutoFit/>
          </a:bodyPr>
          <a:lstStyle/>
          <a:p>
            <a:pPr algn="ctr">
              <a:lnSpc>
                <a:spcPts val="3779"/>
              </a:lnSpc>
            </a:pPr>
            <a:r>
              <a:rPr lang="en-US" sz="2700">
                <a:solidFill>
                  <a:srgbClr val="000000"/>
                </a:solidFill>
                <a:latin typeface="Canva Sans"/>
                <a:ea typeface="Canva Sans"/>
                <a:cs typeface="Canva Sans"/>
                <a:sym typeface="Canva Sans"/>
              </a:rPr>
              <a:t>Add a little bit of body text</a:t>
            </a:r>
          </a:p>
        </p:txBody>
      </p:sp>
      <p:sp>
        <p:nvSpPr>
          <p:cNvPr id="15" name="TextBox 15"/>
          <p:cNvSpPr txBox="1"/>
          <p:nvPr/>
        </p:nvSpPr>
        <p:spPr>
          <a:xfrm>
            <a:off x="12629094" y="8961318"/>
            <a:ext cx="4426074" cy="464820"/>
          </a:xfrm>
          <a:prstGeom prst="rect">
            <a:avLst/>
          </a:prstGeom>
        </p:spPr>
        <p:txBody>
          <a:bodyPr lIns="0" tIns="0" rIns="0" bIns="0" rtlCol="0" anchor="t">
            <a:spAutoFit/>
          </a:bodyPr>
          <a:lstStyle/>
          <a:p>
            <a:pPr algn="ctr">
              <a:lnSpc>
                <a:spcPts val="3779"/>
              </a:lnSpc>
            </a:pPr>
            <a:r>
              <a:rPr lang="en-US" sz="2700">
                <a:solidFill>
                  <a:srgbClr val="000000"/>
                </a:solidFill>
                <a:latin typeface="Canva Sans"/>
                <a:ea typeface="Canva Sans"/>
                <a:cs typeface="Canva Sans"/>
                <a:sym typeface="Canva Sans"/>
              </a:rPr>
              <a:t>Add a little bit of body text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1094337"/>
            <a:ext cx="13983891" cy="870347"/>
          </a:xfrm>
          <a:prstGeom prst="rect">
            <a:avLst/>
          </a:prstGeom>
        </p:spPr>
        <p:txBody>
          <a:bodyPr lIns="0" tIns="0" rIns="0" bIns="0" rtlCol="0" anchor="t">
            <a:spAutoFit/>
          </a:bodyPr>
          <a:lstStyle/>
          <a:p>
            <a:pPr algn="l">
              <a:lnSpc>
                <a:spcPts val="6625"/>
              </a:lnSpc>
            </a:pPr>
            <a:r>
              <a:rPr lang="en-US" sz="5250" b="1">
                <a:solidFill>
                  <a:srgbClr val="FF0000"/>
                </a:solidFill>
                <a:latin typeface="Open Sans 1 Bold"/>
                <a:ea typeface="Open Sans 1 Bold"/>
                <a:cs typeface="Open Sans 1 Bold"/>
                <a:sym typeface="Open Sans 1 Bold"/>
              </a:rPr>
              <a:t>TỒN ĐỌNG &amp; TRỌNG TÂM THÁNG 11/2025</a:t>
            </a:r>
          </a:p>
        </p:txBody>
      </p:sp>
      <p:sp>
        <p:nvSpPr>
          <p:cNvPr id="4" name="TextBox 4"/>
          <p:cNvSpPr txBox="1"/>
          <p:nvPr/>
        </p:nvSpPr>
        <p:spPr>
          <a:xfrm>
            <a:off x="992238" y="2427084"/>
            <a:ext cx="16303523" cy="507206"/>
          </a:xfrm>
          <a:prstGeom prst="rect">
            <a:avLst/>
          </a:prstGeom>
        </p:spPr>
        <p:txBody>
          <a:bodyPr lIns="0" tIns="0" rIns="0" bIns="0" rtlCol="0" anchor="t">
            <a:spAutoFit/>
          </a:bodyPr>
          <a:lstStyle/>
          <a:p>
            <a:pPr algn="l">
              <a:lnSpc>
                <a:spcPts val="3374"/>
              </a:lnSpc>
            </a:pPr>
            <a:r>
              <a:rPr lang="en-US" sz="2062">
                <a:solidFill>
                  <a:srgbClr val="000099"/>
                </a:solidFill>
                <a:latin typeface="Open Sans 1"/>
                <a:ea typeface="Open Sans 1"/>
                <a:cs typeface="Open Sans 1"/>
                <a:sym typeface="Open Sans 1"/>
              </a:rPr>
              <a:t>Các hạng mục ưu tiên và đang được giám sát chặt chẽ trong tháng tới.</a:t>
            </a:r>
          </a:p>
        </p:txBody>
      </p:sp>
      <p:grpSp>
        <p:nvGrpSpPr>
          <p:cNvPr id="5" name="Group 5"/>
          <p:cNvGrpSpPr/>
          <p:nvPr/>
        </p:nvGrpSpPr>
        <p:grpSpPr>
          <a:xfrm>
            <a:off x="992238" y="3641227"/>
            <a:ext cx="8017078" cy="2424855"/>
            <a:chOff x="0" y="0"/>
            <a:chExt cx="10689438" cy="3233141"/>
          </a:xfrm>
        </p:grpSpPr>
        <p:sp>
          <p:nvSpPr>
            <p:cNvPr id="6" name="Freeform 6"/>
            <p:cNvSpPr/>
            <p:nvPr/>
          </p:nvSpPr>
          <p:spPr>
            <a:xfrm>
              <a:off x="0" y="0"/>
              <a:ext cx="10689463" cy="3233166"/>
            </a:xfrm>
            <a:custGeom>
              <a:avLst/>
              <a:gdLst/>
              <a:ahLst/>
              <a:cxnLst/>
              <a:rect l="l" t="t" r="r" b="b"/>
              <a:pathLst>
                <a:path w="10689463" h="3233166">
                  <a:moveTo>
                    <a:pt x="0" y="243840"/>
                  </a:moveTo>
                  <a:cubicBezTo>
                    <a:pt x="0" y="109220"/>
                    <a:pt x="109220" y="0"/>
                    <a:pt x="243840" y="0"/>
                  </a:cubicBezTo>
                  <a:lnTo>
                    <a:pt x="10445623" y="0"/>
                  </a:lnTo>
                  <a:cubicBezTo>
                    <a:pt x="10580243" y="0"/>
                    <a:pt x="10689463" y="109220"/>
                    <a:pt x="10689463" y="243840"/>
                  </a:cubicBezTo>
                  <a:lnTo>
                    <a:pt x="10689463" y="2989326"/>
                  </a:lnTo>
                  <a:cubicBezTo>
                    <a:pt x="10689463" y="3123946"/>
                    <a:pt x="10580243" y="3233166"/>
                    <a:pt x="10445623" y="3233166"/>
                  </a:cubicBezTo>
                  <a:lnTo>
                    <a:pt x="243840" y="3233166"/>
                  </a:lnTo>
                  <a:cubicBezTo>
                    <a:pt x="109220" y="3233166"/>
                    <a:pt x="0" y="3123946"/>
                    <a:pt x="0" y="2989326"/>
                  </a:cubicBezTo>
                  <a:close/>
                </a:path>
              </a:pathLst>
            </a:custGeom>
            <a:solidFill>
              <a:srgbClr val="FFFFFF"/>
            </a:solidFill>
          </p:spPr>
        </p:sp>
      </p:grpSp>
      <p:grpSp>
        <p:nvGrpSpPr>
          <p:cNvPr id="7" name="Group 7"/>
          <p:cNvGrpSpPr/>
          <p:nvPr/>
        </p:nvGrpSpPr>
        <p:grpSpPr>
          <a:xfrm>
            <a:off x="992238" y="3603127"/>
            <a:ext cx="8017078" cy="152400"/>
            <a:chOff x="0" y="0"/>
            <a:chExt cx="10689438" cy="203200"/>
          </a:xfrm>
        </p:grpSpPr>
        <p:sp>
          <p:nvSpPr>
            <p:cNvPr id="8" name="Freeform 8"/>
            <p:cNvSpPr/>
            <p:nvPr/>
          </p:nvSpPr>
          <p:spPr>
            <a:xfrm>
              <a:off x="0" y="0"/>
              <a:ext cx="10689463" cy="203200"/>
            </a:xfrm>
            <a:custGeom>
              <a:avLst/>
              <a:gdLst/>
              <a:ahLst/>
              <a:cxnLst/>
              <a:rect l="l" t="t" r="r" b="b"/>
              <a:pathLst>
                <a:path w="10689463" h="203200">
                  <a:moveTo>
                    <a:pt x="0" y="101600"/>
                  </a:moveTo>
                  <a:cubicBezTo>
                    <a:pt x="0" y="45466"/>
                    <a:pt x="45466" y="0"/>
                    <a:pt x="101600" y="0"/>
                  </a:cubicBezTo>
                  <a:lnTo>
                    <a:pt x="10587863" y="0"/>
                  </a:lnTo>
                  <a:cubicBezTo>
                    <a:pt x="10643997" y="0"/>
                    <a:pt x="10689463" y="45466"/>
                    <a:pt x="10689463" y="101600"/>
                  </a:cubicBezTo>
                  <a:cubicBezTo>
                    <a:pt x="10689463" y="157734"/>
                    <a:pt x="10643997" y="203200"/>
                    <a:pt x="10587863" y="203200"/>
                  </a:cubicBezTo>
                  <a:lnTo>
                    <a:pt x="101600" y="203200"/>
                  </a:lnTo>
                  <a:cubicBezTo>
                    <a:pt x="45466" y="203200"/>
                    <a:pt x="0" y="157734"/>
                    <a:pt x="0" y="101600"/>
                  </a:cubicBezTo>
                  <a:close/>
                </a:path>
              </a:pathLst>
            </a:custGeom>
            <a:solidFill>
              <a:srgbClr val="FF0101"/>
            </a:solidFill>
          </p:spPr>
        </p:sp>
      </p:grpSp>
      <p:grpSp>
        <p:nvGrpSpPr>
          <p:cNvPr id="9" name="Group 9"/>
          <p:cNvGrpSpPr/>
          <p:nvPr/>
        </p:nvGrpSpPr>
        <p:grpSpPr>
          <a:xfrm>
            <a:off x="4596784" y="3237309"/>
            <a:ext cx="807987" cy="807987"/>
            <a:chOff x="0" y="0"/>
            <a:chExt cx="1077316" cy="1077316"/>
          </a:xfrm>
        </p:grpSpPr>
        <p:sp>
          <p:nvSpPr>
            <p:cNvPr id="10" name="Freeform 10"/>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FF0101"/>
            </a:solidFill>
          </p:spPr>
        </p:sp>
      </p:grpSp>
      <p:sp>
        <p:nvSpPr>
          <p:cNvPr id="11" name="TextBox 11"/>
          <p:cNvSpPr txBox="1"/>
          <p:nvPr/>
        </p:nvSpPr>
        <p:spPr>
          <a:xfrm>
            <a:off x="4839224" y="3334493"/>
            <a:ext cx="323107" cy="508692"/>
          </a:xfrm>
          <a:prstGeom prst="rect">
            <a:avLst/>
          </a:prstGeom>
        </p:spPr>
        <p:txBody>
          <a:bodyPr lIns="0" tIns="0" rIns="0" bIns="0" rtlCol="0" anchor="t">
            <a:spAutoFit/>
          </a:bodyPr>
          <a:lstStyle/>
          <a:p>
            <a:pPr algn="l">
              <a:lnSpc>
                <a:spcPts val="4062"/>
              </a:lnSpc>
            </a:pPr>
            <a:r>
              <a:rPr lang="en-US" sz="2499" b="1">
                <a:solidFill>
                  <a:srgbClr val="FFFFFF"/>
                </a:solidFill>
                <a:latin typeface="Open Sans 1 Bold"/>
                <a:ea typeface="Open Sans 1 Bold"/>
                <a:cs typeface="Open Sans 1 Bold"/>
                <a:sym typeface="Open Sans 1 Bold"/>
              </a:rPr>
              <a:t>1</a:t>
            </a:r>
          </a:p>
        </p:txBody>
      </p:sp>
      <p:sp>
        <p:nvSpPr>
          <p:cNvPr id="12" name="TextBox 12"/>
          <p:cNvSpPr txBox="1"/>
          <p:nvPr/>
        </p:nvSpPr>
        <p:spPr>
          <a:xfrm>
            <a:off x="1299572" y="4295480"/>
            <a:ext cx="3966267" cy="439788"/>
          </a:xfrm>
          <a:prstGeom prst="rect">
            <a:avLst/>
          </a:prstGeom>
        </p:spPr>
        <p:txBody>
          <a:bodyPr lIns="0" tIns="0" rIns="0" bIns="0" rtlCol="0" anchor="t">
            <a:spAutoFit/>
          </a:bodyPr>
          <a:lstStyle/>
          <a:p>
            <a:pPr algn="l">
              <a:lnSpc>
                <a:spcPts val="3312"/>
              </a:lnSpc>
            </a:pPr>
            <a:r>
              <a:rPr lang="en-US" sz="2625" b="1">
                <a:solidFill>
                  <a:srgbClr val="000099"/>
                </a:solidFill>
                <a:latin typeface="Open Sans 1 Bold"/>
                <a:ea typeface="Open Sans 1 Bold"/>
                <a:cs typeface="Open Sans 1 Bold"/>
                <a:sym typeface="Open Sans 1 Bold"/>
              </a:rPr>
              <a:t>Giám Sát Hạ Tầng Mạng</a:t>
            </a:r>
          </a:p>
        </p:txBody>
      </p:sp>
      <p:sp>
        <p:nvSpPr>
          <p:cNvPr id="13" name="TextBox 13"/>
          <p:cNvSpPr txBox="1"/>
          <p:nvPr/>
        </p:nvSpPr>
        <p:spPr>
          <a:xfrm>
            <a:off x="1299572" y="4820545"/>
            <a:ext cx="7402411" cy="938212"/>
          </a:xfrm>
          <a:prstGeom prst="rect">
            <a:avLst/>
          </a:prstGeom>
        </p:spPr>
        <p:txBody>
          <a:bodyPr lIns="0" tIns="0" rIns="0" bIns="0" rtlCol="0" anchor="t">
            <a:spAutoFit/>
          </a:bodyPr>
          <a:lstStyle/>
          <a:p>
            <a:pPr algn="l">
              <a:lnSpc>
                <a:spcPts val="3374"/>
              </a:lnSpc>
            </a:pPr>
            <a:r>
              <a:rPr lang="en-US" sz="2062">
                <a:solidFill>
                  <a:srgbClr val="000099"/>
                </a:solidFill>
                <a:latin typeface="Open Sans 1"/>
                <a:ea typeface="Open Sans 1"/>
                <a:cs typeface="Open Sans 1"/>
                <a:sym typeface="Open Sans 1"/>
              </a:rPr>
              <a:t>Tiếp tục giám sát tiến độ thi công mạng tại TDA.LA và ĐA.PM1, đảm bảo chất lượng và đúng tiến độ.</a:t>
            </a:r>
          </a:p>
        </p:txBody>
      </p:sp>
      <p:grpSp>
        <p:nvGrpSpPr>
          <p:cNvPr id="14" name="Group 14"/>
          <p:cNvGrpSpPr/>
          <p:nvPr/>
        </p:nvGrpSpPr>
        <p:grpSpPr>
          <a:xfrm>
            <a:off x="9278541" y="3641227"/>
            <a:ext cx="8017221" cy="2424855"/>
            <a:chOff x="0" y="0"/>
            <a:chExt cx="10689628" cy="3233141"/>
          </a:xfrm>
        </p:grpSpPr>
        <p:sp>
          <p:nvSpPr>
            <p:cNvPr id="15" name="Freeform 15"/>
            <p:cNvSpPr/>
            <p:nvPr/>
          </p:nvSpPr>
          <p:spPr>
            <a:xfrm>
              <a:off x="0" y="0"/>
              <a:ext cx="10689590" cy="3233166"/>
            </a:xfrm>
            <a:custGeom>
              <a:avLst/>
              <a:gdLst/>
              <a:ahLst/>
              <a:cxnLst/>
              <a:rect l="l" t="t" r="r" b="b"/>
              <a:pathLst>
                <a:path w="10689590" h="3233166">
                  <a:moveTo>
                    <a:pt x="0" y="243840"/>
                  </a:moveTo>
                  <a:cubicBezTo>
                    <a:pt x="0" y="109220"/>
                    <a:pt x="109220" y="0"/>
                    <a:pt x="243840" y="0"/>
                  </a:cubicBezTo>
                  <a:lnTo>
                    <a:pt x="10445750" y="0"/>
                  </a:lnTo>
                  <a:cubicBezTo>
                    <a:pt x="10580370" y="0"/>
                    <a:pt x="10689590" y="109220"/>
                    <a:pt x="10689590" y="243840"/>
                  </a:cubicBezTo>
                  <a:lnTo>
                    <a:pt x="10689590" y="2989326"/>
                  </a:lnTo>
                  <a:cubicBezTo>
                    <a:pt x="10689590" y="3123946"/>
                    <a:pt x="10580370" y="3233166"/>
                    <a:pt x="10445750" y="3233166"/>
                  </a:cubicBezTo>
                  <a:lnTo>
                    <a:pt x="243840" y="3233166"/>
                  </a:lnTo>
                  <a:cubicBezTo>
                    <a:pt x="109220" y="3233166"/>
                    <a:pt x="0" y="3123946"/>
                    <a:pt x="0" y="2989326"/>
                  </a:cubicBezTo>
                  <a:close/>
                </a:path>
              </a:pathLst>
            </a:custGeom>
            <a:solidFill>
              <a:srgbClr val="FFFFFF"/>
            </a:solidFill>
          </p:spPr>
        </p:sp>
      </p:grpSp>
      <p:grpSp>
        <p:nvGrpSpPr>
          <p:cNvPr id="16" name="Group 16"/>
          <p:cNvGrpSpPr/>
          <p:nvPr/>
        </p:nvGrpSpPr>
        <p:grpSpPr>
          <a:xfrm>
            <a:off x="9278541" y="3603127"/>
            <a:ext cx="8017221" cy="152400"/>
            <a:chOff x="0" y="0"/>
            <a:chExt cx="10689628" cy="203200"/>
          </a:xfrm>
        </p:grpSpPr>
        <p:sp>
          <p:nvSpPr>
            <p:cNvPr id="17" name="Freeform 17"/>
            <p:cNvSpPr/>
            <p:nvPr/>
          </p:nvSpPr>
          <p:spPr>
            <a:xfrm>
              <a:off x="0" y="0"/>
              <a:ext cx="10689590" cy="203200"/>
            </a:xfrm>
            <a:custGeom>
              <a:avLst/>
              <a:gdLst/>
              <a:ahLst/>
              <a:cxnLst/>
              <a:rect l="l" t="t" r="r" b="b"/>
              <a:pathLst>
                <a:path w="10689590" h="203200">
                  <a:moveTo>
                    <a:pt x="0" y="101600"/>
                  </a:moveTo>
                  <a:cubicBezTo>
                    <a:pt x="0" y="45466"/>
                    <a:pt x="45466" y="0"/>
                    <a:pt x="101600" y="0"/>
                  </a:cubicBezTo>
                  <a:lnTo>
                    <a:pt x="10587990" y="0"/>
                  </a:lnTo>
                  <a:cubicBezTo>
                    <a:pt x="10644124" y="0"/>
                    <a:pt x="10689590" y="45466"/>
                    <a:pt x="10689590" y="101600"/>
                  </a:cubicBezTo>
                  <a:cubicBezTo>
                    <a:pt x="10689590" y="157734"/>
                    <a:pt x="10644124" y="203200"/>
                    <a:pt x="10587990" y="203200"/>
                  </a:cubicBezTo>
                  <a:lnTo>
                    <a:pt x="101600" y="203200"/>
                  </a:lnTo>
                  <a:cubicBezTo>
                    <a:pt x="45466" y="203200"/>
                    <a:pt x="0" y="157734"/>
                    <a:pt x="0" y="101600"/>
                  </a:cubicBezTo>
                  <a:close/>
                </a:path>
              </a:pathLst>
            </a:custGeom>
            <a:solidFill>
              <a:srgbClr val="FF0101"/>
            </a:solidFill>
          </p:spPr>
        </p:sp>
      </p:grpSp>
      <p:grpSp>
        <p:nvGrpSpPr>
          <p:cNvPr id="18" name="Group 18"/>
          <p:cNvGrpSpPr/>
          <p:nvPr/>
        </p:nvGrpSpPr>
        <p:grpSpPr>
          <a:xfrm>
            <a:off x="12883086" y="3237309"/>
            <a:ext cx="807987" cy="807987"/>
            <a:chOff x="0" y="0"/>
            <a:chExt cx="1077316" cy="1077316"/>
          </a:xfrm>
        </p:grpSpPr>
        <p:sp>
          <p:nvSpPr>
            <p:cNvPr id="19" name="Freeform 19"/>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FF0101"/>
            </a:solidFill>
          </p:spPr>
        </p:sp>
      </p:grpSp>
      <p:sp>
        <p:nvSpPr>
          <p:cNvPr id="20" name="TextBox 20"/>
          <p:cNvSpPr txBox="1"/>
          <p:nvPr/>
        </p:nvSpPr>
        <p:spPr>
          <a:xfrm>
            <a:off x="13125526" y="3334493"/>
            <a:ext cx="323107" cy="508692"/>
          </a:xfrm>
          <a:prstGeom prst="rect">
            <a:avLst/>
          </a:prstGeom>
        </p:spPr>
        <p:txBody>
          <a:bodyPr lIns="0" tIns="0" rIns="0" bIns="0" rtlCol="0" anchor="t">
            <a:spAutoFit/>
          </a:bodyPr>
          <a:lstStyle/>
          <a:p>
            <a:pPr algn="l">
              <a:lnSpc>
                <a:spcPts val="4062"/>
              </a:lnSpc>
            </a:pPr>
            <a:r>
              <a:rPr lang="en-US" sz="2499" b="1">
                <a:solidFill>
                  <a:srgbClr val="FFFFFF"/>
                </a:solidFill>
                <a:latin typeface="Open Sans 1 Bold"/>
                <a:ea typeface="Open Sans 1 Bold"/>
                <a:cs typeface="Open Sans 1 Bold"/>
                <a:sym typeface="Open Sans 1 Bold"/>
              </a:rPr>
              <a:t>2</a:t>
            </a:r>
          </a:p>
        </p:txBody>
      </p:sp>
      <p:sp>
        <p:nvSpPr>
          <p:cNvPr id="21" name="TextBox 21"/>
          <p:cNvSpPr txBox="1"/>
          <p:nvPr/>
        </p:nvSpPr>
        <p:spPr>
          <a:xfrm>
            <a:off x="9585874" y="4295480"/>
            <a:ext cx="4217784" cy="439788"/>
          </a:xfrm>
          <a:prstGeom prst="rect">
            <a:avLst/>
          </a:prstGeom>
        </p:spPr>
        <p:txBody>
          <a:bodyPr lIns="0" tIns="0" rIns="0" bIns="0" rtlCol="0" anchor="t">
            <a:spAutoFit/>
          </a:bodyPr>
          <a:lstStyle/>
          <a:p>
            <a:pPr algn="l">
              <a:lnSpc>
                <a:spcPts val="3312"/>
              </a:lnSpc>
            </a:pPr>
            <a:r>
              <a:rPr lang="en-US" sz="2625" b="1">
                <a:solidFill>
                  <a:srgbClr val="000099"/>
                </a:solidFill>
                <a:latin typeface="Open Sans 1 Bold"/>
                <a:ea typeface="Open Sans 1 Bold"/>
                <a:cs typeface="Open Sans 1 Bold"/>
                <a:sym typeface="Open Sans 1 Bold"/>
              </a:rPr>
              <a:t>Quản Lý Lưu Trữ Camera</a:t>
            </a:r>
          </a:p>
        </p:txBody>
      </p:sp>
      <p:sp>
        <p:nvSpPr>
          <p:cNvPr id="22" name="TextBox 22"/>
          <p:cNvSpPr txBox="1"/>
          <p:nvPr/>
        </p:nvSpPr>
        <p:spPr>
          <a:xfrm>
            <a:off x="9585874" y="4820545"/>
            <a:ext cx="7402563" cy="938212"/>
          </a:xfrm>
          <a:prstGeom prst="rect">
            <a:avLst/>
          </a:prstGeom>
        </p:spPr>
        <p:txBody>
          <a:bodyPr lIns="0" tIns="0" rIns="0" bIns="0" rtlCol="0" anchor="t">
            <a:spAutoFit/>
          </a:bodyPr>
          <a:lstStyle/>
          <a:p>
            <a:pPr algn="l">
              <a:lnSpc>
                <a:spcPts val="3374"/>
              </a:lnSpc>
            </a:pPr>
            <a:r>
              <a:rPr lang="en-US" sz="2062">
                <a:solidFill>
                  <a:srgbClr val="000099"/>
                </a:solidFill>
                <a:latin typeface="Open Sans 1"/>
                <a:ea typeface="Open Sans 1"/>
                <a:cs typeface="Open Sans 1"/>
                <a:sym typeface="Open Sans 1"/>
              </a:rPr>
              <a:t>Trình phương án quản lý và mở rộng thời gian lưu trữ camera theo quy định của </a:t>
            </a:r>
            <a:r>
              <a:rPr lang="en-US" sz="2062" b="1">
                <a:solidFill>
                  <a:srgbClr val="000099"/>
                </a:solidFill>
                <a:latin typeface="Open Sans 1 Bold"/>
                <a:ea typeface="Open Sans 1 Bold"/>
                <a:cs typeface="Open Sans 1 Bold"/>
                <a:sym typeface="Open Sans 1 Bold"/>
              </a:rPr>
              <a:t>Nghị định 167</a:t>
            </a:r>
            <a:r>
              <a:rPr lang="en-US" sz="2062">
                <a:solidFill>
                  <a:srgbClr val="000099"/>
                </a:solidFill>
                <a:latin typeface="Open Sans 1"/>
                <a:ea typeface="Open Sans 1"/>
                <a:cs typeface="Open Sans 1"/>
                <a:sym typeface="Open Sans 1"/>
              </a:rPr>
              <a:t>.</a:t>
            </a:r>
          </a:p>
        </p:txBody>
      </p:sp>
      <p:grpSp>
        <p:nvGrpSpPr>
          <p:cNvPr id="23" name="Group 23"/>
          <p:cNvGrpSpPr/>
          <p:nvPr/>
        </p:nvGrpSpPr>
        <p:grpSpPr>
          <a:xfrm>
            <a:off x="992238" y="6739233"/>
            <a:ext cx="8017078" cy="2424855"/>
            <a:chOff x="0" y="0"/>
            <a:chExt cx="10689438" cy="3233141"/>
          </a:xfrm>
        </p:grpSpPr>
        <p:sp>
          <p:nvSpPr>
            <p:cNvPr id="24" name="Freeform 24"/>
            <p:cNvSpPr/>
            <p:nvPr/>
          </p:nvSpPr>
          <p:spPr>
            <a:xfrm>
              <a:off x="0" y="0"/>
              <a:ext cx="10689463" cy="3233166"/>
            </a:xfrm>
            <a:custGeom>
              <a:avLst/>
              <a:gdLst/>
              <a:ahLst/>
              <a:cxnLst/>
              <a:rect l="l" t="t" r="r" b="b"/>
              <a:pathLst>
                <a:path w="10689463" h="3233166">
                  <a:moveTo>
                    <a:pt x="0" y="243840"/>
                  </a:moveTo>
                  <a:cubicBezTo>
                    <a:pt x="0" y="109220"/>
                    <a:pt x="109220" y="0"/>
                    <a:pt x="243840" y="0"/>
                  </a:cubicBezTo>
                  <a:lnTo>
                    <a:pt x="10445623" y="0"/>
                  </a:lnTo>
                  <a:cubicBezTo>
                    <a:pt x="10580243" y="0"/>
                    <a:pt x="10689463" y="109220"/>
                    <a:pt x="10689463" y="243840"/>
                  </a:cubicBezTo>
                  <a:lnTo>
                    <a:pt x="10689463" y="2989326"/>
                  </a:lnTo>
                  <a:cubicBezTo>
                    <a:pt x="10689463" y="3123946"/>
                    <a:pt x="10580243" y="3233166"/>
                    <a:pt x="10445623" y="3233166"/>
                  </a:cubicBezTo>
                  <a:lnTo>
                    <a:pt x="243840" y="3233166"/>
                  </a:lnTo>
                  <a:cubicBezTo>
                    <a:pt x="109220" y="3233166"/>
                    <a:pt x="0" y="3123946"/>
                    <a:pt x="0" y="2989326"/>
                  </a:cubicBezTo>
                  <a:close/>
                </a:path>
              </a:pathLst>
            </a:custGeom>
            <a:solidFill>
              <a:srgbClr val="FFFFFF"/>
            </a:solidFill>
          </p:spPr>
        </p:sp>
      </p:grpSp>
      <p:grpSp>
        <p:nvGrpSpPr>
          <p:cNvPr id="25" name="Group 25"/>
          <p:cNvGrpSpPr/>
          <p:nvPr/>
        </p:nvGrpSpPr>
        <p:grpSpPr>
          <a:xfrm>
            <a:off x="992238" y="6701133"/>
            <a:ext cx="8017078" cy="152400"/>
            <a:chOff x="0" y="0"/>
            <a:chExt cx="10689438" cy="203200"/>
          </a:xfrm>
        </p:grpSpPr>
        <p:sp>
          <p:nvSpPr>
            <p:cNvPr id="26" name="Freeform 26"/>
            <p:cNvSpPr/>
            <p:nvPr/>
          </p:nvSpPr>
          <p:spPr>
            <a:xfrm>
              <a:off x="0" y="0"/>
              <a:ext cx="10689463" cy="203200"/>
            </a:xfrm>
            <a:custGeom>
              <a:avLst/>
              <a:gdLst/>
              <a:ahLst/>
              <a:cxnLst/>
              <a:rect l="l" t="t" r="r" b="b"/>
              <a:pathLst>
                <a:path w="10689463" h="203200">
                  <a:moveTo>
                    <a:pt x="0" y="101600"/>
                  </a:moveTo>
                  <a:cubicBezTo>
                    <a:pt x="0" y="45466"/>
                    <a:pt x="45466" y="0"/>
                    <a:pt x="101600" y="0"/>
                  </a:cubicBezTo>
                  <a:lnTo>
                    <a:pt x="10587863" y="0"/>
                  </a:lnTo>
                  <a:cubicBezTo>
                    <a:pt x="10643997" y="0"/>
                    <a:pt x="10689463" y="45466"/>
                    <a:pt x="10689463" y="101600"/>
                  </a:cubicBezTo>
                  <a:cubicBezTo>
                    <a:pt x="10689463" y="157734"/>
                    <a:pt x="10643997" y="203200"/>
                    <a:pt x="10587863" y="203200"/>
                  </a:cubicBezTo>
                  <a:lnTo>
                    <a:pt x="101600" y="203200"/>
                  </a:lnTo>
                  <a:cubicBezTo>
                    <a:pt x="45466" y="203200"/>
                    <a:pt x="0" y="157734"/>
                    <a:pt x="0" y="101600"/>
                  </a:cubicBezTo>
                  <a:close/>
                </a:path>
              </a:pathLst>
            </a:custGeom>
            <a:solidFill>
              <a:srgbClr val="FF0101"/>
            </a:solidFill>
          </p:spPr>
        </p:sp>
      </p:grpSp>
      <p:grpSp>
        <p:nvGrpSpPr>
          <p:cNvPr id="27" name="Group 27"/>
          <p:cNvGrpSpPr/>
          <p:nvPr/>
        </p:nvGrpSpPr>
        <p:grpSpPr>
          <a:xfrm>
            <a:off x="4596784" y="6335316"/>
            <a:ext cx="807987" cy="807987"/>
            <a:chOff x="0" y="0"/>
            <a:chExt cx="1077316" cy="1077316"/>
          </a:xfrm>
        </p:grpSpPr>
        <p:sp>
          <p:nvSpPr>
            <p:cNvPr id="28" name="Freeform 28"/>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FF0101"/>
            </a:solidFill>
          </p:spPr>
        </p:sp>
      </p:grpSp>
      <p:sp>
        <p:nvSpPr>
          <p:cNvPr id="29" name="TextBox 29"/>
          <p:cNvSpPr txBox="1"/>
          <p:nvPr/>
        </p:nvSpPr>
        <p:spPr>
          <a:xfrm>
            <a:off x="4839224" y="6432499"/>
            <a:ext cx="323107" cy="508692"/>
          </a:xfrm>
          <a:prstGeom prst="rect">
            <a:avLst/>
          </a:prstGeom>
        </p:spPr>
        <p:txBody>
          <a:bodyPr lIns="0" tIns="0" rIns="0" bIns="0" rtlCol="0" anchor="t">
            <a:spAutoFit/>
          </a:bodyPr>
          <a:lstStyle/>
          <a:p>
            <a:pPr algn="l">
              <a:lnSpc>
                <a:spcPts val="4062"/>
              </a:lnSpc>
            </a:pPr>
            <a:r>
              <a:rPr lang="en-US" sz="2499" b="1">
                <a:solidFill>
                  <a:srgbClr val="FFFFFF"/>
                </a:solidFill>
                <a:latin typeface="Open Sans 1 Bold"/>
                <a:ea typeface="Open Sans 1 Bold"/>
                <a:cs typeface="Open Sans 1 Bold"/>
                <a:sym typeface="Open Sans 1 Bold"/>
              </a:rPr>
              <a:t>3</a:t>
            </a:r>
          </a:p>
        </p:txBody>
      </p:sp>
      <p:sp>
        <p:nvSpPr>
          <p:cNvPr id="30" name="TextBox 30"/>
          <p:cNvSpPr txBox="1"/>
          <p:nvPr/>
        </p:nvSpPr>
        <p:spPr>
          <a:xfrm>
            <a:off x="1299572" y="7393486"/>
            <a:ext cx="4007196" cy="439788"/>
          </a:xfrm>
          <a:prstGeom prst="rect">
            <a:avLst/>
          </a:prstGeom>
        </p:spPr>
        <p:txBody>
          <a:bodyPr lIns="0" tIns="0" rIns="0" bIns="0" rtlCol="0" anchor="t">
            <a:spAutoFit/>
          </a:bodyPr>
          <a:lstStyle/>
          <a:p>
            <a:pPr algn="l">
              <a:lnSpc>
                <a:spcPts val="3312"/>
              </a:lnSpc>
            </a:pPr>
            <a:r>
              <a:rPr lang="en-US" sz="2625" b="1">
                <a:solidFill>
                  <a:srgbClr val="000099"/>
                </a:solidFill>
                <a:latin typeface="Open Sans 1 Bold"/>
                <a:ea typeface="Open Sans 1 Bold"/>
                <a:cs typeface="Open Sans 1 Bold"/>
                <a:sym typeface="Open Sans 1 Bold"/>
              </a:rPr>
              <a:t>Cập Nhật Bảo Mật (DLP)</a:t>
            </a:r>
          </a:p>
        </p:txBody>
      </p:sp>
      <p:sp>
        <p:nvSpPr>
          <p:cNvPr id="31" name="TextBox 31"/>
          <p:cNvSpPr txBox="1"/>
          <p:nvPr/>
        </p:nvSpPr>
        <p:spPr>
          <a:xfrm>
            <a:off x="1299572" y="7918552"/>
            <a:ext cx="7402411" cy="938212"/>
          </a:xfrm>
          <a:prstGeom prst="rect">
            <a:avLst/>
          </a:prstGeom>
        </p:spPr>
        <p:txBody>
          <a:bodyPr lIns="0" tIns="0" rIns="0" bIns="0" rtlCol="0" anchor="t">
            <a:spAutoFit/>
          </a:bodyPr>
          <a:lstStyle/>
          <a:p>
            <a:pPr algn="l">
              <a:lnSpc>
                <a:spcPts val="3374"/>
              </a:lnSpc>
            </a:pPr>
            <a:r>
              <a:rPr lang="en-US" sz="2062">
                <a:solidFill>
                  <a:srgbClr val="000099"/>
                </a:solidFill>
                <a:latin typeface="Open Sans 1"/>
                <a:ea typeface="Open Sans 1"/>
                <a:cs typeface="Open Sans 1"/>
                <a:sym typeface="Open Sans 1"/>
              </a:rPr>
              <a:t>Đánh giá và cập nhật giải pháp Data Loss Prevention (DLP) với các nền tảng như ManageEngine/MS 365/Trellix.</a:t>
            </a:r>
          </a:p>
        </p:txBody>
      </p:sp>
      <p:grpSp>
        <p:nvGrpSpPr>
          <p:cNvPr id="32" name="Group 32"/>
          <p:cNvGrpSpPr/>
          <p:nvPr/>
        </p:nvGrpSpPr>
        <p:grpSpPr>
          <a:xfrm>
            <a:off x="9316641" y="6739233"/>
            <a:ext cx="8017221" cy="2424855"/>
            <a:chOff x="0" y="0"/>
            <a:chExt cx="10689628" cy="3233141"/>
          </a:xfrm>
        </p:grpSpPr>
        <p:sp>
          <p:nvSpPr>
            <p:cNvPr id="33" name="Freeform 33"/>
            <p:cNvSpPr/>
            <p:nvPr/>
          </p:nvSpPr>
          <p:spPr>
            <a:xfrm>
              <a:off x="0" y="0"/>
              <a:ext cx="10689590" cy="3233166"/>
            </a:xfrm>
            <a:custGeom>
              <a:avLst/>
              <a:gdLst/>
              <a:ahLst/>
              <a:cxnLst/>
              <a:rect l="l" t="t" r="r" b="b"/>
              <a:pathLst>
                <a:path w="10689590" h="3233166">
                  <a:moveTo>
                    <a:pt x="0" y="243840"/>
                  </a:moveTo>
                  <a:cubicBezTo>
                    <a:pt x="0" y="109220"/>
                    <a:pt x="109220" y="0"/>
                    <a:pt x="243840" y="0"/>
                  </a:cubicBezTo>
                  <a:lnTo>
                    <a:pt x="10445750" y="0"/>
                  </a:lnTo>
                  <a:cubicBezTo>
                    <a:pt x="10580370" y="0"/>
                    <a:pt x="10689590" y="109220"/>
                    <a:pt x="10689590" y="243840"/>
                  </a:cubicBezTo>
                  <a:lnTo>
                    <a:pt x="10689590" y="2989326"/>
                  </a:lnTo>
                  <a:cubicBezTo>
                    <a:pt x="10689590" y="3123946"/>
                    <a:pt x="10580370" y="3233166"/>
                    <a:pt x="10445750" y="3233166"/>
                  </a:cubicBezTo>
                  <a:lnTo>
                    <a:pt x="243840" y="3233166"/>
                  </a:lnTo>
                  <a:cubicBezTo>
                    <a:pt x="109220" y="3233166"/>
                    <a:pt x="0" y="3123946"/>
                    <a:pt x="0" y="2989326"/>
                  </a:cubicBezTo>
                  <a:close/>
                </a:path>
              </a:pathLst>
            </a:custGeom>
            <a:solidFill>
              <a:srgbClr val="FFFFFF"/>
            </a:solidFill>
          </p:spPr>
        </p:sp>
      </p:grpSp>
      <p:grpSp>
        <p:nvGrpSpPr>
          <p:cNvPr id="34" name="Group 34"/>
          <p:cNvGrpSpPr/>
          <p:nvPr/>
        </p:nvGrpSpPr>
        <p:grpSpPr>
          <a:xfrm>
            <a:off x="9278541" y="6701133"/>
            <a:ext cx="8017221" cy="152400"/>
            <a:chOff x="0" y="0"/>
            <a:chExt cx="10689628" cy="203200"/>
          </a:xfrm>
        </p:grpSpPr>
        <p:sp>
          <p:nvSpPr>
            <p:cNvPr id="35" name="Freeform 35"/>
            <p:cNvSpPr/>
            <p:nvPr/>
          </p:nvSpPr>
          <p:spPr>
            <a:xfrm>
              <a:off x="0" y="0"/>
              <a:ext cx="10689590" cy="203200"/>
            </a:xfrm>
            <a:custGeom>
              <a:avLst/>
              <a:gdLst/>
              <a:ahLst/>
              <a:cxnLst/>
              <a:rect l="l" t="t" r="r" b="b"/>
              <a:pathLst>
                <a:path w="10689590" h="203200">
                  <a:moveTo>
                    <a:pt x="0" y="101600"/>
                  </a:moveTo>
                  <a:cubicBezTo>
                    <a:pt x="0" y="45466"/>
                    <a:pt x="45466" y="0"/>
                    <a:pt x="101600" y="0"/>
                  </a:cubicBezTo>
                  <a:lnTo>
                    <a:pt x="10587990" y="0"/>
                  </a:lnTo>
                  <a:cubicBezTo>
                    <a:pt x="10644124" y="0"/>
                    <a:pt x="10689590" y="45466"/>
                    <a:pt x="10689590" y="101600"/>
                  </a:cubicBezTo>
                  <a:cubicBezTo>
                    <a:pt x="10689590" y="157734"/>
                    <a:pt x="10644124" y="203200"/>
                    <a:pt x="10587990" y="203200"/>
                  </a:cubicBezTo>
                  <a:lnTo>
                    <a:pt x="101600" y="203200"/>
                  </a:lnTo>
                  <a:cubicBezTo>
                    <a:pt x="45466" y="203200"/>
                    <a:pt x="0" y="157734"/>
                    <a:pt x="0" y="101600"/>
                  </a:cubicBezTo>
                  <a:close/>
                </a:path>
              </a:pathLst>
            </a:custGeom>
            <a:solidFill>
              <a:srgbClr val="FF0101"/>
            </a:solidFill>
          </p:spPr>
        </p:sp>
      </p:grpSp>
      <p:grpSp>
        <p:nvGrpSpPr>
          <p:cNvPr id="36" name="Group 36"/>
          <p:cNvGrpSpPr/>
          <p:nvPr/>
        </p:nvGrpSpPr>
        <p:grpSpPr>
          <a:xfrm>
            <a:off x="12883086" y="6335316"/>
            <a:ext cx="807987" cy="807987"/>
            <a:chOff x="0" y="0"/>
            <a:chExt cx="1077316" cy="1077316"/>
          </a:xfrm>
        </p:grpSpPr>
        <p:sp>
          <p:nvSpPr>
            <p:cNvPr id="37" name="Freeform 37"/>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FF0101"/>
            </a:solidFill>
          </p:spPr>
        </p:sp>
      </p:grpSp>
      <p:sp>
        <p:nvSpPr>
          <p:cNvPr id="38" name="TextBox 38"/>
          <p:cNvSpPr txBox="1"/>
          <p:nvPr/>
        </p:nvSpPr>
        <p:spPr>
          <a:xfrm>
            <a:off x="13125526" y="6432499"/>
            <a:ext cx="323107" cy="508692"/>
          </a:xfrm>
          <a:prstGeom prst="rect">
            <a:avLst/>
          </a:prstGeom>
        </p:spPr>
        <p:txBody>
          <a:bodyPr lIns="0" tIns="0" rIns="0" bIns="0" rtlCol="0" anchor="t">
            <a:spAutoFit/>
          </a:bodyPr>
          <a:lstStyle/>
          <a:p>
            <a:pPr algn="l">
              <a:lnSpc>
                <a:spcPts val="4062"/>
              </a:lnSpc>
            </a:pPr>
            <a:r>
              <a:rPr lang="en-US" sz="2499" b="1">
                <a:solidFill>
                  <a:srgbClr val="FFFFFF"/>
                </a:solidFill>
                <a:latin typeface="Open Sans 1 Bold"/>
                <a:ea typeface="Open Sans 1 Bold"/>
                <a:cs typeface="Open Sans 1 Bold"/>
                <a:sym typeface="Open Sans 1 Bold"/>
              </a:rPr>
              <a:t>4</a:t>
            </a:r>
          </a:p>
        </p:txBody>
      </p:sp>
      <p:sp>
        <p:nvSpPr>
          <p:cNvPr id="39" name="TextBox 39"/>
          <p:cNvSpPr txBox="1"/>
          <p:nvPr/>
        </p:nvSpPr>
        <p:spPr>
          <a:xfrm>
            <a:off x="9585874" y="7393486"/>
            <a:ext cx="4091140" cy="439788"/>
          </a:xfrm>
          <a:prstGeom prst="rect">
            <a:avLst/>
          </a:prstGeom>
        </p:spPr>
        <p:txBody>
          <a:bodyPr lIns="0" tIns="0" rIns="0" bIns="0" rtlCol="0" anchor="t">
            <a:spAutoFit/>
          </a:bodyPr>
          <a:lstStyle/>
          <a:p>
            <a:pPr algn="l">
              <a:lnSpc>
                <a:spcPts val="3312"/>
              </a:lnSpc>
            </a:pPr>
            <a:r>
              <a:rPr lang="en-US" sz="2625" b="1">
                <a:solidFill>
                  <a:srgbClr val="000099"/>
                </a:solidFill>
                <a:latin typeface="Open Sans 1 Bold"/>
                <a:ea typeface="Open Sans 1 Bold"/>
                <a:cs typeface="Open Sans 1 Bold"/>
                <a:sym typeface="Open Sans 1 Bold"/>
              </a:rPr>
              <a:t>Nâng Cấp ERP</a:t>
            </a:r>
          </a:p>
        </p:txBody>
      </p:sp>
      <p:sp>
        <p:nvSpPr>
          <p:cNvPr id="40" name="TextBox 40"/>
          <p:cNvSpPr txBox="1"/>
          <p:nvPr/>
        </p:nvSpPr>
        <p:spPr>
          <a:xfrm>
            <a:off x="9585874" y="7918552"/>
            <a:ext cx="7402563" cy="938212"/>
          </a:xfrm>
          <a:prstGeom prst="rect">
            <a:avLst/>
          </a:prstGeom>
        </p:spPr>
        <p:txBody>
          <a:bodyPr lIns="0" tIns="0" rIns="0" bIns="0" rtlCol="0" anchor="t">
            <a:spAutoFit/>
          </a:bodyPr>
          <a:lstStyle/>
          <a:p>
            <a:pPr algn="l">
              <a:lnSpc>
                <a:spcPts val="3374"/>
              </a:lnSpc>
            </a:pPr>
            <a:r>
              <a:rPr lang="en-US" sz="2062">
                <a:solidFill>
                  <a:srgbClr val="000099"/>
                </a:solidFill>
                <a:latin typeface="Open Sans 1"/>
                <a:ea typeface="Open Sans 1"/>
                <a:cs typeface="Open Sans 1"/>
                <a:sym typeface="Open Sans 1"/>
              </a:rPr>
              <a:t>Hoàn thành test các nghiệp vụ ERP/APP TDA/QRCODE/DMS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548312" y="927890"/>
            <a:ext cx="3748087" cy="895350"/>
            <a:chOff x="0" y="0"/>
            <a:chExt cx="706044" cy="168656"/>
          </a:xfrm>
        </p:grpSpPr>
        <p:sp>
          <p:nvSpPr>
            <p:cNvPr id="4" name="Freeform 4"/>
            <p:cNvSpPr/>
            <p:nvPr/>
          </p:nvSpPr>
          <p:spPr>
            <a:xfrm>
              <a:off x="0" y="0"/>
              <a:ext cx="706044" cy="168656"/>
            </a:xfrm>
            <a:custGeom>
              <a:avLst/>
              <a:gdLst/>
              <a:ahLst/>
              <a:cxnLst/>
              <a:rect l="l" t="t" r="r" b="b"/>
              <a:pathLst>
                <a:path w="706044" h="168656">
                  <a:moveTo>
                    <a:pt x="706044" y="41311"/>
                  </a:moveTo>
                  <a:lnTo>
                    <a:pt x="706044" y="127345"/>
                  </a:lnTo>
                  <a:cubicBezTo>
                    <a:pt x="706044" y="150160"/>
                    <a:pt x="687548" y="168656"/>
                    <a:pt x="664733" y="168656"/>
                  </a:cubicBezTo>
                  <a:lnTo>
                    <a:pt x="41311" y="168656"/>
                  </a:lnTo>
                  <a:cubicBezTo>
                    <a:pt x="30355" y="168656"/>
                    <a:pt x="19847" y="164304"/>
                    <a:pt x="12100" y="156556"/>
                  </a:cubicBezTo>
                  <a:cubicBezTo>
                    <a:pt x="4352" y="148809"/>
                    <a:pt x="0" y="138301"/>
                    <a:pt x="0" y="127345"/>
                  </a:cubicBezTo>
                  <a:lnTo>
                    <a:pt x="0" y="41311"/>
                  </a:lnTo>
                  <a:cubicBezTo>
                    <a:pt x="0" y="18496"/>
                    <a:pt x="18496" y="0"/>
                    <a:pt x="41311" y="0"/>
                  </a:cubicBezTo>
                  <a:lnTo>
                    <a:pt x="664733" y="0"/>
                  </a:lnTo>
                  <a:cubicBezTo>
                    <a:pt x="675689" y="0"/>
                    <a:pt x="686197" y="4352"/>
                    <a:pt x="693944" y="12100"/>
                  </a:cubicBezTo>
                  <a:cubicBezTo>
                    <a:pt x="701692" y="19847"/>
                    <a:pt x="706044" y="30355"/>
                    <a:pt x="706044" y="41311"/>
                  </a:cubicBezTo>
                  <a:close/>
                </a:path>
              </a:pathLst>
            </a:custGeom>
            <a:solidFill>
              <a:srgbClr val="FFFFFF"/>
            </a:solidFill>
          </p:spPr>
        </p:sp>
        <p:sp>
          <p:nvSpPr>
            <p:cNvPr id="5" name="TextBox 5"/>
            <p:cNvSpPr txBox="1"/>
            <p:nvPr/>
          </p:nvSpPr>
          <p:spPr>
            <a:xfrm>
              <a:off x="0" y="-28575"/>
              <a:ext cx="706044" cy="197231"/>
            </a:xfrm>
            <a:prstGeom prst="rect">
              <a:avLst/>
            </a:prstGeom>
          </p:spPr>
          <p:txBody>
            <a:bodyPr lIns="50800" tIns="50800" rIns="50800" bIns="50800" rtlCol="0" anchor="ctr"/>
            <a:lstStyle/>
            <a:p>
              <a:pPr algn="ctr">
                <a:lnSpc>
                  <a:spcPts val="2519"/>
                </a:lnSpc>
              </a:pPr>
              <a:endParaRPr/>
            </a:p>
          </p:txBody>
        </p:sp>
      </p:grpSp>
      <p:grpSp>
        <p:nvGrpSpPr>
          <p:cNvPr id="6" name="Group 6"/>
          <p:cNvGrpSpPr/>
          <p:nvPr/>
        </p:nvGrpSpPr>
        <p:grpSpPr>
          <a:xfrm>
            <a:off x="7553325" y="3145631"/>
            <a:ext cx="3181350" cy="895350"/>
            <a:chOff x="0" y="0"/>
            <a:chExt cx="599285" cy="168656"/>
          </a:xfrm>
        </p:grpSpPr>
        <p:sp>
          <p:nvSpPr>
            <p:cNvPr id="7" name="Freeform 7"/>
            <p:cNvSpPr/>
            <p:nvPr/>
          </p:nvSpPr>
          <p:spPr>
            <a:xfrm>
              <a:off x="0" y="0"/>
              <a:ext cx="599285" cy="168656"/>
            </a:xfrm>
            <a:custGeom>
              <a:avLst/>
              <a:gdLst/>
              <a:ahLst/>
              <a:cxnLst/>
              <a:rect l="l" t="t" r="r" b="b"/>
              <a:pathLst>
                <a:path w="599285" h="168656">
                  <a:moveTo>
                    <a:pt x="599285" y="48671"/>
                  </a:moveTo>
                  <a:lnTo>
                    <a:pt x="599285" y="119985"/>
                  </a:lnTo>
                  <a:cubicBezTo>
                    <a:pt x="599285" y="146865"/>
                    <a:pt x="577495" y="168656"/>
                    <a:pt x="550615" y="168656"/>
                  </a:cubicBezTo>
                  <a:lnTo>
                    <a:pt x="48671" y="168656"/>
                  </a:lnTo>
                  <a:cubicBezTo>
                    <a:pt x="35762" y="168656"/>
                    <a:pt x="23383" y="163528"/>
                    <a:pt x="14255" y="154401"/>
                  </a:cubicBezTo>
                  <a:cubicBezTo>
                    <a:pt x="5128" y="145273"/>
                    <a:pt x="0" y="132894"/>
                    <a:pt x="0" y="119985"/>
                  </a:cubicBezTo>
                  <a:lnTo>
                    <a:pt x="0" y="48671"/>
                  </a:lnTo>
                  <a:cubicBezTo>
                    <a:pt x="0" y="21791"/>
                    <a:pt x="21791" y="0"/>
                    <a:pt x="48671" y="0"/>
                  </a:cubicBezTo>
                  <a:lnTo>
                    <a:pt x="550615" y="0"/>
                  </a:lnTo>
                  <a:cubicBezTo>
                    <a:pt x="577495" y="0"/>
                    <a:pt x="599285" y="21791"/>
                    <a:pt x="599285" y="48671"/>
                  </a:cubicBezTo>
                  <a:close/>
                </a:path>
              </a:pathLst>
            </a:custGeom>
            <a:solidFill>
              <a:srgbClr val="FFFFFF"/>
            </a:solidFill>
          </p:spPr>
        </p:sp>
        <p:sp>
          <p:nvSpPr>
            <p:cNvPr id="8" name="TextBox 8"/>
            <p:cNvSpPr txBox="1"/>
            <p:nvPr/>
          </p:nvSpPr>
          <p:spPr>
            <a:xfrm>
              <a:off x="0" y="-28575"/>
              <a:ext cx="599285" cy="197231"/>
            </a:xfrm>
            <a:prstGeom prst="rect">
              <a:avLst/>
            </a:prstGeom>
          </p:spPr>
          <p:txBody>
            <a:bodyPr lIns="50800" tIns="50800" rIns="50800" bIns="50800" rtlCol="0" anchor="ctr"/>
            <a:lstStyle/>
            <a:p>
              <a:pPr algn="ctr">
                <a:lnSpc>
                  <a:spcPts val="2519"/>
                </a:lnSpc>
              </a:pPr>
              <a:endParaRPr/>
            </a:p>
          </p:txBody>
        </p:sp>
      </p:grpSp>
      <p:grpSp>
        <p:nvGrpSpPr>
          <p:cNvPr id="9" name="Group 9"/>
          <p:cNvGrpSpPr/>
          <p:nvPr/>
        </p:nvGrpSpPr>
        <p:grpSpPr>
          <a:xfrm>
            <a:off x="7553325" y="5919788"/>
            <a:ext cx="3181350" cy="895350"/>
            <a:chOff x="0" y="0"/>
            <a:chExt cx="599285" cy="168656"/>
          </a:xfrm>
        </p:grpSpPr>
        <p:sp>
          <p:nvSpPr>
            <p:cNvPr id="10" name="Freeform 10"/>
            <p:cNvSpPr/>
            <p:nvPr/>
          </p:nvSpPr>
          <p:spPr>
            <a:xfrm>
              <a:off x="0" y="0"/>
              <a:ext cx="599285" cy="168656"/>
            </a:xfrm>
            <a:custGeom>
              <a:avLst/>
              <a:gdLst/>
              <a:ahLst/>
              <a:cxnLst/>
              <a:rect l="l" t="t" r="r" b="b"/>
              <a:pathLst>
                <a:path w="599285" h="168656">
                  <a:moveTo>
                    <a:pt x="599285" y="48671"/>
                  </a:moveTo>
                  <a:lnTo>
                    <a:pt x="599285" y="119985"/>
                  </a:lnTo>
                  <a:cubicBezTo>
                    <a:pt x="599285" y="146865"/>
                    <a:pt x="577495" y="168656"/>
                    <a:pt x="550615" y="168656"/>
                  </a:cubicBezTo>
                  <a:lnTo>
                    <a:pt x="48671" y="168656"/>
                  </a:lnTo>
                  <a:cubicBezTo>
                    <a:pt x="35762" y="168656"/>
                    <a:pt x="23383" y="163528"/>
                    <a:pt x="14255" y="154401"/>
                  </a:cubicBezTo>
                  <a:cubicBezTo>
                    <a:pt x="5128" y="145273"/>
                    <a:pt x="0" y="132894"/>
                    <a:pt x="0" y="119985"/>
                  </a:cubicBezTo>
                  <a:lnTo>
                    <a:pt x="0" y="48671"/>
                  </a:lnTo>
                  <a:cubicBezTo>
                    <a:pt x="0" y="21791"/>
                    <a:pt x="21791" y="0"/>
                    <a:pt x="48671" y="0"/>
                  </a:cubicBezTo>
                  <a:lnTo>
                    <a:pt x="550615" y="0"/>
                  </a:lnTo>
                  <a:cubicBezTo>
                    <a:pt x="577495" y="0"/>
                    <a:pt x="599285" y="21791"/>
                    <a:pt x="599285" y="48671"/>
                  </a:cubicBezTo>
                  <a:close/>
                </a:path>
              </a:pathLst>
            </a:custGeom>
            <a:solidFill>
              <a:srgbClr val="FFFFFF"/>
            </a:solidFill>
          </p:spPr>
        </p:sp>
        <p:sp>
          <p:nvSpPr>
            <p:cNvPr id="11" name="TextBox 11"/>
            <p:cNvSpPr txBox="1"/>
            <p:nvPr/>
          </p:nvSpPr>
          <p:spPr>
            <a:xfrm>
              <a:off x="0" y="-28575"/>
              <a:ext cx="599285" cy="197231"/>
            </a:xfrm>
            <a:prstGeom prst="rect">
              <a:avLst/>
            </a:prstGeom>
          </p:spPr>
          <p:txBody>
            <a:bodyPr lIns="50800" tIns="50800" rIns="50800" bIns="50800" rtlCol="0" anchor="ctr"/>
            <a:lstStyle/>
            <a:p>
              <a:pPr algn="ctr">
                <a:lnSpc>
                  <a:spcPts val="2519"/>
                </a:lnSpc>
              </a:pPr>
              <a:endParaRPr/>
            </a:p>
          </p:txBody>
        </p:sp>
      </p:grpSp>
      <p:grpSp>
        <p:nvGrpSpPr>
          <p:cNvPr id="12" name="Group 12"/>
          <p:cNvGrpSpPr/>
          <p:nvPr/>
        </p:nvGrpSpPr>
        <p:grpSpPr>
          <a:xfrm>
            <a:off x="5548312" y="8463760"/>
            <a:ext cx="3748087" cy="895350"/>
            <a:chOff x="0" y="0"/>
            <a:chExt cx="706044" cy="168656"/>
          </a:xfrm>
        </p:grpSpPr>
        <p:sp>
          <p:nvSpPr>
            <p:cNvPr id="13" name="Freeform 13"/>
            <p:cNvSpPr/>
            <p:nvPr/>
          </p:nvSpPr>
          <p:spPr>
            <a:xfrm>
              <a:off x="0" y="0"/>
              <a:ext cx="706044" cy="168656"/>
            </a:xfrm>
            <a:custGeom>
              <a:avLst/>
              <a:gdLst/>
              <a:ahLst/>
              <a:cxnLst/>
              <a:rect l="l" t="t" r="r" b="b"/>
              <a:pathLst>
                <a:path w="706044" h="168656">
                  <a:moveTo>
                    <a:pt x="706044" y="41311"/>
                  </a:moveTo>
                  <a:lnTo>
                    <a:pt x="706044" y="127345"/>
                  </a:lnTo>
                  <a:cubicBezTo>
                    <a:pt x="706044" y="150160"/>
                    <a:pt x="687548" y="168656"/>
                    <a:pt x="664733" y="168656"/>
                  </a:cubicBezTo>
                  <a:lnTo>
                    <a:pt x="41311" y="168656"/>
                  </a:lnTo>
                  <a:cubicBezTo>
                    <a:pt x="30355" y="168656"/>
                    <a:pt x="19847" y="164304"/>
                    <a:pt x="12100" y="156556"/>
                  </a:cubicBezTo>
                  <a:cubicBezTo>
                    <a:pt x="4352" y="148809"/>
                    <a:pt x="0" y="138301"/>
                    <a:pt x="0" y="127345"/>
                  </a:cubicBezTo>
                  <a:lnTo>
                    <a:pt x="0" y="41311"/>
                  </a:lnTo>
                  <a:cubicBezTo>
                    <a:pt x="0" y="18496"/>
                    <a:pt x="18496" y="0"/>
                    <a:pt x="41311" y="0"/>
                  </a:cubicBezTo>
                  <a:lnTo>
                    <a:pt x="664733" y="0"/>
                  </a:lnTo>
                  <a:cubicBezTo>
                    <a:pt x="675689" y="0"/>
                    <a:pt x="686197" y="4352"/>
                    <a:pt x="693944" y="12100"/>
                  </a:cubicBezTo>
                  <a:cubicBezTo>
                    <a:pt x="701692" y="19847"/>
                    <a:pt x="706044" y="30355"/>
                    <a:pt x="706044" y="41311"/>
                  </a:cubicBezTo>
                  <a:close/>
                </a:path>
              </a:pathLst>
            </a:custGeom>
            <a:solidFill>
              <a:srgbClr val="FFFFFF"/>
            </a:solidFill>
          </p:spPr>
        </p:sp>
        <p:sp>
          <p:nvSpPr>
            <p:cNvPr id="14" name="TextBox 14"/>
            <p:cNvSpPr txBox="1"/>
            <p:nvPr/>
          </p:nvSpPr>
          <p:spPr>
            <a:xfrm>
              <a:off x="0" y="-28575"/>
              <a:ext cx="706044" cy="197231"/>
            </a:xfrm>
            <a:prstGeom prst="rect">
              <a:avLst/>
            </a:prstGeom>
          </p:spPr>
          <p:txBody>
            <a:bodyPr lIns="50800" tIns="50800" rIns="50800" bIns="50800" rtlCol="0" anchor="ctr"/>
            <a:lstStyle/>
            <a:p>
              <a:pPr algn="ctr">
                <a:lnSpc>
                  <a:spcPts val="2519"/>
                </a:lnSpc>
              </a:pPr>
              <a:endParaRPr/>
            </a:p>
          </p:txBody>
        </p:sp>
      </p:grpSp>
      <p:grpSp>
        <p:nvGrpSpPr>
          <p:cNvPr id="15" name="Group 15"/>
          <p:cNvGrpSpPr/>
          <p:nvPr/>
        </p:nvGrpSpPr>
        <p:grpSpPr>
          <a:xfrm>
            <a:off x="4981575" y="808827"/>
            <a:ext cx="1133475" cy="1133475"/>
            <a:chOff x="0" y="0"/>
            <a:chExt cx="1511300" cy="1511300"/>
          </a:xfrm>
        </p:grpSpPr>
        <p:grpSp>
          <p:nvGrpSpPr>
            <p:cNvPr id="16" name="Group 16"/>
            <p:cNvGrpSpPr/>
            <p:nvPr/>
          </p:nvGrpSpPr>
          <p:grpSpPr>
            <a:xfrm>
              <a:off x="0" y="0"/>
              <a:ext cx="1511300" cy="151130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101"/>
              </a:solidFill>
              <a:ln w="19050" cap="sq">
                <a:solidFill>
                  <a:srgbClr val="FFFFFF"/>
                </a:solidFill>
                <a:prstDash val="solid"/>
                <a:miter/>
              </a:ln>
            </p:spPr>
          </p:sp>
          <p:sp>
            <p:nvSpPr>
              <p:cNvPr id="18" name="TextBox 18"/>
              <p:cNvSpPr txBox="1"/>
              <p:nvPr/>
            </p:nvSpPr>
            <p:spPr>
              <a:xfrm>
                <a:off x="76200" y="47625"/>
                <a:ext cx="660400" cy="688975"/>
              </a:xfrm>
              <a:prstGeom prst="rect">
                <a:avLst/>
              </a:prstGeom>
            </p:spPr>
            <p:txBody>
              <a:bodyPr lIns="50800" tIns="50800" rIns="50800" bIns="50800" rtlCol="0" anchor="ctr"/>
              <a:lstStyle/>
              <a:p>
                <a:pPr marL="0" lvl="0" indent="0" algn="ctr">
                  <a:lnSpc>
                    <a:spcPts val="2519"/>
                  </a:lnSpc>
                  <a:spcBef>
                    <a:spcPct val="0"/>
                  </a:spcBef>
                </a:pPr>
                <a:endParaRPr/>
              </a:p>
            </p:txBody>
          </p:sp>
        </p:grpSp>
        <p:sp>
          <p:nvSpPr>
            <p:cNvPr id="19" name="Freeform 19"/>
            <p:cNvSpPr/>
            <p:nvPr/>
          </p:nvSpPr>
          <p:spPr>
            <a:xfrm>
              <a:off x="459118" y="397205"/>
              <a:ext cx="593063" cy="716890"/>
            </a:xfrm>
            <a:custGeom>
              <a:avLst/>
              <a:gdLst/>
              <a:ahLst/>
              <a:cxnLst/>
              <a:rect l="l" t="t" r="r" b="b"/>
              <a:pathLst>
                <a:path w="593063" h="716890">
                  <a:moveTo>
                    <a:pt x="0" y="0"/>
                  </a:moveTo>
                  <a:lnTo>
                    <a:pt x="593064" y="0"/>
                  </a:lnTo>
                  <a:lnTo>
                    <a:pt x="593064" y="716890"/>
                  </a:lnTo>
                  <a:lnTo>
                    <a:pt x="0" y="716890"/>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grpSp>
      <p:grpSp>
        <p:nvGrpSpPr>
          <p:cNvPr id="20" name="Group 20"/>
          <p:cNvGrpSpPr/>
          <p:nvPr/>
        </p:nvGrpSpPr>
        <p:grpSpPr>
          <a:xfrm>
            <a:off x="6986587" y="3026569"/>
            <a:ext cx="1133475" cy="1133475"/>
            <a:chOff x="0" y="0"/>
            <a:chExt cx="1511300" cy="1511300"/>
          </a:xfrm>
        </p:grpSpPr>
        <p:grpSp>
          <p:nvGrpSpPr>
            <p:cNvPr id="21" name="Group 21"/>
            <p:cNvGrpSpPr/>
            <p:nvPr/>
          </p:nvGrpSpPr>
          <p:grpSpPr>
            <a:xfrm>
              <a:off x="0" y="0"/>
              <a:ext cx="1511300" cy="151130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101"/>
              </a:solidFill>
              <a:ln w="19050" cap="sq">
                <a:solidFill>
                  <a:srgbClr val="FFFFFF"/>
                </a:solidFill>
                <a:prstDash val="solid"/>
                <a:miter/>
              </a:ln>
            </p:spPr>
          </p:sp>
          <p:sp>
            <p:nvSpPr>
              <p:cNvPr id="23" name="TextBox 23"/>
              <p:cNvSpPr txBox="1"/>
              <p:nvPr/>
            </p:nvSpPr>
            <p:spPr>
              <a:xfrm>
                <a:off x="76200" y="47625"/>
                <a:ext cx="660400" cy="688975"/>
              </a:xfrm>
              <a:prstGeom prst="rect">
                <a:avLst/>
              </a:prstGeom>
            </p:spPr>
            <p:txBody>
              <a:bodyPr lIns="50800" tIns="50800" rIns="50800" bIns="50800" rtlCol="0" anchor="ctr"/>
              <a:lstStyle/>
              <a:p>
                <a:pPr marL="0" lvl="0" indent="0" algn="ctr">
                  <a:lnSpc>
                    <a:spcPts val="2519"/>
                  </a:lnSpc>
                  <a:spcBef>
                    <a:spcPct val="0"/>
                  </a:spcBef>
                </a:pPr>
                <a:endParaRPr/>
              </a:p>
            </p:txBody>
          </p:sp>
        </p:grpSp>
        <p:sp>
          <p:nvSpPr>
            <p:cNvPr id="24" name="Freeform 24"/>
            <p:cNvSpPr/>
            <p:nvPr/>
          </p:nvSpPr>
          <p:spPr>
            <a:xfrm>
              <a:off x="396538" y="489257"/>
              <a:ext cx="718224" cy="578497"/>
            </a:xfrm>
            <a:custGeom>
              <a:avLst/>
              <a:gdLst/>
              <a:ahLst/>
              <a:cxnLst/>
              <a:rect l="l" t="t" r="r" b="b"/>
              <a:pathLst>
                <a:path w="718224" h="578497">
                  <a:moveTo>
                    <a:pt x="0" y="0"/>
                  </a:moveTo>
                  <a:lnTo>
                    <a:pt x="718224" y="0"/>
                  </a:lnTo>
                  <a:lnTo>
                    <a:pt x="718224" y="578496"/>
                  </a:lnTo>
                  <a:lnTo>
                    <a:pt x="0" y="578496"/>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grpSp>
        <p:nvGrpSpPr>
          <p:cNvPr id="25" name="Group 25"/>
          <p:cNvGrpSpPr/>
          <p:nvPr/>
        </p:nvGrpSpPr>
        <p:grpSpPr>
          <a:xfrm>
            <a:off x="6986587" y="5800725"/>
            <a:ext cx="1133475" cy="1133475"/>
            <a:chOff x="0" y="0"/>
            <a:chExt cx="1511300" cy="1511300"/>
          </a:xfrm>
        </p:grpSpPr>
        <p:grpSp>
          <p:nvGrpSpPr>
            <p:cNvPr id="26" name="Group 26"/>
            <p:cNvGrpSpPr/>
            <p:nvPr/>
          </p:nvGrpSpPr>
          <p:grpSpPr>
            <a:xfrm>
              <a:off x="0" y="0"/>
              <a:ext cx="1511300" cy="151130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101"/>
              </a:solidFill>
              <a:ln w="19050" cap="sq">
                <a:solidFill>
                  <a:srgbClr val="FFFFFF"/>
                </a:solidFill>
                <a:prstDash val="solid"/>
                <a:miter/>
              </a:ln>
            </p:spPr>
          </p:sp>
          <p:sp>
            <p:nvSpPr>
              <p:cNvPr id="28" name="TextBox 28"/>
              <p:cNvSpPr txBox="1"/>
              <p:nvPr/>
            </p:nvSpPr>
            <p:spPr>
              <a:xfrm>
                <a:off x="76200" y="47625"/>
                <a:ext cx="660400" cy="688975"/>
              </a:xfrm>
              <a:prstGeom prst="rect">
                <a:avLst/>
              </a:prstGeom>
            </p:spPr>
            <p:txBody>
              <a:bodyPr lIns="50800" tIns="50800" rIns="50800" bIns="50800" rtlCol="0" anchor="ctr"/>
              <a:lstStyle/>
              <a:p>
                <a:pPr marL="0" lvl="0" indent="0" algn="ctr">
                  <a:lnSpc>
                    <a:spcPts val="2519"/>
                  </a:lnSpc>
                  <a:spcBef>
                    <a:spcPct val="0"/>
                  </a:spcBef>
                </a:pPr>
                <a:endParaRPr/>
              </a:p>
            </p:txBody>
          </p:sp>
        </p:grpSp>
        <p:sp>
          <p:nvSpPr>
            <p:cNvPr id="29" name="Freeform 29"/>
            <p:cNvSpPr/>
            <p:nvPr/>
          </p:nvSpPr>
          <p:spPr>
            <a:xfrm>
              <a:off x="430968" y="441594"/>
              <a:ext cx="649364" cy="628112"/>
            </a:xfrm>
            <a:custGeom>
              <a:avLst/>
              <a:gdLst/>
              <a:ahLst/>
              <a:cxnLst/>
              <a:rect l="l" t="t" r="r" b="b"/>
              <a:pathLst>
                <a:path w="649364" h="628112">
                  <a:moveTo>
                    <a:pt x="0" y="0"/>
                  </a:moveTo>
                  <a:lnTo>
                    <a:pt x="649364" y="0"/>
                  </a:lnTo>
                  <a:lnTo>
                    <a:pt x="649364" y="628112"/>
                  </a:lnTo>
                  <a:lnTo>
                    <a:pt x="0" y="628112"/>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grpSp>
      <p:grpSp>
        <p:nvGrpSpPr>
          <p:cNvPr id="30" name="Group 30"/>
          <p:cNvGrpSpPr/>
          <p:nvPr/>
        </p:nvGrpSpPr>
        <p:grpSpPr>
          <a:xfrm>
            <a:off x="4981575" y="8344698"/>
            <a:ext cx="1133475" cy="1133475"/>
            <a:chOff x="0" y="0"/>
            <a:chExt cx="1511300" cy="1511300"/>
          </a:xfrm>
        </p:grpSpPr>
        <p:grpSp>
          <p:nvGrpSpPr>
            <p:cNvPr id="31" name="Group 31"/>
            <p:cNvGrpSpPr/>
            <p:nvPr/>
          </p:nvGrpSpPr>
          <p:grpSpPr>
            <a:xfrm>
              <a:off x="0" y="0"/>
              <a:ext cx="1511300" cy="151130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101"/>
              </a:solidFill>
              <a:ln w="19050" cap="sq">
                <a:solidFill>
                  <a:srgbClr val="FFFFFF"/>
                </a:solidFill>
                <a:prstDash val="solid"/>
                <a:miter/>
              </a:ln>
            </p:spPr>
          </p:sp>
          <p:sp>
            <p:nvSpPr>
              <p:cNvPr id="33" name="TextBox 33"/>
              <p:cNvSpPr txBox="1"/>
              <p:nvPr/>
            </p:nvSpPr>
            <p:spPr>
              <a:xfrm>
                <a:off x="76200" y="47625"/>
                <a:ext cx="660400" cy="688975"/>
              </a:xfrm>
              <a:prstGeom prst="rect">
                <a:avLst/>
              </a:prstGeom>
            </p:spPr>
            <p:txBody>
              <a:bodyPr lIns="50800" tIns="50800" rIns="50800" bIns="50800" rtlCol="0" anchor="ctr"/>
              <a:lstStyle/>
              <a:p>
                <a:pPr marL="0" lvl="0" indent="0" algn="ctr">
                  <a:lnSpc>
                    <a:spcPts val="2519"/>
                  </a:lnSpc>
                  <a:spcBef>
                    <a:spcPct val="0"/>
                  </a:spcBef>
                </a:pPr>
                <a:endParaRPr/>
              </a:p>
            </p:txBody>
          </p:sp>
        </p:grpSp>
        <p:sp>
          <p:nvSpPr>
            <p:cNvPr id="34" name="Freeform 34"/>
            <p:cNvSpPr/>
            <p:nvPr/>
          </p:nvSpPr>
          <p:spPr>
            <a:xfrm>
              <a:off x="331695" y="346649"/>
              <a:ext cx="783311" cy="753403"/>
            </a:xfrm>
            <a:custGeom>
              <a:avLst/>
              <a:gdLst/>
              <a:ahLst/>
              <a:cxnLst/>
              <a:rect l="l" t="t" r="r" b="b"/>
              <a:pathLst>
                <a:path w="783311" h="753403">
                  <a:moveTo>
                    <a:pt x="0" y="0"/>
                  </a:moveTo>
                  <a:lnTo>
                    <a:pt x="783312" y="0"/>
                  </a:lnTo>
                  <a:lnTo>
                    <a:pt x="783312" y="753403"/>
                  </a:lnTo>
                  <a:lnTo>
                    <a:pt x="0" y="753403"/>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grpSp>
      <p:sp>
        <p:nvSpPr>
          <p:cNvPr id="35" name="AutoShape 35"/>
          <p:cNvSpPr/>
          <p:nvPr/>
        </p:nvSpPr>
        <p:spPr>
          <a:xfrm flipV="1">
            <a:off x="9296400" y="1375565"/>
            <a:ext cx="1133475" cy="0"/>
          </a:xfrm>
          <a:prstGeom prst="line">
            <a:avLst/>
          </a:prstGeom>
          <a:ln w="28575" cap="flat">
            <a:solidFill>
              <a:srgbClr val="FF0101"/>
            </a:solidFill>
            <a:prstDash val="lgDash"/>
            <a:headEnd type="none" w="sm" len="sm"/>
            <a:tailEnd type="oval" w="lg" len="lg"/>
          </a:ln>
        </p:spPr>
      </p:sp>
      <p:sp>
        <p:nvSpPr>
          <p:cNvPr id="36" name="AutoShape 36"/>
          <p:cNvSpPr/>
          <p:nvPr/>
        </p:nvSpPr>
        <p:spPr>
          <a:xfrm>
            <a:off x="10734675" y="3575209"/>
            <a:ext cx="1133475" cy="0"/>
          </a:xfrm>
          <a:prstGeom prst="line">
            <a:avLst/>
          </a:prstGeom>
          <a:ln w="28575" cap="flat">
            <a:solidFill>
              <a:srgbClr val="FF0101"/>
            </a:solidFill>
            <a:prstDash val="lgDash"/>
            <a:headEnd type="none" w="sm" len="sm"/>
            <a:tailEnd type="oval" w="lg" len="lg"/>
          </a:ln>
        </p:spPr>
      </p:sp>
      <p:sp>
        <p:nvSpPr>
          <p:cNvPr id="37" name="AutoShape 37"/>
          <p:cNvSpPr/>
          <p:nvPr/>
        </p:nvSpPr>
        <p:spPr>
          <a:xfrm>
            <a:off x="10734675" y="6349365"/>
            <a:ext cx="1133475" cy="0"/>
          </a:xfrm>
          <a:prstGeom prst="line">
            <a:avLst/>
          </a:prstGeom>
          <a:ln w="28575" cap="flat">
            <a:solidFill>
              <a:srgbClr val="FF0101"/>
            </a:solidFill>
            <a:prstDash val="lgDash"/>
            <a:headEnd type="none" w="sm" len="sm"/>
            <a:tailEnd type="oval" w="lg" len="lg"/>
          </a:ln>
        </p:spPr>
      </p:sp>
      <p:sp>
        <p:nvSpPr>
          <p:cNvPr id="38" name="AutoShape 38"/>
          <p:cNvSpPr/>
          <p:nvPr/>
        </p:nvSpPr>
        <p:spPr>
          <a:xfrm>
            <a:off x="9296400" y="8897148"/>
            <a:ext cx="1133475" cy="0"/>
          </a:xfrm>
          <a:prstGeom prst="line">
            <a:avLst/>
          </a:prstGeom>
          <a:ln w="28575" cap="flat">
            <a:solidFill>
              <a:srgbClr val="FF0101"/>
            </a:solidFill>
            <a:prstDash val="lgDash"/>
            <a:headEnd type="none" w="sm" len="sm"/>
            <a:tailEnd type="oval" w="lg" len="lg"/>
          </a:ln>
        </p:spPr>
      </p:sp>
      <p:sp>
        <p:nvSpPr>
          <p:cNvPr id="39" name="TextBox 39"/>
          <p:cNvSpPr txBox="1"/>
          <p:nvPr/>
        </p:nvSpPr>
        <p:spPr>
          <a:xfrm>
            <a:off x="666750" y="4248150"/>
            <a:ext cx="5448300" cy="1943100"/>
          </a:xfrm>
          <a:prstGeom prst="rect">
            <a:avLst/>
          </a:prstGeom>
        </p:spPr>
        <p:txBody>
          <a:bodyPr lIns="0" tIns="0" rIns="0" bIns="0" rtlCol="0" anchor="t">
            <a:spAutoFit/>
          </a:bodyPr>
          <a:lstStyle/>
          <a:p>
            <a:pPr algn="l">
              <a:lnSpc>
                <a:spcPts val="7679"/>
              </a:lnSpc>
            </a:pPr>
            <a:r>
              <a:rPr lang="en-US" sz="6399" b="1" dirty="0">
                <a:solidFill>
                  <a:srgbClr val="000099"/>
                </a:solidFill>
                <a:latin typeface="Open Sans 2 Bold"/>
                <a:ea typeface="Open Sans 2 Bold"/>
                <a:cs typeface="Open Sans 2 Bold"/>
                <a:sym typeface="Open Sans 2 Bold"/>
              </a:rPr>
              <a:t>Timeline page heading</a:t>
            </a:r>
          </a:p>
        </p:txBody>
      </p:sp>
      <p:sp>
        <p:nvSpPr>
          <p:cNvPr id="40" name="TextBox 40"/>
          <p:cNvSpPr txBox="1"/>
          <p:nvPr/>
        </p:nvSpPr>
        <p:spPr>
          <a:xfrm>
            <a:off x="6419850" y="1014202"/>
            <a:ext cx="2431997" cy="646525"/>
          </a:xfrm>
          <a:prstGeom prst="rect">
            <a:avLst/>
          </a:prstGeom>
        </p:spPr>
        <p:txBody>
          <a:bodyPr lIns="0" tIns="0" rIns="0" bIns="0" rtlCol="0" anchor="t">
            <a:spAutoFit/>
          </a:bodyPr>
          <a:lstStyle/>
          <a:p>
            <a:pPr algn="l">
              <a:lnSpc>
                <a:spcPts val="5314"/>
              </a:lnSpc>
              <a:spcBef>
                <a:spcPct val="0"/>
              </a:spcBef>
            </a:pPr>
            <a:r>
              <a:rPr lang="en-US" sz="3796" b="1">
                <a:solidFill>
                  <a:srgbClr val="000099"/>
                </a:solidFill>
                <a:latin typeface="Open Sans 2 Bold"/>
                <a:ea typeface="Open Sans 2 Bold"/>
                <a:cs typeface="Open Sans 2 Bold"/>
                <a:sym typeface="Open Sans 2 Bold"/>
              </a:rPr>
              <a:t>Year 01</a:t>
            </a:r>
          </a:p>
        </p:txBody>
      </p:sp>
      <p:sp>
        <p:nvSpPr>
          <p:cNvPr id="41" name="TextBox 41"/>
          <p:cNvSpPr txBox="1"/>
          <p:nvPr/>
        </p:nvSpPr>
        <p:spPr>
          <a:xfrm>
            <a:off x="8443293" y="3231944"/>
            <a:ext cx="1986582" cy="646525"/>
          </a:xfrm>
          <a:prstGeom prst="rect">
            <a:avLst/>
          </a:prstGeom>
        </p:spPr>
        <p:txBody>
          <a:bodyPr lIns="0" tIns="0" rIns="0" bIns="0" rtlCol="0" anchor="t">
            <a:spAutoFit/>
          </a:bodyPr>
          <a:lstStyle/>
          <a:p>
            <a:pPr algn="l">
              <a:lnSpc>
                <a:spcPts val="5314"/>
              </a:lnSpc>
              <a:spcBef>
                <a:spcPct val="0"/>
              </a:spcBef>
            </a:pPr>
            <a:r>
              <a:rPr lang="en-US" sz="3796" b="1" dirty="0">
                <a:solidFill>
                  <a:srgbClr val="000099"/>
                </a:solidFill>
                <a:latin typeface="Open Sans 2 Bold"/>
                <a:ea typeface="Open Sans 2 Bold"/>
                <a:cs typeface="Open Sans 2 Bold"/>
                <a:sym typeface="Open Sans 2 Bold"/>
              </a:rPr>
              <a:t>Year 02</a:t>
            </a:r>
          </a:p>
        </p:txBody>
      </p:sp>
      <p:sp>
        <p:nvSpPr>
          <p:cNvPr id="42" name="TextBox 42"/>
          <p:cNvSpPr txBox="1"/>
          <p:nvPr/>
        </p:nvSpPr>
        <p:spPr>
          <a:xfrm>
            <a:off x="8443293" y="6015625"/>
            <a:ext cx="1986582" cy="646525"/>
          </a:xfrm>
          <a:prstGeom prst="rect">
            <a:avLst/>
          </a:prstGeom>
        </p:spPr>
        <p:txBody>
          <a:bodyPr lIns="0" tIns="0" rIns="0" bIns="0" rtlCol="0" anchor="t">
            <a:spAutoFit/>
          </a:bodyPr>
          <a:lstStyle/>
          <a:p>
            <a:pPr algn="l">
              <a:lnSpc>
                <a:spcPts val="5314"/>
              </a:lnSpc>
              <a:spcBef>
                <a:spcPct val="0"/>
              </a:spcBef>
            </a:pPr>
            <a:r>
              <a:rPr lang="en-US" sz="3796" b="1">
                <a:solidFill>
                  <a:srgbClr val="000099"/>
                </a:solidFill>
                <a:latin typeface="Open Sans 2 Bold"/>
                <a:ea typeface="Open Sans 2 Bold"/>
                <a:cs typeface="Open Sans 2 Bold"/>
                <a:sym typeface="Open Sans 2 Bold"/>
              </a:rPr>
              <a:t>Year 03</a:t>
            </a:r>
          </a:p>
        </p:txBody>
      </p:sp>
      <p:sp>
        <p:nvSpPr>
          <p:cNvPr id="43" name="TextBox 43"/>
          <p:cNvSpPr txBox="1"/>
          <p:nvPr/>
        </p:nvSpPr>
        <p:spPr>
          <a:xfrm>
            <a:off x="6419850" y="8559598"/>
            <a:ext cx="2431997" cy="646525"/>
          </a:xfrm>
          <a:prstGeom prst="rect">
            <a:avLst/>
          </a:prstGeom>
        </p:spPr>
        <p:txBody>
          <a:bodyPr lIns="0" tIns="0" rIns="0" bIns="0" rtlCol="0" anchor="t">
            <a:spAutoFit/>
          </a:bodyPr>
          <a:lstStyle/>
          <a:p>
            <a:pPr algn="l">
              <a:lnSpc>
                <a:spcPts val="5314"/>
              </a:lnSpc>
              <a:spcBef>
                <a:spcPct val="0"/>
              </a:spcBef>
            </a:pPr>
            <a:r>
              <a:rPr lang="en-US" sz="3796" b="1">
                <a:solidFill>
                  <a:srgbClr val="000099"/>
                </a:solidFill>
                <a:latin typeface="Open Sans 2 Bold"/>
                <a:ea typeface="Open Sans 2 Bold"/>
                <a:cs typeface="Open Sans 2 Bold"/>
                <a:sym typeface="Open Sans 2 Bold"/>
              </a:rPr>
              <a:t>Year 04</a:t>
            </a:r>
          </a:p>
        </p:txBody>
      </p:sp>
      <p:grpSp>
        <p:nvGrpSpPr>
          <p:cNvPr id="44" name="Group 44"/>
          <p:cNvGrpSpPr/>
          <p:nvPr/>
        </p:nvGrpSpPr>
        <p:grpSpPr>
          <a:xfrm>
            <a:off x="10734675" y="927890"/>
            <a:ext cx="5448300" cy="888302"/>
            <a:chOff x="0" y="0"/>
            <a:chExt cx="7264400" cy="1184402"/>
          </a:xfrm>
        </p:grpSpPr>
        <p:sp>
          <p:nvSpPr>
            <p:cNvPr id="45" name="TextBox 45"/>
            <p:cNvSpPr txBox="1"/>
            <p:nvPr/>
          </p:nvSpPr>
          <p:spPr>
            <a:xfrm>
              <a:off x="0" y="-28575"/>
              <a:ext cx="7264400" cy="387477"/>
            </a:xfrm>
            <a:prstGeom prst="rect">
              <a:avLst/>
            </a:prstGeom>
          </p:spPr>
          <p:txBody>
            <a:bodyPr lIns="0" tIns="0" rIns="0" bIns="0" rtlCol="0" anchor="t">
              <a:spAutoFit/>
            </a:bodyPr>
            <a:lstStyle/>
            <a:p>
              <a:pPr algn="l">
                <a:lnSpc>
                  <a:spcPts val="2488"/>
                </a:lnSpc>
                <a:spcBef>
                  <a:spcPct val="0"/>
                </a:spcBef>
              </a:pPr>
              <a:r>
                <a:rPr lang="en-US" sz="1777">
                  <a:solidFill>
                    <a:srgbClr val="000099"/>
                  </a:solidFill>
                  <a:latin typeface="Open Sans 2"/>
                  <a:ea typeface="Open Sans 2"/>
                  <a:cs typeface="Open Sans 2"/>
                  <a:sym typeface="Open Sans 2"/>
                </a:rPr>
                <a:t>Event 1</a:t>
              </a:r>
            </a:p>
          </p:txBody>
        </p:sp>
        <p:sp>
          <p:nvSpPr>
            <p:cNvPr id="46" name="TextBox 46"/>
            <p:cNvSpPr txBox="1"/>
            <p:nvPr/>
          </p:nvSpPr>
          <p:spPr>
            <a:xfrm>
              <a:off x="0" y="473414"/>
              <a:ext cx="7264400" cy="710988"/>
            </a:xfrm>
            <a:prstGeom prst="rect">
              <a:avLst/>
            </a:prstGeom>
          </p:spPr>
          <p:txBody>
            <a:bodyPr lIns="0" tIns="0" rIns="0" bIns="0" rtlCol="0" anchor="t">
              <a:spAutoFit/>
            </a:bodyPr>
            <a:lstStyle/>
            <a:p>
              <a:pPr algn="l">
                <a:lnSpc>
                  <a:spcPts val="2239"/>
                </a:lnSpc>
                <a:spcBef>
                  <a:spcPct val="0"/>
                </a:spcBef>
              </a:pPr>
              <a:r>
                <a:rPr lang="en-US" sz="1599">
                  <a:solidFill>
                    <a:srgbClr val="000099"/>
                  </a:solidFill>
                  <a:latin typeface="Open Sans 2"/>
                  <a:ea typeface="Open Sans 2"/>
                  <a:cs typeface="Open Sans 2"/>
                  <a:sym typeface="Open Sans 2"/>
                </a:rPr>
                <a:t>Identify gaps, analyze capabilities, set metrics, prioritize improvements.</a:t>
              </a:r>
            </a:p>
          </p:txBody>
        </p:sp>
      </p:grpSp>
      <p:grpSp>
        <p:nvGrpSpPr>
          <p:cNvPr id="47" name="Group 47"/>
          <p:cNvGrpSpPr/>
          <p:nvPr/>
        </p:nvGrpSpPr>
        <p:grpSpPr>
          <a:xfrm>
            <a:off x="12192000" y="3145631"/>
            <a:ext cx="5448300" cy="888302"/>
            <a:chOff x="0" y="0"/>
            <a:chExt cx="7264400" cy="1184402"/>
          </a:xfrm>
        </p:grpSpPr>
        <p:sp>
          <p:nvSpPr>
            <p:cNvPr id="48" name="TextBox 48"/>
            <p:cNvSpPr txBox="1"/>
            <p:nvPr/>
          </p:nvSpPr>
          <p:spPr>
            <a:xfrm>
              <a:off x="0" y="-28575"/>
              <a:ext cx="7264400" cy="387477"/>
            </a:xfrm>
            <a:prstGeom prst="rect">
              <a:avLst/>
            </a:prstGeom>
          </p:spPr>
          <p:txBody>
            <a:bodyPr lIns="0" tIns="0" rIns="0" bIns="0" rtlCol="0" anchor="t">
              <a:spAutoFit/>
            </a:bodyPr>
            <a:lstStyle/>
            <a:p>
              <a:pPr algn="l">
                <a:lnSpc>
                  <a:spcPts val="2488"/>
                </a:lnSpc>
                <a:spcBef>
                  <a:spcPct val="0"/>
                </a:spcBef>
              </a:pPr>
              <a:r>
                <a:rPr lang="en-US" sz="1777">
                  <a:solidFill>
                    <a:srgbClr val="000099"/>
                  </a:solidFill>
                  <a:latin typeface="Open Sans 2"/>
                  <a:ea typeface="Open Sans 2"/>
                  <a:cs typeface="Open Sans 2"/>
                  <a:sym typeface="Open Sans 2"/>
                </a:rPr>
                <a:t>Event 2</a:t>
              </a:r>
            </a:p>
          </p:txBody>
        </p:sp>
        <p:sp>
          <p:nvSpPr>
            <p:cNvPr id="49" name="TextBox 49"/>
            <p:cNvSpPr txBox="1"/>
            <p:nvPr/>
          </p:nvSpPr>
          <p:spPr>
            <a:xfrm>
              <a:off x="0" y="473414"/>
              <a:ext cx="7264400" cy="710988"/>
            </a:xfrm>
            <a:prstGeom prst="rect">
              <a:avLst/>
            </a:prstGeom>
          </p:spPr>
          <p:txBody>
            <a:bodyPr lIns="0" tIns="0" rIns="0" bIns="0" rtlCol="0" anchor="t">
              <a:spAutoFit/>
            </a:bodyPr>
            <a:lstStyle/>
            <a:p>
              <a:pPr algn="l">
                <a:lnSpc>
                  <a:spcPts val="2239"/>
                </a:lnSpc>
                <a:spcBef>
                  <a:spcPct val="0"/>
                </a:spcBef>
              </a:pPr>
              <a:r>
                <a:rPr lang="en-US" sz="1599">
                  <a:solidFill>
                    <a:srgbClr val="000099"/>
                  </a:solidFill>
                  <a:latin typeface="Open Sans 2"/>
                  <a:ea typeface="Open Sans 2"/>
                  <a:cs typeface="Open Sans 2"/>
                  <a:sym typeface="Open Sans 2"/>
                </a:rPr>
                <a:t>Identify gaps, analyze capabilities, set metrics, prioritize improvements.</a:t>
              </a:r>
            </a:p>
          </p:txBody>
        </p:sp>
      </p:grpSp>
      <p:grpSp>
        <p:nvGrpSpPr>
          <p:cNvPr id="50" name="Group 50"/>
          <p:cNvGrpSpPr/>
          <p:nvPr/>
        </p:nvGrpSpPr>
        <p:grpSpPr>
          <a:xfrm>
            <a:off x="12192000" y="5919788"/>
            <a:ext cx="5448300" cy="888302"/>
            <a:chOff x="0" y="0"/>
            <a:chExt cx="7264400" cy="1184402"/>
          </a:xfrm>
        </p:grpSpPr>
        <p:sp>
          <p:nvSpPr>
            <p:cNvPr id="51" name="TextBox 51"/>
            <p:cNvSpPr txBox="1"/>
            <p:nvPr/>
          </p:nvSpPr>
          <p:spPr>
            <a:xfrm>
              <a:off x="0" y="-28575"/>
              <a:ext cx="7264400" cy="387477"/>
            </a:xfrm>
            <a:prstGeom prst="rect">
              <a:avLst/>
            </a:prstGeom>
          </p:spPr>
          <p:txBody>
            <a:bodyPr lIns="0" tIns="0" rIns="0" bIns="0" rtlCol="0" anchor="t">
              <a:spAutoFit/>
            </a:bodyPr>
            <a:lstStyle/>
            <a:p>
              <a:pPr algn="l">
                <a:lnSpc>
                  <a:spcPts val="2488"/>
                </a:lnSpc>
                <a:spcBef>
                  <a:spcPct val="0"/>
                </a:spcBef>
              </a:pPr>
              <a:r>
                <a:rPr lang="en-US" sz="1777">
                  <a:solidFill>
                    <a:srgbClr val="000099"/>
                  </a:solidFill>
                  <a:latin typeface="Open Sans 2"/>
                  <a:ea typeface="Open Sans 2"/>
                  <a:cs typeface="Open Sans 2"/>
                  <a:sym typeface="Open Sans 2"/>
                </a:rPr>
                <a:t>Event 3</a:t>
              </a:r>
            </a:p>
          </p:txBody>
        </p:sp>
        <p:sp>
          <p:nvSpPr>
            <p:cNvPr id="52" name="TextBox 52"/>
            <p:cNvSpPr txBox="1"/>
            <p:nvPr/>
          </p:nvSpPr>
          <p:spPr>
            <a:xfrm>
              <a:off x="0" y="473414"/>
              <a:ext cx="7264400" cy="710988"/>
            </a:xfrm>
            <a:prstGeom prst="rect">
              <a:avLst/>
            </a:prstGeom>
          </p:spPr>
          <p:txBody>
            <a:bodyPr lIns="0" tIns="0" rIns="0" bIns="0" rtlCol="0" anchor="t">
              <a:spAutoFit/>
            </a:bodyPr>
            <a:lstStyle/>
            <a:p>
              <a:pPr algn="l">
                <a:lnSpc>
                  <a:spcPts val="2239"/>
                </a:lnSpc>
                <a:spcBef>
                  <a:spcPct val="0"/>
                </a:spcBef>
              </a:pPr>
              <a:r>
                <a:rPr lang="en-US" sz="1599">
                  <a:solidFill>
                    <a:srgbClr val="000099"/>
                  </a:solidFill>
                  <a:latin typeface="Open Sans 2"/>
                  <a:ea typeface="Open Sans 2"/>
                  <a:cs typeface="Open Sans 2"/>
                  <a:sym typeface="Open Sans 2"/>
                </a:rPr>
                <a:t>Identify gaps, analyze capabilities, set metrics, prioritize improvements.</a:t>
              </a:r>
            </a:p>
          </p:txBody>
        </p:sp>
      </p:grpSp>
      <p:grpSp>
        <p:nvGrpSpPr>
          <p:cNvPr id="53" name="Group 53"/>
          <p:cNvGrpSpPr/>
          <p:nvPr/>
        </p:nvGrpSpPr>
        <p:grpSpPr>
          <a:xfrm>
            <a:off x="10734675" y="8477095"/>
            <a:ext cx="5448300" cy="888302"/>
            <a:chOff x="0" y="0"/>
            <a:chExt cx="7264400" cy="1184402"/>
          </a:xfrm>
        </p:grpSpPr>
        <p:sp>
          <p:nvSpPr>
            <p:cNvPr id="54" name="TextBox 54"/>
            <p:cNvSpPr txBox="1"/>
            <p:nvPr/>
          </p:nvSpPr>
          <p:spPr>
            <a:xfrm>
              <a:off x="0" y="-28575"/>
              <a:ext cx="7264400" cy="387477"/>
            </a:xfrm>
            <a:prstGeom prst="rect">
              <a:avLst/>
            </a:prstGeom>
          </p:spPr>
          <p:txBody>
            <a:bodyPr lIns="0" tIns="0" rIns="0" bIns="0" rtlCol="0" anchor="t">
              <a:spAutoFit/>
            </a:bodyPr>
            <a:lstStyle/>
            <a:p>
              <a:pPr algn="l">
                <a:lnSpc>
                  <a:spcPts val="2488"/>
                </a:lnSpc>
                <a:spcBef>
                  <a:spcPct val="0"/>
                </a:spcBef>
              </a:pPr>
              <a:r>
                <a:rPr lang="en-US" sz="1777">
                  <a:solidFill>
                    <a:srgbClr val="000099"/>
                  </a:solidFill>
                  <a:latin typeface="Open Sans 2"/>
                  <a:ea typeface="Open Sans 2"/>
                  <a:cs typeface="Open Sans 2"/>
                  <a:sym typeface="Open Sans 2"/>
                </a:rPr>
                <a:t>Event 4</a:t>
              </a:r>
            </a:p>
          </p:txBody>
        </p:sp>
        <p:sp>
          <p:nvSpPr>
            <p:cNvPr id="55" name="TextBox 55"/>
            <p:cNvSpPr txBox="1"/>
            <p:nvPr/>
          </p:nvSpPr>
          <p:spPr>
            <a:xfrm>
              <a:off x="0" y="473414"/>
              <a:ext cx="7264400" cy="710988"/>
            </a:xfrm>
            <a:prstGeom prst="rect">
              <a:avLst/>
            </a:prstGeom>
          </p:spPr>
          <p:txBody>
            <a:bodyPr lIns="0" tIns="0" rIns="0" bIns="0" rtlCol="0" anchor="t">
              <a:spAutoFit/>
            </a:bodyPr>
            <a:lstStyle/>
            <a:p>
              <a:pPr algn="l">
                <a:lnSpc>
                  <a:spcPts val="2239"/>
                </a:lnSpc>
                <a:spcBef>
                  <a:spcPct val="0"/>
                </a:spcBef>
              </a:pPr>
              <a:r>
                <a:rPr lang="en-US" sz="1599">
                  <a:solidFill>
                    <a:srgbClr val="000099"/>
                  </a:solidFill>
                  <a:latin typeface="Open Sans 2"/>
                  <a:ea typeface="Open Sans 2"/>
                  <a:cs typeface="Open Sans 2"/>
                  <a:sym typeface="Open Sans 2"/>
                </a:rPr>
                <a:t>Identify gaps, analyze capabilities, set metrics, prioritize improvements.</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66750" y="666750"/>
            <a:ext cx="16954500" cy="1596389"/>
            <a:chOff x="0" y="0"/>
            <a:chExt cx="22606000" cy="2128519"/>
          </a:xfrm>
        </p:grpSpPr>
        <p:sp>
          <p:nvSpPr>
            <p:cNvPr id="4" name="TextBox 4"/>
            <p:cNvSpPr txBox="1"/>
            <p:nvPr/>
          </p:nvSpPr>
          <p:spPr>
            <a:xfrm>
              <a:off x="0" y="0"/>
              <a:ext cx="22606000" cy="1208193"/>
            </a:xfrm>
            <a:prstGeom prst="rect">
              <a:avLst/>
            </a:prstGeom>
          </p:spPr>
          <p:txBody>
            <a:bodyPr lIns="0" tIns="0" rIns="0" bIns="0" rtlCol="0" anchor="t">
              <a:spAutoFit/>
            </a:bodyPr>
            <a:lstStyle/>
            <a:p>
              <a:pPr algn="l">
                <a:lnSpc>
                  <a:spcPts val="7680"/>
                </a:lnSpc>
              </a:pPr>
              <a:r>
                <a:rPr lang="en-US" sz="5000" b="1" dirty="0">
                  <a:solidFill>
                    <a:srgbClr val="FF0000"/>
                  </a:solidFill>
                  <a:latin typeface="Open Sans 2 Bold"/>
                  <a:ea typeface="Open Sans 2 Bold"/>
                  <a:cs typeface="Open Sans 2 Bold"/>
                  <a:sym typeface="Open Sans 2 Bold"/>
                </a:rPr>
                <a:t>Table page heading</a:t>
              </a:r>
            </a:p>
          </p:txBody>
        </p:sp>
        <p:sp>
          <p:nvSpPr>
            <p:cNvPr id="5" name="TextBox 5"/>
            <p:cNvSpPr txBox="1"/>
            <p:nvPr/>
          </p:nvSpPr>
          <p:spPr>
            <a:xfrm>
              <a:off x="0" y="1537758"/>
              <a:ext cx="22606000" cy="590761"/>
            </a:xfrm>
            <a:prstGeom prst="rect">
              <a:avLst/>
            </a:prstGeom>
          </p:spPr>
          <p:txBody>
            <a:bodyPr lIns="0" tIns="0" rIns="0" bIns="0" rtlCol="0" anchor="t">
              <a:spAutoFit/>
            </a:bodyPr>
            <a:lstStyle/>
            <a:p>
              <a:pPr algn="l">
                <a:lnSpc>
                  <a:spcPts val="3640"/>
                </a:lnSpc>
              </a:pPr>
              <a:r>
                <a:rPr lang="en-US" sz="2800">
                  <a:solidFill>
                    <a:srgbClr val="000099"/>
                  </a:solidFill>
                  <a:latin typeface="Open Sans 2"/>
                  <a:ea typeface="Open Sans 2"/>
                  <a:cs typeface="Open Sans 2"/>
                  <a:sym typeface="Open Sans 2"/>
                </a:rPr>
                <a:t>Subheading that introduces the table’s contents and highlights its key metrics.</a:t>
              </a:r>
            </a:p>
          </p:txBody>
        </p:sp>
      </p:grpSp>
      <p:graphicFrame>
        <p:nvGraphicFramePr>
          <p:cNvPr id="6" name="Table 5"/>
          <p:cNvGraphicFramePr>
            <a:graphicFrameLocks noGrp="1"/>
          </p:cNvGraphicFramePr>
          <p:nvPr>
            <p:extLst>
              <p:ext uri="{D42A27DB-BD31-4B8C-83A1-F6EECF244321}">
                <p14:modId xmlns:p14="http://schemas.microsoft.com/office/powerpoint/2010/main" val="313853542"/>
              </p:ext>
            </p:extLst>
          </p:nvPr>
        </p:nvGraphicFramePr>
        <p:xfrm>
          <a:off x="2057400" y="3086100"/>
          <a:ext cx="13182600" cy="3733800"/>
        </p:xfrm>
        <a:graphic>
          <a:graphicData uri="http://schemas.openxmlformats.org/drawingml/2006/table">
            <a:tbl>
              <a:tblPr firstRow="1" bandRow="1">
                <a:tableStyleId>{5C22544A-7EE6-4342-B048-85BDC9FD1C3A}</a:tableStyleId>
              </a:tblPr>
              <a:tblGrid>
                <a:gridCol w="4394200">
                  <a:extLst>
                    <a:ext uri="{9D8B030D-6E8A-4147-A177-3AD203B41FA5}">
                      <a16:colId xmlns:a16="http://schemas.microsoft.com/office/drawing/2014/main" val="2824650473"/>
                    </a:ext>
                  </a:extLst>
                </a:gridCol>
                <a:gridCol w="4394200">
                  <a:extLst>
                    <a:ext uri="{9D8B030D-6E8A-4147-A177-3AD203B41FA5}">
                      <a16:colId xmlns:a16="http://schemas.microsoft.com/office/drawing/2014/main" val="1751453587"/>
                    </a:ext>
                  </a:extLst>
                </a:gridCol>
                <a:gridCol w="4394200">
                  <a:extLst>
                    <a:ext uri="{9D8B030D-6E8A-4147-A177-3AD203B41FA5}">
                      <a16:colId xmlns:a16="http://schemas.microsoft.com/office/drawing/2014/main" val="689741977"/>
                    </a:ext>
                  </a:extLst>
                </a:gridCol>
              </a:tblGrid>
              <a:tr h="933450">
                <a:tc>
                  <a:txBody>
                    <a:bodyPr/>
                    <a:lstStyle/>
                    <a:p>
                      <a:pPr algn="ctr"/>
                      <a:r>
                        <a:rPr lang="vi-VN" sz="2200" b="1" dirty="0" smtClean="0">
                          <a:solidFill>
                            <a:sysClr val="windowText" lastClr="000000"/>
                          </a:solidFill>
                        </a:rPr>
                        <a:t>Column</a:t>
                      </a:r>
                      <a:r>
                        <a:rPr lang="vi-VN" sz="2200" b="1" baseline="0" dirty="0" smtClean="0">
                          <a:solidFill>
                            <a:sysClr val="windowText" lastClr="000000"/>
                          </a:solidFill>
                        </a:rPr>
                        <a:t> 1</a:t>
                      </a:r>
                      <a:endParaRPr lang="en-US" sz="2200" b="1" dirty="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200" b="1" dirty="0" smtClean="0">
                          <a:solidFill>
                            <a:sysClr val="windowText" lastClr="000000"/>
                          </a:solidFill>
                        </a:rPr>
                        <a:t>Column</a:t>
                      </a:r>
                      <a:r>
                        <a:rPr lang="vi-VN" sz="2200" b="1" baseline="0" dirty="0" smtClean="0">
                          <a:solidFill>
                            <a:sysClr val="windowText" lastClr="000000"/>
                          </a:solidFill>
                        </a:rPr>
                        <a:t> 1</a:t>
                      </a:r>
                      <a:endParaRPr lang="en-US" sz="2200" b="1" dirty="0" smtClean="0">
                        <a:solidFill>
                          <a:sysClr val="windowText" lastClr="000000"/>
                        </a:solidFill>
                      </a:endParaRPr>
                    </a:p>
                    <a:p>
                      <a:pPr algn="ctr"/>
                      <a:endParaRPr lang="en-US" sz="2200" b="1" dirty="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200" b="1" dirty="0" smtClean="0">
                          <a:solidFill>
                            <a:sysClr val="windowText" lastClr="000000"/>
                          </a:solidFill>
                        </a:rPr>
                        <a:t>Column</a:t>
                      </a:r>
                      <a:r>
                        <a:rPr lang="vi-VN" sz="2200" b="1" baseline="0" dirty="0" smtClean="0">
                          <a:solidFill>
                            <a:sysClr val="windowText" lastClr="000000"/>
                          </a:solidFill>
                        </a:rPr>
                        <a:t> 1</a:t>
                      </a:r>
                      <a:endParaRPr lang="en-US" sz="2200" b="1" dirty="0" smtClean="0">
                        <a:solidFill>
                          <a:sysClr val="windowText" lastClr="000000"/>
                        </a:solidFill>
                      </a:endParaRPr>
                    </a:p>
                    <a:p>
                      <a:pPr algn="ctr"/>
                      <a:endParaRPr lang="en-US" sz="2200" b="1" dirty="0">
                        <a:solidFill>
                          <a:sysClr val="windowText" lastClr="000000"/>
                        </a:solidFill>
                      </a:endParaRPr>
                    </a:p>
                  </a:txBody>
                  <a:tcPr anchor="ctr"/>
                </a:tc>
                <a:extLst>
                  <a:ext uri="{0D108BD9-81ED-4DB2-BD59-A6C34878D82A}">
                    <a16:rowId xmlns:a16="http://schemas.microsoft.com/office/drawing/2014/main" val="316693935"/>
                  </a:ext>
                </a:extLst>
              </a:tr>
              <a:tr h="933450">
                <a:tc>
                  <a:txBody>
                    <a:bodyPr/>
                    <a:lstStyle/>
                    <a:p>
                      <a:pPr algn="ctr"/>
                      <a:r>
                        <a:rPr lang="vi-VN" sz="2000" b="1" dirty="0" smtClean="0">
                          <a:solidFill>
                            <a:sysClr val="windowText" lastClr="000000"/>
                          </a:solidFill>
                        </a:rPr>
                        <a:t>content</a:t>
                      </a:r>
                      <a:endParaRPr lang="en-US" sz="2000" b="1" dirty="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extLst>
                  <a:ext uri="{0D108BD9-81ED-4DB2-BD59-A6C34878D82A}">
                    <a16:rowId xmlns:a16="http://schemas.microsoft.com/office/drawing/2014/main" val="2546221398"/>
                  </a:ext>
                </a:extLst>
              </a:tr>
              <a:tr h="93345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extLst>
                  <a:ext uri="{0D108BD9-81ED-4DB2-BD59-A6C34878D82A}">
                    <a16:rowId xmlns:a16="http://schemas.microsoft.com/office/drawing/2014/main" val="2732303399"/>
                  </a:ext>
                </a:extLst>
              </a:tr>
              <a:tr h="93345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b="1" dirty="0" smtClean="0">
                          <a:solidFill>
                            <a:sysClr val="windowText" lastClr="000000"/>
                          </a:solidFill>
                        </a:rPr>
                        <a:t>content</a:t>
                      </a:r>
                      <a:endParaRPr lang="en-US" sz="2000" b="1" dirty="0" smtClean="0">
                        <a:solidFill>
                          <a:sysClr val="windowText" lastClr="000000"/>
                        </a:solidFill>
                      </a:endParaRPr>
                    </a:p>
                  </a:txBody>
                  <a:tcPr anchor="ctr"/>
                </a:tc>
                <a:extLst>
                  <a:ext uri="{0D108BD9-81ED-4DB2-BD59-A6C34878D82A}">
                    <a16:rowId xmlns:a16="http://schemas.microsoft.com/office/drawing/2014/main" val="2928100352"/>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2238" y="1040759"/>
            <a:ext cx="16303523" cy="1623422"/>
          </a:xfrm>
          <a:prstGeom prst="rect">
            <a:avLst/>
          </a:prstGeom>
        </p:spPr>
        <p:txBody>
          <a:bodyPr lIns="0" tIns="0" rIns="0" bIns="0" rtlCol="0" anchor="t">
            <a:spAutoFit/>
          </a:bodyPr>
          <a:lstStyle/>
          <a:p>
            <a:pPr algn="l">
              <a:lnSpc>
                <a:spcPts val="6249"/>
              </a:lnSpc>
            </a:pPr>
            <a:r>
              <a:rPr lang="en-US" sz="4999" b="1" dirty="0">
                <a:solidFill>
                  <a:srgbClr val="FF0000"/>
                </a:solidFill>
                <a:latin typeface="Open Sans 1 Bold"/>
                <a:ea typeface="Open Sans 1 Bold"/>
                <a:cs typeface="Open Sans 1 Bold"/>
                <a:sym typeface="Open Sans 1 Bold"/>
              </a:rPr>
              <a:t>CÁC HOẠT ĐỘNG KHÁC VÀ DỰ ÁN TRỌNG ĐIỂM THÁNG 11</a:t>
            </a:r>
          </a:p>
        </p:txBody>
      </p:sp>
      <p:grpSp>
        <p:nvGrpSpPr>
          <p:cNvPr id="4" name="Group 4"/>
          <p:cNvGrpSpPr/>
          <p:nvPr/>
        </p:nvGrpSpPr>
        <p:grpSpPr>
          <a:xfrm>
            <a:off x="1001763" y="3339703"/>
            <a:ext cx="5292176" cy="3062135"/>
            <a:chOff x="0" y="0"/>
            <a:chExt cx="7056234" cy="4082847"/>
          </a:xfrm>
        </p:grpSpPr>
        <p:sp>
          <p:nvSpPr>
            <p:cNvPr id="5" name="Freeform 5" descr="preencoded.png"/>
            <p:cNvSpPr/>
            <p:nvPr/>
          </p:nvSpPr>
          <p:spPr>
            <a:xfrm>
              <a:off x="0" y="0"/>
              <a:ext cx="7056247" cy="4082796"/>
            </a:xfrm>
            <a:custGeom>
              <a:avLst/>
              <a:gdLst/>
              <a:ahLst/>
              <a:cxnLst/>
              <a:rect l="l" t="t" r="r" b="b"/>
              <a:pathLst>
                <a:path w="7056247" h="4082796">
                  <a:moveTo>
                    <a:pt x="0" y="0"/>
                  </a:moveTo>
                  <a:lnTo>
                    <a:pt x="7056247" y="0"/>
                  </a:lnTo>
                  <a:lnTo>
                    <a:pt x="7056247" y="4082796"/>
                  </a:lnTo>
                  <a:lnTo>
                    <a:pt x="0" y="4082796"/>
                  </a:lnTo>
                  <a:lnTo>
                    <a:pt x="0" y="0"/>
                  </a:lnTo>
                  <a:close/>
                </a:path>
              </a:pathLst>
            </a:custGeom>
            <a:blipFill>
              <a:blip r:embed="rId3"/>
              <a:stretch>
                <a:fillRect l="-110" r="-110" b="-1"/>
              </a:stretch>
            </a:blipFill>
          </p:spPr>
        </p:sp>
      </p:grpSp>
      <p:grpSp>
        <p:nvGrpSpPr>
          <p:cNvPr id="6" name="Group 6"/>
          <p:cNvGrpSpPr/>
          <p:nvPr/>
        </p:nvGrpSpPr>
        <p:grpSpPr>
          <a:xfrm>
            <a:off x="6497984" y="3339703"/>
            <a:ext cx="5292176" cy="3062135"/>
            <a:chOff x="0" y="0"/>
            <a:chExt cx="7056234" cy="4082847"/>
          </a:xfrm>
        </p:grpSpPr>
        <p:sp>
          <p:nvSpPr>
            <p:cNvPr id="7" name="Freeform 7" descr="preencoded.png"/>
            <p:cNvSpPr/>
            <p:nvPr/>
          </p:nvSpPr>
          <p:spPr>
            <a:xfrm>
              <a:off x="0" y="0"/>
              <a:ext cx="7056247" cy="4082796"/>
            </a:xfrm>
            <a:custGeom>
              <a:avLst/>
              <a:gdLst/>
              <a:ahLst/>
              <a:cxnLst/>
              <a:rect l="l" t="t" r="r" b="b"/>
              <a:pathLst>
                <a:path w="7056247" h="4082796">
                  <a:moveTo>
                    <a:pt x="0" y="0"/>
                  </a:moveTo>
                  <a:lnTo>
                    <a:pt x="7056247" y="0"/>
                  </a:lnTo>
                  <a:lnTo>
                    <a:pt x="7056247" y="4082796"/>
                  </a:lnTo>
                  <a:lnTo>
                    <a:pt x="0" y="4082796"/>
                  </a:lnTo>
                  <a:lnTo>
                    <a:pt x="0" y="0"/>
                  </a:lnTo>
                  <a:close/>
                </a:path>
              </a:pathLst>
            </a:custGeom>
            <a:blipFill>
              <a:blip r:embed="rId4"/>
              <a:stretch>
                <a:fillRect l="-110" r="-110" b="-1"/>
              </a:stretch>
            </a:blipFill>
          </p:spPr>
        </p:sp>
      </p:grpSp>
      <p:grpSp>
        <p:nvGrpSpPr>
          <p:cNvPr id="8" name="Group 8"/>
          <p:cNvGrpSpPr/>
          <p:nvPr/>
        </p:nvGrpSpPr>
        <p:grpSpPr>
          <a:xfrm>
            <a:off x="11994204" y="3339703"/>
            <a:ext cx="5292176" cy="3062135"/>
            <a:chOff x="0" y="0"/>
            <a:chExt cx="7056234" cy="4082847"/>
          </a:xfrm>
        </p:grpSpPr>
        <p:sp>
          <p:nvSpPr>
            <p:cNvPr id="9" name="Freeform 9" descr="preencoded.png"/>
            <p:cNvSpPr/>
            <p:nvPr/>
          </p:nvSpPr>
          <p:spPr>
            <a:xfrm>
              <a:off x="0" y="0"/>
              <a:ext cx="7056247" cy="4082796"/>
            </a:xfrm>
            <a:custGeom>
              <a:avLst/>
              <a:gdLst/>
              <a:ahLst/>
              <a:cxnLst/>
              <a:rect l="l" t="t" r="r" b="b"/>
              <a:pathLst>
                <a:path w="7056247" h="4082796">
                  <a:moveTo>
                    <a:pt x="0" y="0"/>
                  </a:moveTo>
                  <a:lnTo>
                    <a:pt x="7056247" y="0"/>
                  </a:lnTo>
                  <a:lnTo>
                    <a:pt x="7056247" y="4082796"/>
                  </a:lnTo>
                  <a:lnTo>
                    <a:pt x="0" y="4082796"/>
                  </a:lnTo>
                  <a:lnTo>
                    <a:pt x="0" y="0"/>
                  </a:lnTo>
                  <a:close/>
                </a:path>
              </a:pathLst>
            </a:custGeom>
            <a:blipFill>
              <a:blip r:embed="rId5"/>
              <a:stretch>
                <a:fillRect l="-110" r="-110" b="-1"/>
              </a:stretch>
            </a:blipFill>
          </p:spPr>
        </p:sp>
      </p:grpSp>
      <p:sp>
        <p:nvSpPr>
          <p:cNvPr id="10" name="TextBox 10"/>
          <p:cNvSpPr txBox="1"/>
          <p:nvPr/>
        </p:nvSpPr>
        <p:spPr>
          <a:xfrm>
            <a:off x="992238" y="7090019"/>
            <a:ext cx="3189684" cy="417614"/>
          </a:xfrm>
          <a:prstGeom prst="rect">
            <a:avLst/>
          </a:prstGeom>
        </p:spPr>
        <p:txBody>
          <a:bodyPr lIns="0" tIns="0" rIns="0" bIns="0" rtlCol="0" anchor="t">
            <a:spAutoFit/>
          </a:bodyPr>
          <a:lstStyle/>
          <a:p>
            <a:pPr algn="l">
              <a:lnSpc>
                <a:spcPts val="3124"/>
              </a:lnSpc>
            </a:pPr>
            <a:r>
              <a:rPr lang="en-US" sz="2499" b="1">
                <a:solidFill>
                  <a:srgbClr val="FF0000"/>
                </a:solidFill>
                <a:latin typeface="Open Sans 1 Bold"/>
                <a:ea typeface="Open Sans 1 Bold"/>
                <a:cs typeface="Open Sans 1 Bold"/>
                <a:sym typeface="Open Sans 1 Bold"/>
              </a:rPr>
              <a:t>Dự Án QR Code</a:t>
            </a:r>
          </a:p>
        </p:txBody>
      </p:sp>
      <p:sp>
        <p:nvSpPr>
          <p:cNvPr id="11" name="TextBox 11"/>
          <p:cNvSpPr txBox="1"/>
          <p:nvPr/>
        </p:nvSpPr>
        <p:spPr>
          <a:xfrm>
            <a:off x="992238" y="7686523"/>
            <a:ext cx="5020570" cy="1301353"/>
          </a:xfrm>
          <a:prstGeom prst="rect">
            <a:avLst/>
          </a:prstGeom>
        </p:spPr>
        <p:txBody>
          <a:bodyPr lIns="0" tIns="0" rIns="0" bIns="0" rtlCol="0" anchor="t">
            <a:spAutoFit/>
          </a:bodyPr>
          <a:lstStyle/>
          <a:p>
            <a:pPr algn="l">
              <a:lnSpc>
                <a:spcPts val="3187"/>
              </a:lnSpc>
            </a:pPr>
            <a:r>
              <a:rPr lang="en-US" sz="2000">
                <a:solidFill>
                  <a:srgbClr val="000099"/>
                </a:solidFill>
                <a:latin typeface="Open Sans 1"/>
                <a:ea typeface="Open Sans 1"/>
                <a:cs typeface="Open Sans 1"/>
                <a:sym typeface="Open Sans 1"/>
              </a:rPr>
              <a:t>Đang làm Tờ trình giải trình các hạng mục </a:t>
            </a:r>
            <a:r>
              <a:rPr lang="en-US" sz="2000">
                <a:solidFill>
                  <a:srgbClr val="FF0101"/>
                </a:solidFill>
                <a:latin typeface="Open Sans 1"/>
                <a:ea typeface="Open Sans 1"/>
                <a:cs typeface="Open Sans 1"/>
                <a:sym typeface="Open Sans 1"/>
              </a:rPr>
              <a:t>ngoài phạm vi của dự án QRCODE Long An</a:t>
            </a:r>
          </a:p>
        </p:txBody>
      </p:sp>
      <p:sp>
        <p:nvSpPr>
          <p:cNvPr id="12" name="TextBox 12"/>
          <p:cNvSpPr txBox="1"/>
          <p:nvPr/>
        </p:nvSpPr>
        <p:spPr>
          <a:xfrm>
            <a:off x="6644726" y="7090019"/>
            <a:ext cx="3287763" cy="417614"/>
          </a:xfrm>
          <a:prstGeom prst="rect">
            <a:avLst/>
          </a:prstGeom>
        </p:spPr>
        <p:txBody>
          <a:bodyPr lIns="0" tIns="0" rIns="0" bIns="0" rtlCol="0" anchor="t">
            <a:spAutoFit/>
          </a:bodyPr>
          <a:lstStyle/>
          <a:p>
            <a:pPr algn="l">
              <a:lnSpc>
                <a:spcPts val="3124"/>
              </a:lnSpc>
            </a:pPr>
            <a:r>
              <a:rPr lang="en-US" sz="2499" b="1">
                <a:solidFill>
                  <a:srgbClr val="FF0000"/>
                </a:solidFill>
                <a:latin typeface="Open Sans 1 Bold"/>
                <a:ea typeface="Open Sans 1 Bold"/>
                <a:cs typeface="Open Sans 1 Bold"/>
                <a:sym typeface="Open Sans 1 Bold"/>
              </a:rPr>
              <a:t>Triển Khai Chữ Ký Số</a:t>
            </a:r>
          </a:p>
        </p:txBody>
      </p:sp>
      <p:sp>
        <p:nvSpPr>
          <p:cNvPr id="13" name="TextBox 13"/>
          <p:cNvSpPr txBox="1"/>
          <p:nvPr/>
        </p:nvSpPr>
        <p:spPr>
          <a:xfrm>
            <a:off x="6644726" y="7686523"/>
            <a:ext cx="5018932" cy="1301353"/>
          </a:xfrm>
          <a:prstGeom prst="rect">
            <a:avLst/>
          </a:prstGeom>
        </p:spPr>
        <p:txBody>
          <a:bodyPr lIns="0" tIns="0" rIns="0" bIns="0" rtlCol="0" anchor="t">
            <a:spAutoFit/>
          </a:bodyPr>
          <a:lstStyle/>
          <a:p>
            <a:pPr algn="l">
              <a:lnSpc>
                <a:spcPts val="3187"/>
              </a:lnSpc>
            </a:pPr>
            <a:r>
              <a:rPr lang="en-US" sz="2000">
                <a:solidFill>
                  <a:srgbClr val="000099"/>
                </a:solidFill>
                <a:latin typeface="Open Sans 1"/>
                <a:ea typeface="Open Sans 1"/>
                <a:cs typeface="Open Sans 1"/>
                <a:sym typeface="Open Sans 1"/>
              </a:rPr>
              <a:t>Tiến hành thống kê chi tiết các loại chứng từ đang sử dụng chữ ký số để chuẩn bị cho việc áp dụng rộng rãi và đồng bộ hóa.</a:t>
            </a:r>
          </a:p>
        </p:txBody>
      </p:sp>
      <p:sp>
        <p:nvSpPr>
          <p:cNvPr id="14" name="TextBox 14"/>
          <p:cNvSpPr txBox="1"/>
          <p:nvPr/>
        </p:nvSpPr>
        <p:spPr>
          <a:xfrm>
            <a:off x="12295584" y="7090019"/>
            <a:ext cx="3419323" cy="417614"/>
          </a:xfrm>
          <a:prstGeom prst="rect">
            <a:avLst/>
          </a:prstGeom>
        </p:spPr>
        <p:txBody>
          <a:bodyPr lIns="0" tIns="0" rIns="0" bIns="0" rtlCol="0" anchor="t">
            <a:spAutoFit/>
          </a:bodyPr>
          <a:lstStyle/>
          <a:p>
            <a:pPr algn="l">
              <a:lnSpc>
                <a:spcPts val="3124"/>
              </a:lnSpc>
            </a:pPr>
            <a:r>
              <a:rPr lang="en-US" sz="2499" b="1">
                <a:solidFill>
                  <a:srgbClr val="FF0000"/>
                </a:solidFill>
                <a:latin typeface="Open Sans 1 Bold"/>
                <a:ea typeface="Open Sans 1 Bold"/>
                <a:cs typeface="Open Sans 1 Bold"/>
                <a:sym typeface="Open Sans 1 Bold"/>
              </a:rPr>
              <a:t>Thực Hiện Lộ Trình AI</a:t>
            </a:r>
          </a:p>
        </p:txBody>
      </p:sp>
      <p:sp>
        <p:nvSpPr>
          <p:cNvPr id="15" name="TextBox 15"/>
          <p:cNvSpPr txBox="1"/>
          <p:nvPr/>
        </p:nvSpPr>
        <p:spPr>
          <a:xfrm>
            <a:off x="12295584" y="7686523"/>
            <a:ext cx="5018932" cy="892969"/>
          </a:xfrm>
          <a:prstGeom prst="rect">
            <a:avLst/>
          </a:prstGeom>
        </p:spPr>
        <p:txBody>
          <a:bodyPr lIns="0" tIns="0" rIns="0" bIns="0" rtlCol="0" anchor="t">
            <a:spAutoFit/>
          </a:bodyPr>
          <a:lstStyle/>
          <a:p>
            <a:pPr algn="l">
              <a:lnSpc>
                <a:spcPts val="3187"/>
              </a:lnSpc>
            </a:pPr>
            <a:r>
              <a:rPr lang="en-US" sz="2000">
                <a:solidFill>
                  <a:srgbClr val="000099"/>
                </a:solidFill>
                <a:latin typeface="Open Sans 1"/>
                <a:ea typeface="Open Sans 1"/>
                <a:cs typeface="Open Sans 1"/>
                <a:sym typeface="Open Sans 1"/>
              </a:rPr>
              <a:t>Bắt đầu triển khai Lộ trình tiếp cận và ứng dụng AI theo đề xuất đã được phê duyệt.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819150" y="3396704"/>
            <a:ext cx="5448300" cy="6375946"/>
            <a:chOff x="0" y="-28575"/>
            <a:chExt cx="1434943" cy="1679261"/>
          </a:xfrm>
        </p:grpSpPr>
        <p:sp>
          <p:nvSpPr>
            <p:cNvPr id="17" name="Freeform 16"/>
            <p:cNvSpPr/>
            <p:nvPr/>
          </p:nvSpPr>
          <p:spPr>
            <a:xfrm>
              <a:off x="0" y="0"/>
              <a:ext cx="1434943" cy="1650686"/>
            </a:xfrm>
            <a:custGeom>
              <a:avLst/>
              <a:gdLst/>
              <a:ahLst/>
              <a:cxnLst/>
              <a:rect l="l" t="t" r="r" b="b"/>
              <a:pathLst>
                <a:path w="1434943" h="1650686">
                  <a:moveTo>
                    <a:pt x="28420" y="0"/>
                  </a:moveTo>
                  <a:lnTo>
                    <a:pt x="1406524" y="0"/>
                  </a:lnTo>
                  <a:cubicBezTo>
                    <a:pt x="1422219" y="0"/>
                    <a:pt x="1434943" y="12724"/>
                    <a:pt x="1434943" y="28420"/>
                  </a:cubicBezTo>
                  <a:lnTo>
                    <a:pt x="1434943" y="1622267"/>
                  </a:lnTo>
                  <a:cubicBezTo>
                    <a:pt x="1434943" y="1637963"/>
                    <a:pt x="1422219" y="1650686"/>
                    <a:pt x="1406524" y="1650686"/>
                  </a:cubicBezTo>
                  <a:lnTo>
                    <a:pt x="28420" y="1650686"/>
                  </a:lnTo>
                  <a:cubicBezTo>
                    <a:pt x="12724" y="1650686"/>
                    <a:pt x="0" y="1637963"/>
                    <a:pt x="0" y="1622267"/>
                  </a:cubicBezTo>
                  <a:lnTo>
                    <a:pt x="0" y="28420"/>
                  </a:lnTo>
                  <a:cubicBezTo>
                    <a:pt x="0" y="12724"/>
                    <a:pt x="12724" y="0"/>
                    <a:pt x="28420" y="0"/>
                  </a:cubicBezTo>
                  <a:close/>
                </a:path>
              </a:pathLst>
            </a:custGeom>
            <a:solidFill>
              <a:srgbClr val="FDFEFE"/>
            </a:solidFill>
          </p:spPr>
          <p:txBody>
            <a:bodyPr/>
            <a:lstStyle/>
            <a:p>
              <a:endParaRPr lang="en-US"/>
            </a:p>
          </p:txBody>
        </p:sp>
        <p:sp>
          <p:nvSpPr>
            <p:cNvPr id="18" name="TextBox 5"/>
            <p:cNvSpPr txBox="1"/>
            <p:nvPr/>
          </p:nvSpPr>
          <p:spPr>
            <a:xfrm>
              <a:off x="0" y="-28575"/>
              <a:ext cx="1434943" cy="1679261"/>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a:p>
          </p:txBody>
        </p:sp>
      </p:grpSp>
      <p:grpSp>
        <p:nvGrpSpPr>
          <p:cNvPr id="4" name="Group 3"/>
          <p:cNvGrpSpPr/>
          <p:nvPr/>
        </p:nvGrpSpPr>
        <p:grpSpPr>
          <a:xfrm>
            <a:off x="6595142" y="3396704"/>
            <a:ext cx="5448300" cy="6375946"/>
            <a:chOff x="0" y="-28575"/>
            <a:chExt cx="1434943" cy="1679261"/>
          </a:xfrm>
        </p:grpSpPr>
        <p:sp>
          <p:nvSpPr>
            <p:cNvPr id="15" name="Freeform 14"/>
            <p:cNvSpPr/>
            <p:nvPr/>
          </p:nvSpPr>
          <p:spPr>
            <a:xfrm>
              <a:off x="0" y="0"/>
              <a:ext cx="1434943" cy="1650686"/>
            </a:xfrm>
            <a:custGeom>
              <a:avLst/>
              <a:gdLst/>
              <a:ahLst/>
              <a:cxnLst/>
              <a:rect l="l" t="t" r="r" b="b"/>
              <a:pathLst>
                <a:path w="1434943" h="1650686">
                  <a:moveTo>
                    <a:pt x="28420" y="0"/>
                  </a:moveTo>
                  <a:lnTo>
                    <a:pt x="1406524" y="0"/>
                  </a:lnTo>
                  <a:cubicBezTo>
                    <a:pt x="1422219" y="0"/>
                    <a:pt x="1434943" y="12724"/>
                    <a:pt x="1434943" y="28420"/>
                  </a:cubicBezTo>
                  <a:lnTo>
                    <a:pt x="1434943" y="1622267"/>
                  </a:lnTo>
                  <a:cubicBezTo>
                    <a:pt x="1434943" y="1637963"/>
                    <a:pt x="1422219" y="1650686"/>
                    <a:pt x="1406524" y="1650686"/>
                  </a:cubicBezTo>
                  <a:lnTo>
                    <a:pt x="28420" y="1650686"/>
                  </a:lnTo>
                  <a:cubicBezTo>
                    <a:pt x="12724" y="1650686"/>
                    <a:pt x="0" y="1637963"/>
                    <a:pt x="0" y="1622267"/>
                  </a:cubicBezTo>
                  <a:lnTo>
                    <a:pt x="0" y="28420"/>
                  </a:lnTo>
                  <a:cubicBezTo>
                    <a:pt x="0" y="12724"/>
                    <a:pt x="12724" y="0"/>
                    <a:pt x="28420" y="0"/>
                  </a:cubicBezTo>
                  <a:close/>
                </a:path>
              </a:pathLst>
            </a:custGeom>
            <a:solidFill>
              <a:srgbClr val="FDFEFE"/>
            </a:solidFill>
          </p:spPr>
          <p:txBody>
            <a:bodyPr/>
            <a:lstStyle/>
            <a:p>
              <a:endParaRPr lang="en-US"/>
            </a:p>
          </p:txBody>
        </p:sp>
        <p:sp>
          <p:nvSpPr>
            <p:cNvPr id="16" name="TextBox 8"/>
            <p:cNvSpPr txBox="1"/>
            <p:nvPr/>
          </p:nvSpPr>
          <p:spPr>
            <a:xfrm>
              <a:off x="0" y="-28575"/>
              <a:ext cx="1434943" cy="1679261"/>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a:p>
          </p:txBody>
        </p:sp>
      </p:grpSp>
      <p:grpSp>
        <p:nvGrpSpPr>
          <p:cNvPr id="5" name="Group 4"/>
          <p:cNvGrpSpPr/>
          <p:nvPr/>
        </p:nvGrpSpPr>
        <p:grpSpPr>
          <a:xfrm>
            <a:off x="12325350" y="3396704"/>
            <a:ext cx="5448300" cy="6375946"/>
            <a:chOff x="0" y="-28575"/>
            <a:chExt cx="1434943" cy="1679261"/>
          </a:xfrm>
        </p:grpSpPr>
        <p:sp>
          <p:nvSpPr>
            <p:cNvPr id="13" name="Freeform 12"/>
            <p:cNvSpPr/>
            <p:nvPr/>
          </p:nvSpPr>
          <p:spPr>
            <a:xfrm>
              <a:off x="0" y="0"/>
              <a:ext cx="1434943" cy="1650686"/>
            </a:xfrm>
            <a:custGeom>
              <a:avLst/>
              <a:gdLst/>
              <a:ahLst/>
              <a:cxnLst/>
              <a:rect l="l" t="t" r="r" b="b"/>
              <a:pathLst>
                <a:path w="1434943" h="1650686">
                  <a:moveTo>
                    <a:pt x="28420" y="0"/>
                  </a:moveTo>
                  <a:lnTo>
                    <a:pt x="1406524" y="0"/>
                  </a:lnTo>
                  <a:cubicBezTo>
                    <a:pt x="1422219" y="0"/>
                    <a:pt x="1434943" y="12724"/>
                    <a:pt x="1434943" y="28420"/>
                  </a:cubicBezTo>
                  <a:lnTo>
                    <a:pt x="1434943" y="1622267"/>
                  </a:lnTo>
                  <a:cubicBezTo>
                    <a:pt x="1434943" y="1637963"/>
                    <a:pt x="1422219" y="1650686"/>
                    <a:pt x="1406524" y="1650686"/>
                  </a:cubicBezTo>
                  <a:lnTo>
                    <a:pt x="28420" y="1650686"/>
                  </a:lnTo>
                  <a:cubicBezTo>
                    <a:pt x="12724" y="1650686"/>
                    <a:pt x="0" y="1637963"/>
                    <a:pt x="0" y="1622267"/>
                  </a:cubicBezTo>
                  <a:lnTo>
                    <a:pt x="0" y="28420"/>
                  </a:lnTo>
                  <a:cubicBezTo>
                    <a:pt x="0" y="12724"/>
                    <a:pt x="12724" y="0"/>
                    <a:pt x="28420" y="0"/>
                  </a:cubicBezTo>
                  <a:close/>
                </a:path>
              </a:pathLst>
            </a:custGeom>
            <a:solidFill>
              <a:srgbClr val="FDFEFE"/>
            </a:solidFill>
          </p:spPr>
          <p:txBody>
            <a:bodyPr/>
            <a:lstStyle/>
            <a:p>
              <a:endParaRPr lang="en-US"/>
            </a:p>
          </p:txBody>
        </p:sp>
        <p:sp>
          <p:nvSpPr>
            <p:cNvPr id="14" name="TextBox 11"/>
            <p:cNvSpPr txBox="1"/>
            <p:nvPr/>
          </p:nvSpPr>
          <p:spPr>
            <a:xfrm>
              <a:off x="0" y="-28575"/>
              <a:ext cx="1434943" cy="1679261"/>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a:p>
          </p:txBody>
        </p:sp>
      </p:grpSp>
      <p:sp>
        <p:nvSpPr>
          <p:cNvPr id="6" name="TextBox 12"/>
          <p:cNvSpPr txBox="1"/>
          <p:nvPr/>
        </p:nvSpPr>
        <p:spPr>
          <a:xfrm>
            <a:off x="1224400" y="5702300"/>
            <a:ext cx="4637800" cy="249174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3360"/>
              </a:lnSpc>
            </a:pPr>
            <a:r>
              <a:rPr lang="en-US" sz="2400">
                <a:solidFill>
                  <a:srgbClr val="000099"/>
                </a:solidFill>
                <a:latin typeface="Open Sans 2"/>
                <a:ea typeface="Open Sans 2"/>
                <a:cs typeface="Open Sans 2"/>
                <a:sym typeface="Open Sans 2"/>
              </a:rPr>
              <a:t>Paragraph 1 th</a:t>
            </a:r>
            <a:r>
              <a:rPr lang="en-US" sz="2400" u="none" strike="noStrike">
                <a:solidFill>
                  <a:srgbClr val="000099"/>
                </a:solidFill>
                <a:latin typeface="Open Sans 2"/>
                <a:ea typeface="Open Sans 2"/>
                <a:cs typeface="Open Sans 2"/>
                <a:sym typeface="Open Sans 2"/>
              </a:rPr>
              <a:t>at dives deeper into the topic or main idea of the page, expanding on key points, providing relevant details, and building a clearer understanding for the reader.</a:t>
            </a:r>
          </a:p>
        </p:txBody>
      </p:sp>
      <p:sp>
        <p:nvSpPr>
          <p:cNvPr id="7" name="TextBox 13"/>
          <p:cNvSpPr txBox="1"/>
          <p:nvPr/>
        </p:nvSpPr>
        <p:spPr>
          <a:xfrm>
            <a:off x="6977500" y="5707044"/>
            <a:ext cx="4637800" cy="249174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a:lnSpc>
                <a:spcPts val="3360"/>
              </a:lnSpc>
              <a:spcBef>
                <a:spcPct val="0"/>
              </a:spcBef>
            </a:pPr>
            <a:r>
              <a:rPr lang="en-US" sz="2400" u="none" strike="noStrike">
                <a:solidFill>
                  <a:srgbClr val="000099"/>
                </a:solidFill>
                <a:latin typeface="Open Sans 2"/>
                <a:ea typeface="Open Sans 2"/>
                <a:cs typeface="Open Sans 2"/>
                <a:sym typeface="Open Sans 2"/>
              </a:rPr>
              <a:t>Paragraph 2 that dives deeper into the topic or main idea of the page, expanding on key points, providing relevant details, and building a clearer understanding for the reader.</a:t>
            </a:r>
          </a:p>
        </p:txBody>
      </p:sp>
      <p:sp>
        <p:nvSpPr>
          <p:cNvPr id="8" name="TextBox 14"/>
          <p:cNvSpPr txBox="1"/>
          <p:nvPr/>
        </p:nvSpPr>
        <p:spPr>
          <a:xfrm>
            <a:off x="819150" y="1751795"/>
            <a:ext cx="16954500" cy="97155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7679"/>
              </a:lnSpc>
              <a:spcBef>
                <a:spcPct val="0"/>
              </a:spcBef>
            </a:pPr>
            <a:r>
              <a:rPr lang="en-US" sz="6399" b="1">
                <a:solidFill>
                  <a:srgbClr val="FF0000"/>
                </a:solidFill>
                <a:latin typeface="Open Sans 2 Bold"/>
                <a:ea typeface="Open Sans 2 Bold"/>
                <a:cs typeface="Open Sans 2 Bold"/>
                <a:sym typeface="Open Sans 2 Bold"/>
              </a:rPr>
              <a:t>Heading for the topic or main idea</a:t>
            </a:r>
          </a:p>
        </p:txBody>
      </p:sp>
      <p:sp>
        <p:nvSpPr>
          <p:cNvPr id="9" name="TextBox 15"/>
          <p:cNvSpPr txBox="1"/>
          <p:nvPr/>
        </p:nvSpPr>
        <p:spPr>
          <a:xfrm>
            <a:off x="1181100" y="3857625"/>
            <a:ext cx="4637800" cy="54292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4500"/>
              </a:lnSpc>
            </a:pPr>
            <a:r>
              <a:rPr lang="en-US" sz="3000" b="1">
                <a:solidFill>
                  <a:srgbClr val="000099"/>
                </a:solidFill>
                <a:latin typeface="Open Sans 2 Bold"/>
                <a:ea typeface="Open Sans 2 Bold"/>
                <a:cs typeface="Open Sans 2 Bold"/>
                <a:sym typeface="Open Sans 2 Bold"/>
              </a:rPr>
              <a:t>Main point 1</a:t>
            </a:r>
          </a:p>
        </p:txBody>
      </p:sp>
      <p:sp>
        <p:nvSpPr>
          <p:cNvPr id="10" name="TextBox 16"/>
          <p:cNvSpPr txBox="1"/>
          <p:nvPr/>
        </p:nvSpPr>
        <p:spPr>
          <a:xfrm>
            <a:off x="7000392" y="3857625"/>
            <a:ext cx="4637800" cy="54292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0" algn="l">
              <a:lnSpc>
                <a:spcPts val="4500"/>
              </a:lnSpc>
              <a:spcBef>
                <a:spcPct val="0"/>
              </a:spcBef>
            </a:pPr>
            <a:r>
              <a:rPr lang="en-US" sz="3000" b="1" u="none" strike="noStrike">
                <a:solidFill>
                  <a:srgbClr val="000099"/>
                </a:solidFill>
                <a:latin typeface="Open Sans 2 Bold"/>
                <a:ea typeface="Open Sans 2 Bold"/>
                <a:cs typeface="Open Sans 2 Bold"/>
                <a:sym typeface="Open Sans 2 Bold"/>
              </a:rPr>
              <a:t>Main point 2</a:t>
            </a:r>
          </a:p>
        </p:txBody>
      </p:sp>
      <p:sp>
        <p:nvSpPr>
          <p:cNvPr id="11" name="TextBox 17"/>
          <p:cNvSpPr txBox="1"/>
          <p:nvPr/>
        </p:nvSpPr>
        <p:spPr>
          <a:xfrm>
            <a:off x="12776867" y="5707044"/>
            <a:ext cx="4636972" cy="249174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a:lnSpc>
                <a:spcPts val="3360"/>
              </a:lnSpc>
              <a:spcBef>
                <a:spcPct val="0"/>
              </a:spcBef>
            </a:pPr>
            <a:r>
              <a:rPr lang="en-US" sz="2400" u="none" strike="noStrike">
                <a:solidFill>
                  <a:srgbClr val="000099"/>
                </a:solidFill>
                <a:latin typeface="Open Sans 2"/>
                <a:ea typeface="Open Sans 2"/>
                <a:cs typeface="Open Sans 2"/>
                <a:sym typeface="Open Sans 2"/>
              </a:rPr>
              <a:t>Paragraph 3 that dives deeper into the topic or main idea of the page, expanding on key points, providing relevant details, and building a clearer understanding for the reader.</a:t>
            </a:r>
          </a:p>
        </p:txBody>
      </p:sp>
      <p:sp>
        <p:nvSpPr>
          <p:cNvPr id="12" name="TextBox 18"/>
          <p:cNvSpPr txBox="1"/>
          <p:nvPr/>
        </p:nvSpPr>
        <p:spPr>
          <a:xfrm>
            <a:off x="12731428" y="3857625"/>
            <a:ext cx="4636144" cy="54292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0" algn="l">
              <a:lnSpc>
                <a:spcPts val="4500"/>
              </a:lnSpc>
              <a:spcBef>
                <a:spcPct val="0"/>
              </a:spcBef>
            </a:pPr>
            <a:r>
              <a:rPr lang="en-US" sz="3000" b="1" u="none" strike="noStrike">
                <a:solidFill>
                  <a:srgbClr val="000099"/>
                </a:solidFill>
                <a:latin typeface="Open Sans 2 Bold"/>
                <a:ea typeface="Open Sans 2 Bold"/>
                <a:cs typeface="Open Sans 2 Bold"/>
                <a:sym typeface="Open Sans 2 Bold"/>
              </a:rPr>
              <a:t>Main point 3</a:t>
            </a:r>
          </a:p>
        </p:txBody>
      </p:sp>
    </p:spTree>
    <p:extLst>
      <p:ext uri="{BB962C8B-B14F-4D97-AF65-F5344CB8AC3E}">
        <p14:creationId xmlns:p14="http://schemas.microsoft.com/office/powerpoint/2010/main" val="369411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981575" cy="10287000"/>
            <a:chOff x="0" y="0"/>
            <a:chExt cx="1312020" cy="2709333"/>
          </a:xfrm>
        </p:grpSpPr>
        <p:sp>
          <p:nvSpPr>
            <p:cNvPr id="3" name="Freeform 3"/>
            <p:cNvSpPr/>
            <p:nvPr/>
          </p:nvSpPr>
          <p:spPr>
            <a:xfrm>
              <a:off x="0" y="0"/>
              <a:ext cx="1312020" cy="2709333"/>
            </a:xfrm>
            <a:custGeom>
              <a:avLst/>
              <a:gdLst/>
              <a:ahLst/>
              <a:cxnLst/>
              <a:rect l="l" t="t" r="r" b="b"/>
              <a:pathLst>
                <a:path w="1312020" h="2709333">
                  <a:moveTo>
                    <a:pt x="0" y="0"/>
                  </a:moveTo>
                  <a:lnTo>
                    <a:pt x="1312020" y="0"/>
                  </a:lnTo>
                  <a:lnTo>
                    <a:pt x="1312020" y="2709333"/>
                  </a:lnTo>
                  <a:lnTo>
                    <a:pt x="0" y="2709333"/>
                  </a:lnTo>
                  <a:close/>
                </a:path>
              </a:pathLst>
            </a:custGeom>
            <a:solidFill>
              <a:srgbClr val="FFFFFF"/>
            </a:solidFill>
          </p:spPr>
        </p:sp>
        <p:sp>
          <p:nvSpPr>
            <p:cNvPr id="4" name="TextBox 4"/>
            <p:cNvSpPr txBox="1"/>
            <p:nvPr/>
          </p:nvSpPr>
          <p:spPr>
            <a:xfrm>
              <a:off x="0" y="-66675"/>
              <a:ext cx="1312020" cy="2776008"/>
            </a:xfrm>
            <a:prstGeom prst="rect">
              <a:avLst/>
            </a:prstGeom>
          </p:spPr>
          <p:txBody>
            <a:bodyPr lIns="50800" tIns="50800" rIns="50800" bIns="50800" rtlCol="0" anchor="ctr"/>
            <a:lstStyle/>
            <a:p>
              <a:pPr algn="ctr">
                <a:lnSpc>
                  <a:spcPts val="3000"/>
                </a:lnSpc>
              </a:pPr>
              <a:endParaRPr/>
            </a:p>
          </p:txBody>
        </p:sp>
      </p:grpSp>
      <p:sp>
        <p:nvSpPr>
          <p:cNvPr id="5" name="TextBox 5"/>
          <p:cNvSpPr txBox="1"/>
          <p:nvPr/>
        </p:nvSpPr>
        <p:spPr>
          <a:xfrm>
            <a:off x="679447" y="7926705"/>
            <a:ext cx="3689248" cy="1693545"/>
          </a:xfrm>
          <a:prstGeom prst="rect">
            <a:avLst/>
          </a:prstGeom>
        </p:spPr>
        <p:txBody>
          <a:bodyPr lIns="0" tIns="0" rIns="0" bIns="0" rtlCol="0" anchor="t">
            <a:spAutoFit/>
          </a:bodyPr>
          <a:lstStyle/>
          <a:p>
            <a:pPr algn="l">
              <a:lnSpc>
                <a:spcPts val="2700"/>
              </a:lnSpc>
            </a:pPr>
            <a:r>
              <a:rPr lang="en-US" sz="1800">
                <a:solidFill>
                  <a:srgbClr val="000099"/>
                </a:solidFill>
                <a:latin typeface="Open Sans 2"/>
                <a:ea typeface="Open Sans 2"/>
                <a:cs typeface="Open Sans 2"/>
                <a:sym typeface="Open Sans 2"/>
              </a:rPr>
              <a:t>Paragraph that explains the data sources, outlines what the chart illustrates, and provides guidance </a:t>
            </a:r>
          </a:p>
          <a:p>
            <a:pPr marL="0" lvl="0" indent="0" algn="l">
              <a:lnSpc>
                <a:spcPts val="2700"/>
              </a:lnSpc>
              <a:spcBef>
                <a:spcPct val="0"/>
              </a:spcBef>
            </a:pPr>
            <a:r>
              <a:rPr lang="en-US" sz="1800">
                <a:solidFill>
                  <a:srgbClr val="000099"/>
                </a:solidFill>
                <a:latin typeface="Open Sans 2"/>
                <a:ea typeface="Open Sans 2"/>
                <a:cs typeface="Open Sans 2"/>
                <a:sym typeface="Open Sans 2"/>
              </a:rPr>
              <a:t>on interpreting the visualizations to inform decision-making.</a:t>
            </a:r>
          </a:p>
        </p:txBody>
      </p:sp>
      <p:grpSp>
        <p:nvGrpSpPr>
          <p:cNvPr id="6" name="Group 6"/>
          <p:cNvGrpSpPr/>
          <p:nvPr/>
        </p:nvGrpSpPr>
        <p:grpSpPr>
          <a:xfrm>
            <a:off x="666750" y="666750"/>
            <a:ext cx="3701946" cy="2889885"/>
            <a:chOff x="0" y="0"/>
            <a:chExt cx="4935928" cy="3853180"/>
          </a:xfrm>
        </p:grpSpPr>
        <p:sp>
          <p:nvSpPr>
            <p:cNvPr id="7" name="TextBox 7"/>
            <p:cNvSpPr txBox="1"/>
            <p:nvPr/>
          </p:nvSpPr>
          <p:spPr>
            <a:xfrm>
              <a:off x="0" y="0"/>
              <a:ext cx="4935928" cy="1447800"/>
            </a:xfrm>
            <a:prstGeom prst="rect">
              <a:avLst/>
            </a:prstGeom>
          </p:spPr>
          <p:txBody>
            <a:bodyPr lIns="0" tIns="0" rIns="0" bIns="0" rtlCol="0" anchor="t">
              <a:spAutoFit/>
            </a:bodyPr>
            <a:lstStyle/>
            <a:p>
              <a:pPr algn="l">
                <a:lnSpc>
                  <a:spcPts val="4319"/>
                </a:lnSpc>
              </a:pPr>
              <a:r>
                <a:rPr lang="en-US" sz="3599" b="1">
                  <a:solidFill>
                    <a:srgbClr val="FF0000"/>
                  </a:solidFill>
                  <a:latin typeface="Open Sans 2 Bold"/>
                  <a:ea typeface="Open Sans 2 Bold"/>
                  <a:cs typeface="Open Sans 2 Bold"/>
                  <a:sym typeface="Open Sans 2 Bold"/>
                </a:rPr>
                <a:t>Chart page heading</a:t>
              </a:r>
            </a:p>
          </p:txBody>
        </p:sp>
        <p:sp>
          <p:nvSpPr>
            <p:cNvPr id="8" name="TextBox 8"/>
            <p:cNvSpPr txBox="1"/>
            <p:nvPr/>
          </p:nvSpPr>
          <p:spPr>
            <a:xfrm>
              <a:off x="0" y="1769110"/>
              <a:ext cx="4935928" cy="2084070"/>
            </a:xfrm>
            <a:prstGeom prst="rect">
              <a:avLst/>
            </a:prstGeom>
          </p:spPr>
          <p:txBody>
            <a:bodyPr lIns="0" tIns="0" rIns="0" bIns="0" rtlCol="0" anchor="t">
              <a:spAutoFit/>
            </a:bodyPr>
            <a:lstStyle/>
            <a:p>
              <a:pPr algn="l">
                <a:lnSpc>
                  <a:spcPts val="3150"/>
                </a:lnSpc>
              </a:pPr>
              <a:r>
                <a:rPr lang="en-US" sz="2100" b="1">
                  <a:solidFill>
                    <a:srgbClr val="000099"/>
                  </a:solidFill>
                  <a:latin typeface="Open Sans 2 Bold"/>
                  <a:ea typeface="Open Sans 2 Bold"/>
                  <a:cs typeface="Open Sans 2 Bold"/>
                  <a:sym typeface="Open Sans 2 Bold"/>
                </a:rPr>
                <a:t>Subheading that highlights the focus of the charts </a:t>
              </a:r>
            </a:p>
            <a:p>
              <a:pPr marL="0" lvl="0" indent="0" algn="l">
                <a:lnSpc>
                  <a:spcPts val="3150"/>
                </a:lnSpc>
              </a:pPr>
              <a:r>
                <a:rPr lang="en-US" sz="2100" b="1">
                  <a:solidFill>
                    <a:srgbClr val="000099"/>
                  </a:solidFill>
                  <a:latin typeface="Open Sans 2 Bold"/>
                  <a:ea typeface="Open Sans 2 Bold"/>
                  <a:cs typeface="Open Sans 2 Bold"/>
                  <a:sym typeface="Open Sans 2 Bold"/>
                </a:rPr>
                <a:t>and sets context for the data presented. </a:t>
              </a:r>
            </a:p>
          </p:txBody>
        </p:sp>
      </p:grpSp>
      <p:graphicFrame>
        <p:nvGraphicFramePr>
          <p:cNvPr id="12" name="Chart 11"/>
          <p:cNvGraphicFramePr/>
          <p:nvPr>
            <p:extLst>
              <p:ext uri="{D42A27DB-BD31-4B8C-83A1-F6EECF244321}">
                <p14:modId xmlns:p14="http://schemas.microsoft.com/office/powerpoint/2010/main" val="3780980107"/>
              </p:ext>
            </p:extLst>
          </p:nvPr>
        </p:nvGraphicFramePr>
        <p:xfrm>
          <a:off x="4876800" y="800100"/>
          <a:ext cx="12192000" cy="8128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96676" y="0"/>
            <a:ext cx="5491324" cy="10287000"/>
            <a:chOff x="0" y="0"/>
            <a:chExt cx="1446275" cy="2709333"/>
          </a:xfrm>
        </p:grpSpPr>
        <p:sp>
          <p:nvSpPr>
            <p:cNvPr id="3" name="Freeform 3"/>
            <p:cNvSpPr/>
            <p:nvPr/>
          </p:nvSpPr>
          <p:spPr>
            <a:xfrm>
              <a:off x="0" y="0"/>
              <a:ext cx="1446275" cy="2709333"/>
            </a:xfrm>
            <a:custGeom>
              <a:avLst/>
              <a:gdLst/>
              <a:ahLst/>
              <a:cxnLst/>
              <a:rect l="l" t="t" r="r" b="b"/>
              <a:pathLst>
                <a:path w="1446275" h="2709333">
                  <a:moveTo>
                    <a:pt x="0" y="0"/>
                  </a:moveTo>
                  <a:lnTo>
                    <a:pt x="1446275" y="0"/>
                  </a:lnTo>
                  <a:lnTo>
                    <a:pt x="1446275" y="2709333"/>
                  </a:lnTo>
                  <a:lnTo>
                    <a:pt x="0" y="2709333"/>
                  </a:lnTo>
                  <a:close/>
                </a:path>
              </a:pathLst>
            </a:custGeom>
            <a:solidFill>
              <a:srgbClr val="FFFFFF"/>
            </a:solidFill>
          </p:spPr>
        </p:sp>
        <p:sp>
          <p:nvSpPr>
            <p:cNvPr id="4" name="TextBox 4"/>
            <p:cNvSpPr txBox="1"/>
            <p:nvPr/>
          </p:nvSpPr>
          <p:spPr>
            <a:xfrm>
              <a:off x="0" y="-66675"/>
              <a:ext cx="1446275" cy="2776008"/>
            </a:xfrm>
            <a:prstGeom prst="rect">
              <a:avLst/>
            </a:prstGeom>
          </p:spPr>
          <p:txBody>
            <a:bodyPr lIns="50800" tIns="50800" rIns="50800" bIns="50800" rtlCol="0" anchor="ctr"/>
            <a:lstStyle/>
            <a:p>
              <a:pPr algn="ctr">
                <a:lnSpc>
                  <a:spcPts val="3000"/>
                </a:lnSpc>
              </a:pPr>
              <a:endParaRPr/>
            </a:p>
          </p:txBody>
        </p:sp>
      </p:grpSp>
      <p:sp>
        <p:nvSpPr>
          <p:cNvPr id="5" name="TextBox 5"/>
          <p:cNvSpPr txBox="1"/>
          <p:nvPr/>
        </p:nvSpPr>
        <p:spPr>
          <a:xfrm>
            <a:off x="13623922" y="7926705"/>
            <a:ext cx="3997328" cy="1693545"/>
          </a:xfrm>
          <a:prstGeom prst="rect">
            <a:avLst/>
          </a:prstGeom>
        </p:spPr>
        <p:txBody>
          <a:bodyPr lIns="0" tIns="0" rIns="0" bIns="0" rtlCol="0" anchor="t">
            <a:spAutoFit/>
          </a:bodyPr>
          <a:lstStyle/>
          <a:p>
            <a:pPr algn="l">
              <a:lnSpc>
                <a:spcPts val="2700"/>
              </a:lnSpc>
            </a:pPr>
            <a:r>
              <a:rPr lang="en-US" sz="1800">
                <a:solidFill>
                  <a:srgbClr val="000099"/>
                </a:solidFill>
                <a:latin typeface="Open Sans 2"/>
                <a:ea typeface="Open Sans 2"/>
                <a:cs typeface="Open Sans 2"/>
                <a:sym typeface="Open Sans 2"/>
              </a:rPr>
              <a:t>Paragraph that explains the data sources, outlines what the chart illustrates, and provides guidance </a:t>
            </a:r>
          </a:p>
          <a:p>
            <a:pPr marL="0" lvl="0" indent="0" algn="l">
              <a:lnSpc>
                <a:spcPts val="2700"/>
              </a:lnSpc>
              <a:spcBef>
                <a:spcPct val="0"/>
              </a:spcBef>
            </a:pPr>
            <a:r>
              <a:rPr lang="en-US" sz="1800">
                <a:solidFill>
                  <a:srgbClr val="000099"/>
                </a:solidFill>
                <a:latin typeface="Open Sans 2"/>
                <a:ea typeface="Open Sans 2"/>
                <a:cs typeface="Open Sans 2"/>
                <a:sym typeface="Open Sans 2"/>
              </a:rPr>
              <a:t>on interpreting the visualizations to inform decision-making.</a:t>
            </a:r>
          </a:p>
        </p:txBody>
      </p:sp>
      <p:grpSp>
        <p:nvGrpSpPr>
          <p:cNvPr id="6" name="Group 6"/>
          <p:cNvGrpSpPr/>
          <p:nvPr/>
        </p:nvGrpSpPr>
        <p:grpSpPr>
          <a:xfrm>
            <a:off x="13611225" y="666750"/>
            <a:ext cx="4010025" cy="2889885"/>
            <a:chOff x="0" y="0"/>
            <a:chExt cx="5346700" cy="3853180"/>
          </a:xfrm>
        </p:grpSpPr>
        <p:sp>
          <p:nvSpPr>
            <p:cNvPr id="7" name="TextBox 7"/>
            <p:cNvSpPr txBox="1"/>
            <p:nvPr/>
          </p:nvSpPr>
          <p:spPr>
            <a:xfrm>
              <a:off x="0" y="0"/>
              <a:ext cx="5346700" cy="1447800"/>
            </a:xfrm>
            <a:prstGeom prst="rect">
              <a:avLst/>
            </a:prstGeom>
          </p:spPr>
          <p:txBody>
            <a:bodyPr lIns="0" tIns="0" rIns="0" bIns="0" rtlCol="0" anchor="t">
              <a:spAutoFit/>
            </a:bodyPr>
            <a:lstStyle/>
            <a:p>
              <a:pPr algn="l">
                <a:lnSpc>
                  <a:spcPts val="4319"/>
                </a:lnSpc>
              </a:pPr>
              <a:r>
                <a:rPr lang="en-US" sz="3599" b="1">
                  <a:solidFill>
                    <a:srgbClr val="FF0000"/>
                  </a:solidFill>
                  <a:latin typeface="Open Sans 2 Bold"/>
                  <a:ea typeface="Open Sans 2 Bold"/>
                  <a:cs typeface="Open Sans 2 Bold"/>
                  <a:sym typeface="Open Sans 2 Bold"/>
                </a:rPr>
                <a:t>Chart page heading</a:t>
              </a:r>
            </a:p>
          </p:txBody>
        </p:sp>
        <p:sp>
          <p:nvSpPr>
            <p:cNvPr id="8" name="TextBox 8"/>
            <p:cNvSpPr txBox="1"/>
            <p:nvPr/>
          </p:nvSpPr>
          <p:spPr>
            <a:xfrm>
              <a:off x="0" y="1769110"/>
              <a:ext cx="5346700" cy="2084070"/>
            </a:xfrm>
            <a:prstGeom prst="rect">
              <a:avLst/>
            </a:prstGeom>
          </p:spPr>
          <p:txBody>
            <a:bodyPr lIns="0" tIns="0" rIns="0" bIns="0" rtlCol="0" anchor="t">
              <a:spAutoFit/>
            </a:bodyPr>
            <a:lstStyle/>
            <a:p>
              <a:pPr algn="l">
                <a:lnSpc>
                  <a:spcPts val="3150"/>
                </a:lnSpc>
              </a:pPr>
              <a:r>
                <a:rPr lang="en-US" sz="2100" b="1">
                  <a:solidFill>
                    <a:srgbClr val="000099"/>
                  </a:solidFill>
                  <a:latin typeface="Open Sans 2 Bold"/>
                  <a:ea typeface="Open Sans 2 Bold"/>
                  <a:cs typeface="Open Sans 2 Bold"/>
                  <a:sym typeface="Open Sans 2 Bold"/>
                </a:rPr>
                <a:t>Subheading that highlights the focus of the charts </a:t>
              </a:r>
            </a:p>
            <a:p>
              <a:pPr marL="0" lvl="0" indent="0" algn="l">
                <a:lnSpc>
                  <a:spcPts val="3150"/>
                </a:lnSpc>
              </a:pPr>
              <a:r>
                <a:rPr lang="en-US" sz="2100" b="1">
                  <a:solidFill>
                    <a:srgbClr val="000099"/>
                  </a:solidFill>
                  <a:latin typeface="Open Sans 2 Bold"/>
                  <a:ea typeface="Open Sans 2 Bold"/>
                  <a:cs typeface="Open Sans 2 Bold"/>
                  <a:sym typeface="Open Sans 2 Bold"/>
                </a:rPr>
                <a:t>and sets context for the data presented. </a:t>
              </a:r>
            </a:p>
          </p:txBody>
        </p:sp>
      </p:grpSp>
      <p:graphicFrame>
        <p:nvGraphicFramePr>
          <p:cNvPr id="12" name="Chart 11"/>
          <p:cNvGraphicFramePr/>
          <p:nvPr>
            <p:extLst>
              <p:ext uri="{D42A27DB-BD31-4B8C-83A1-F6EECF244321}">
                <p14:modId xmlns:p14="http://schemas.microsoft.com/office/powerpoint/2010/main" val="2086719757"/>
              </p:ext>
            </p:extLst>
          </p:nvPr>
        </p:nvGraphicFramePr>
        <p:xfrm>
          <a:off x="604676" y="800100"/>
          <a:ext cx="12192000" cy="8128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497460" y="5174571"/>
            <a:ext cx="5293071" cy="621506"/>
          </a:xfrm>
          <a:prstGeom prst="rect">
            <a:avLst/>
          </a:prstGeom>
        </p:spPr>
        <p:txBody>
          <a:bodyPr lIns="0" tIns="0" rIns="0" bIns="0" rtlCol="0" anchor="t">
            <a:spAutoFit/>
          </a:bodyPr>
          <a:lstStyle/>
          <a:p>
            <a:pPr algn="l">
              <a:lnSpc>
                <a:spcPts val="4687"/>
              </a:lnSpc>
            </a:pPr>
            <a:r>
              <a:rPr lang="en-US" sz="3749" b="1">
                <a:solidFill>
                  <a:srgbClr val="FF0000"/>
                </a:solidFill>
                <a:latin typeface="Open Sans 1 Bold"/>
                <a:ea typeface="Open Sans 1 Bold"/>
                <a:cs typeface="Open Sans 1 Bold"/>
                <a:sym typeface="Open Sans 1 Bold"/>
              </a:rPr>
              <a:t>Trân trọng kính chào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1423</Words>
  <Application>Microsoft Office PowerPoint</Application>
  <PresentationFormat>Custom</PresentationFormat>
  <Paragraphs>178</Paragraphs>
  <Slides>16</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Open Sans 2 Bold</vt:lpstr>
      <vt:lpstr>Arial</vt:lpstr>
      <vt:lpstr>Verdana Bold</vt:lpstr>
      <vt:lpstr>Open Sans 1 Bold</vt:lpstr>
      <vt:lpstr>Arial Bold</vt:lpstr>
      <vt:lpstr>Calibri</vt:lpstr>
      <vt:lpstr>Open Sans 1</vt:lpstr>
      <vt:lpstr>Canva Sans</vt:lpstr>
      <vt:lpstr>Open Sans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report-template.pptx</dc:title>
  <cp:lastModifiedBy>Nguyễn Nhật Hào</cp:lastModifiedBy>
  <cp:revision>7</cp:revision>
  <dcterms:created xsi:type="dcterms:W3CDTF">2006-08-16T00:00:00Z</dcterms:created>
  <dcterms:modified xsi:type="dcterms:W3CDTF">2026-05-07T00:57:43Z</dcterms:modified>
  <dc:identifier>DAHIqnIYDS4</dc:identifier>
</cp:coreProperties>
</file>