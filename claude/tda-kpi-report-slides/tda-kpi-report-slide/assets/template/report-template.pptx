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Default Extension="xlsx" ContentType="application/vnd.openxmlformats-officedocument.spreadsheetml.sheet"/>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1" r:id="rId14"/>
    <p:sldId id="268" r:id="rId15"/>
    <p:sldId id="269" r:id="rId16"/>
    <p:sldId id="270" r:id="rId17"/>
  </p:sldIdLst>
  <p:sldSz cx="18288000" cy="10287000"/>
  <p:notesSz cx="6858000" cy="9144000"/>
  <p:embeddedFontLst>
    <p:embeddedFont>
      <p:font typeface="Arial Bold" panose="020B0704020202020204" pitchFamily="34" charset="0"/>
      <p:regular r:id="rId19"/>
      <p:bold r:id="rId20"/>
    </p:embeddedFont>
    <p:embeddedFont>
      <p:font typeface="Open Sans 2" panose="020B0604020202020204" charset="0"/>
      <p:regular r:id="rId21"/>
    </p:embeddedFont>
    <p:embeddedFont>
      <p:font typeface="Calibri" panose="020F0502020204030204" pitchFamily="34" charset="0"/>
      <p:regular r:id="rId22"/>
      <p:bold r:id="rId23"/>
      <p:italic r:id="rId24"/>
      <p:boldItalic r:id="rId25"/>
    </p:embeddedFont>
    <p:embeddedFont>
      <p:font typeface="Open Sans 2 Bold" panose="020B0604020202020204" charset="0"/>
      <p:regular r:id="rId26"/>
    </p:embeddedFont>
    <p:embeddedFont>
      <p:font typeface="Verdana Bold" panose="020B0804030504040204" pitchFamily="34" charset="0"/>
      <p:regular r:id="rId27"/>
      <p:bold r:id="rId28"/>
    </p:embeddedFont>
    <p:embeddedFont>
      <p:font typeface="Open Sans 1" panose="020B0604020202020204" charset="0"/>
      <p:regular r:id="rId29"/>
    </p:embeddedFont>
    <p:embeddedFont>
      <p:font typeface="Open Sans 1 Bold" panose="020B0604020202020204" charset="0"/>
      <p:regular r:id="rId30"/>
    </p:embeddedFont>
    <p:embeddedFont>
      <p:font typeface="Canva Sans" panose="020B0604020202020204" charset="0"/>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8" d="100"/>
          <a:sy n="48" d="100"/>
        </p:scale>
        <p:origin x="828" y="3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3.fntdata"/><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tableStyles" Target="tableStyle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doughnutChart>
        <c:varyColors val="1"/>
        <c:ser>
          <c:idx val="0"/>
          <c:order val="0"/>
          <c:tx>
            <c:strRef>
              <c:f>Sheet1!$B$1</c:f>
              <c:strCache>
                <c:ptCount val="1"/>
                <c:pt idx="0">
                  <c:v>Sales</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C1AD-4929-9711-616D94515D92}"/>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C1AD-4929-9711-616D94515D92}"/>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C1AD-4929-9711-616D94515D92}"/>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C1AD-4929-9711-616D94515D92}"/>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7111-4B43-B6FD-D0EB7EE6ECB1}"/>
            </c:ext>
          </c:extLst>
        </c:ser>
        <c:dLbls>
          <c:showLegendKey val="0"/>
          <c:showVal val="0"/>
          <c:showCatName val="0"/>
          <c:showSerName val="0"/>
          <c:showPercent val="0"/>
          <c:showBubbleSize val="0"/>
          <c:showLeaderLines val="1"/>
        </c:dLbls>
        <c:firstSliceAng val="0"/>
        <c:holeSize val="75"/>
      </c:doughnut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1.9446276246719161E-2"/>
          <c:y val="0.10005474901574804"/>
          <c:w val="0.96388705708661415"/>
          <c:h val="0.84499101870078741"/>
        </c:manualLayout>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3AD-412C-8545-54F58E458D3A}"/>
            </c:ext>
          </c:extLst>
        </c:ser>
        <c:ser>
          <c:idx val="1"/>
          <c:order val="1"/>
          <c:tx>
            <c:strRef>
              <c:f>Sheet1!$C$1</c:f>
              <c:strCache>
                <c:ptCount val="1"/>
                <c:pt idx="0">
                  <c:v>Series 2</c:v>
                </c:pt>
              </c:strCache>
            </c:strRef>
          </c:tx>
          <c:spPr>
            <a:solidFill>
              <a:schemeClr val="accent2"/>
            </a:solidFill>
            <a:ln>
              <a:noFill/>
            </a:ln>
            <a:effectLst/>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3AD-412C-8545-54F58E458D3A}"/>
            </c:ext>
          </c:extLst>
        </c:ser>
        <c:ser>
          <c:idx val="2"/>
          <c:order val="2"/>
          <c:tx>
            <c:strRef>
              <c:f>Sheet1!$D$1</c:f>
              <c:strCache>
                <c:ptCount val="1"/>
                <c:pt idx="0">
                  <c:v>Series 3</c:v>
                </c:pt>
              </c:strCache>
            </c:strRef>
          </c:tx>
          <c:spPr>
            <a:solidFill>
              <a:schemeClr val="accent3"/>
            </a:solidFill>
            <a:ln>
              <a:noFill/>
            </a:ln>
            <a:effectLst/>
          </c:spPr>
          <c:invertIfNegative val="0"/>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B3AD-412C-8545-54F58E458D3A}"/>
            </c:ext>
          </c:extLst>
        </c:ser>
        <c:dLbls>
          <c:showLegendKey val="0"/>
          <c:showVal val="0"/>
          <c:showCatName val="0"/>
          <c:showSerName val="0"/>
          <c:showPercent val="0"/>
          <c:showBubbleSize val="0"/>
        </c:dLbls>
        <c:gapWidth val="219"/>
        <c:overlap val="-27"/>
        <c:axId val="1927896304"/>
        <c:axId val="1927903792"/>
      </c:barChart>
      <c:catAx>
        <c:axId val="19278963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27903792"/>
        <c:crosses val="autoZero"/>
        <c:auto val="1"/>
        <c:lblAlgn val="ctr"/>
        <c:lblOffset val="100"/>
        <c:noMultiLvlLbl val="0"/>
      </c:catAx>
      <c:valAx>
        <c:axId val="19279037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2789630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08.05.2026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5/8/2026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5/8/2026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srcRect/>
          <a:stretch>
            <a:fillRect t="-4000" b="-16999"/>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3.svg"/><Relationship Id="rId7"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9.pn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17000"/>
          </a:stretch>
        </a:blipFill>
        <a:effectLst/>
      </p:bgPr>
    </p:bg>
    <p:spTree>
      <p:nvGrpSpPr>
        <p:cNvPr id="1" name=""/>
        <p:cNvGrpSpPr/>
        <p:nvPr/>
      </p:nvGrpSpPr>
      <p:grpSpPr>
        <a:xfrm>
          <a:off x="0" y="0"/>
          <a:ext cx="0" cy="0"/>
          <a:chOff x="0" y="0"/>
          <a:chExt cx="0" cy="0"/>
        </a:xfrm>
      </p:grpSpPr>
      <p:sp>
        <p:nvSpPr>
          <p:cNvPr id="3" name="TextBox 3"/>
          <p:cNvSpPr txBox="1"/>
          <p:nvPr/>
        </p:nvSpPr>
        <p:spPr>
          <a:xfrm>
            <a:off x="3409521" y="3289221"/>
            <a:ext cx="12124944" cy="5509622"/>
          </a:xfrm>
          <a:prstGeom prst="rect">
            <a:avLst/>
          </a:prstGeom>
        </p:spPr>
        <p:txBody>
          <a:bodyPr lIns="0" tIns="0" rIns="0" bIns="0" rtlCol="0" anchor="t">
            <a:spAutoFit/>
          </a:bodyPr>
          <a:lstStyle/>
          <a:p>
            <a:pPr algn="ctr">
              <a:lnSpc>
                <a:spcPts val="5184"/>
              </a:lnSpc>
            </a:pPr>
            <a:endParaRPr/>
          </a:p>
          <a:p>
            <a:pPr algn="ctr">
              <a:lnSpc>
                <a:spcPts val="4859"/>
              </a:lnSpc>
            </a:pPr>
            <a:r>
              <a:rPr lang="en-US" sz="4499" b="1">
                <a:solidFill>
                  <a:srgbClr val="0000CC"/>
                </a:solidFill>
                <a:latin typeface="Verdana Bold"/>
                <a:ea typeface="Verdana Bold"/>
                <a:cs typeface="Verdana Bold"/>
                <a:sym typeface="Verdana Bold"/>
              </a:rPr>
              <a:t>BÁO CÁO</a:t>
            </a:r>
          </a:p>
          <a:p>
            <a:pPr algn="ctr">
              <a:lnSpc>
                <a:spcPts val="5184"/>
              </a:lnSpc>
            </a:pPr>
            <a:r>
              <a:rPr lang="en-US" sz="4799" b="1">
                <a:solidFill>
                  <a:srgbClr val="0000CC"/>
                </a:solidFill>
                <a:latin typeface="Arial Bold"/>
                <a:ea typeface="Arial Bold"/>
                <a:cs typeface="Arial Bold"/>
                <a:sym typeface="Arial Bold"/>
              </a:rPr>
              <a:t>KẾT QUẢ THÁNG 10/2025</a:t>
            </a:r>
          </a:p>
          <a:p>
            <a:pPr algn="ctr">
              <a:lnSpc>
                <a:spcPts val="5184"/>
              </a:lnSpc>
            </a:pPr>
            <a:r>
              <a:rPr lang="en-US" sz="4799" b="1">
                <a:solidFill>
                  <a:srgbClr val="0000CC"/>
                </a:solidFill>
                <a:latin typeface="Arial Bold"/>
                <a:ea typeface="Arial Bold"/>
                <a:cs typeface="Arial Bold"/>
                <a:sym typeface="Arial Bold"/>
              </a:rPr>
              <a:t>VÀ KẾ HOẠCH THÁNG 11/2025</a:t>
            </a:r>
          </a:p>
          <a:p>
            <a:pPr algn="ctr">
              <a:lnSpc>
                <a:spcPts val="5184"/>
              </a:lnSpc>
            </a:pPr>
            <a:endParaRPr lang="en-US" sz="4799" b="1">
              <a:solidFill>
                <a:srgbClr val="0000CC"/>
              </a:solidFill>
              <a:latin typeface="Arial Bold"/>
              <a:ea typeface="Arial Bold"/>
              <a:cs typeface="Arial Bold"/>
              <a:sym typeface="Arial Bold"/>
            </a:endParaRPr>
          </a:p>
          <a:p>
            <a:pPr algn="ctr">
              <a:lnSpc>
                <a:spcPts val="5184"/>
              </a:lnSpc>
            </a:pPr>
            <a:r>
              <a:rPr lang="en-US" sz="4799" b="1">
                <a:solidFill>
                  <a:srgbClr val="0000CC"/>
                </a:solidFill>
                <a:latin typeface="Arial Bold"/>
                <a:ea typeface="Arial Bold"/>
                <a:cs typeface="Arial Bold"/>
                <a:sym typeface="Arial Bold"/>
              </a:rPr>
              <a:t>PHÒNG CÔNG NGHỆ THÔNG TIN</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947147"/>
            <a:ext cx="13617778" cy="639213"/>
          </a:xfrm>
          <a:prstGeom prst="rect">
            <a:avLst/>
          </a:prstGeom>
        </p:spPr>
        <p:txBody>
          <a:bodyPr lIns="0" tIns="0" rIns="0" bIns="0" rtlCol="0" anchor="t">
            <a:spAutoFit/>
          </a:bodyPr>
          <a:lstStyle/>
          <a:p>
            <a:pPr algn="l">
              <a:lnSpc>
                <a:spcPts val="4875"/>
              </a:lnSpc>
            </a:pPr>
            <a:r>
              <a:rPr lang="en-US" sz="3875" b="1" dirty="0">
                <a:solidFill>
                  <a:srgbClr val="FF0000"/>
                </a:solidFill>
                <a:latin typeface="Open Sans 1 Bold"/>
                <a:ea typeface="Open Sans 1 Bold"/>
                <a:cs typeface="Open Sans 1 Bold"/>
                <a:sym typeface="Open Sans 1 Bold"/>
              </a:rPr>
              <a:t>MỤC LỤC: CÁC HOẠT ĐỘNG TRỌNG TÂM TRONG THÁNG</a:t>
            </a:r>
          </a:p>
        </p:txBody>
      </p:sp>
      <p:sp>
        <p:nvSpPr>
          <p:cNvPr id="4" name="TextBox 4"/>
          <p:cNvSpPr txBox="1"/>
          <p:nvPr/>
        </p:nvSpPr>
        <p:spPr>
          <a:xfrm>
            <a:off x="992238" y="1916611"/>
            <a:ext cx="16303523" cy="343535"/>
          </a:xfrm>
          <a:prstGeom prst="rect">
            <a:avLst/>
          </a:prstGeom>
        </p:spPr>
        <p:txBody>
          <a:bodyPr lIns="0" tIns="0" rIns="0" bIns="0" rtlCol="0" anchor="t">
            <a:spAutoFit/>
          </a:bodyPr>
          <a:lstStyle/>
          <a:p>
            <a:pPr algn="l">
              <a:lnSpc>
                <a:spcPts val="2979"/>
              </a:lnSpc>
            </a:pPr>
            <a:r>
              <a:rPr lang="en-US" sz="1862">
                <a:solidFill>
                  <a:srgbClr val="000099"/>
                </a:solidFill>
                <a:latin typeface="Open Sans 1"/>
                <a:ea typeface="Open Sans 1"/>
                <a:cs typeface="Open Sans 1"/>
                <a:sym typeface="Open Sans 1"/>
              </a:rPr>
              <a:t>Báo cáo này tập trung vào các kết quả đã đạt được và kế hoạch hành động chính của Phòng CNTT trong tháng 10 và định hướng cho tháng 11.</a:t>
            </a:r>
          </a:p>
        </p:txBody>
      </p:sp>
      <p:grpSp>
        <p:nvGrpSpPr>
          <p:cNvPr id="5" name="Group 5"/>
          <p:cNvGrpSpPr/>
          <p:nvPr/>
        </p:nvGrpSpPr>
        <p:grpSpPr>
          <a:xfrm>
            <a:off x="977951" y="2509838"/>
            <a:ext cx="16332098" cy="1229173"/>
            <a:chOff x="0" y="0"/>
            <a:chExt cx="21776131" cy="1638897"/>
          </a:xfrm>
        </p:grpSpPr>
        <p:sp>
          <p:nvSpPr>
            <p:cNvPr id="6" name="Freeform 6"/>
            <p:cNvSpPr/>
            <p:nvPr/>
          </p:nvSpPr>
          <p:spPr>
            <a:xfrm>
              <a:off x="19050" y="19050"/>
              <a:ext cx="21737955" cy="1600835"/>
            </a:xfrm>
            <a:custGeom>
              <a:avLst/>
              <a:gdLst/>
              <a:ahLst/>
              <a:cxnLst/>
              <a:rect l="l" t="t" r="r" b="b"/>
              <a:pathLst>
                <a:path w="21737955" h="1600835">
                  <a:moveTo>
                    <a:pt x="0" y="111125"/>
                  </a:moveTo>
                  <a:cubicBezTo>
                    <a:pt x="0" y="49784"/>
                    <a:pt x="50800" y="0"/>
                    <a:pt x="113538" y="0"/>
                  </a:cubicBezTo>
                  <a:lnTo>
                    <a:pt x="21624417" y="0"/>
                  </a:lnTo>
                  <a:cubicBezTo>
                    <a:pt x="21687155" y="0"/>
                    <a:pt x="21737955" y="49784"/>
                    <a:pt x="21737955" y="111125"/>
                  </a:cubicBezTo>
                  <a:lnTo>
                    <a:pt x="21737955" y="1489710"/>
                  </a:lnTo>
                  <a:cubicBezTo>
                    <a:pt x="21737955" y="1551051"/>
                    <a:pt x="21687155" y="1600835"/>
                    <a:pt x="21624417" y="1600835"/>
                  </a:cubicBezTo>
                  <a:lnTo>
                    <a:pt x="113538" y="1600835"/>
                  </a:lnTo>
                  <a:cubicBezTo>
                    <a:pt x="50800" y="1600835"/>
                    <a:pt x="0" y="1551051"/>
                    <a:pt x="0" y="1489710"/>
                  </a:cubicBezTo>
                  <a:close/>
                </a:path>
              </a:pathLst>
            </a:custGeom>
            <a:solidFill>
              <a:srgbClr val="FFFFFF"/>
            </a:solidFill>
          </p:spPr>
        </p:sp>
        <p:sp>
          <p:nvSpPr>
            <p:cNvPr id="7" name="Freeform 7"/>
            <p:cNvSpPr/>
            <p:nvPr/>
          </p:nvSpPr>
          <p:spPr>
            <a:xfrm>
              <a:off x="0" y="0"/>
              <a:ext cx="21776055" cy="1638935"/>
            </a:xfrm>
            <a:custGeom>
              <a:avLst/>
              <a:gdLst/>
              <a:ahLst/>
              <a:cxnLst/>
              <a:rect l="l" t="t" r="r" b="b"/>
              <a:pathLst>
                <a:path w="21776055" h="1638935">
                  <a:moveTo>
                    <a:pt x="0" y="130175"/>
                  </a:moveTo>
                  <a:cubicBezTo>
                    <a:pt x="0" y="57912"/>
                    <a:pt x="59817" y="0"/>
                    <a:pt x="132588" y="0"/>
                  </a:cubicBezTo>
                  <a:lnTo>
                    <a:pt x="21643467" y="0"/>
                  </a:lnTo>
                  <a:lnTo>
                    <a:pt x="21643467" y="19050"/>
                  </a:lnTo>
                  <a:lnTo>
                    <a:pt x="21643467" y="0"/>
                  </a:lnTo>
                  <a:cubicBezTo>
                    <a:pt x="21716364" y="0"/>
                    <a:pt x="21776055" y="57912"/>
                    <a:pt x="21776055" y="130175"/>
                  </a:cubicBezTo>
                  <a:lnTo>
                    <a:pt x="21757005" y="130175"/>
                  </a:lnTo>
                  <a:lnTo>
                    <a:pt x="21776055" y="130175"/>
                  </a:lnTo>
                  <a:lnTo>
                    <a:pt x="21776055" y="1508760"/>
                  </a:lnTo>
                  <a:lnTo>
                    <a:pt x="21757005" y="1508760"/>
                  </a:lnTo>
                  <a:lnTo>
                    <a:pt x="21776055" y="1508760"/>
                  </a:lnTo>
                  <a:cubicBezTo>
                    <a:pt x="21776055" y="1581023"/>
                    <a:pt x="21716237" y="1638935"/>
                    <a:pt x="21643467" y="1638935"/>
                  </a:cubicBezTo>
                  <a:lnTo>
                    <a:pt x="21643467" y="1619885"/>
                  </a:lnTo>
                  <a:lnTo>
                    <a:pt x="21643467" y="1638935"/>
                  </a:lnTo>
                  <a:lnTo>
                    <a:pt x="132588" y="1638935"/>
                  </a:lnTo>
                  <a:lnTo>
                    <a:pt x="132588" y="1619885"/>
                  </a:lnTo>
                  <a:lnTo>
                    <a:pt x="132588" y="1638935"/>
                  </a:lnTo>
                  <a:cubicBezTo>
                    <a:pt x="59817" y="1638935"/>
                    <a:pt x="0" y="1581023"/>
                    <a:pt x="0" y="1508760"/>
                  </a:cubicBezTo>
                  <a:lnTo>
                    <a:pt x="0" y="130175"/>
                  </a:lnTo>
                  <a:lnTo>
                    <a:pt x="19050" y="130175"/>
                  </a:lnTo>
                  <a:lnTo>
                    <a:pt x="0" y="130175"/>
                  </a:lnTo>
                  <a:moveTo>
                    <a:pt x="38100" y="130175"/>
                  </a:moveTo>
                  <a:lnTo>
                    <a:pt x="38100" y="1508760"/>
                  </a:lnTo>
                  <a:lnTo>
                    <a:pt x="19050" y="1508760"/>
                  </a:lnTo>
                  <a:lnTo>
                    <a:pt x="38100" y="1508760"/>
                  </a:lnTo>
                  <a:cubicBezTo>
                    <a:pt x="38100" y="1559179"/>
                    <a:pt x="80010" y="1600835"/>
                    <a:pt x="132588" y="1600835"/>
                  </a:cubicBezTo>
                  <a:lnTo>
                    <a:pt x="21643467" y="1600835"/>
                  </a:lnTo>
                  <a:cubicBezTo>
                    <a:pt x="21696045" y="1600835"/>
                    <a:pt x="21737955" y="1559179"/>
                    <a:pt x="21737955" y="1508760"/>
                  </a:cubicBezTo>
                  <a:lnTo>
                    <a:pt x="21737955" y="130175"/>
                  </a:lnTo>
                  <a:cubicBezTo>
                    <a:pt x="21737955" y="79756"/>
                    <a:pt x="21696045" y="38100"/>
                    <a:pt x="21643467" y="38100"/>
                  </a:cubicBezTo>
                  <a:lnTo>
                    <a:pt x="132588" y="38100"/>
                  </a:lnTo>
                  <a:lnTo>
                    <a:pt x="132588" y="19050"/>
                  </a:lnTo>
                  <a:lnTo>
                    <a:pt x="132588" y="38100"/>
                  </a:lnTo>
                  <a:cubicBezTo>
                    <a:pt x="80010" y="38100"/>
                    <a:pt x="38100" y="79756"/>
                    <a:pt x="38100" y="130175"/>
                  </a:cubicBezTo>
                  <a:close/>
                </a:path>
              </a:pathLst>
            </a:custGeom>
            <a:solidFill>
              <a:srgbClr val="E5B2B2"/>
            </a:solidFill>
          </p:spPr>
        </p:sp>
      </p:grpSp>
      <p:grpSp>
        <p:nvGrpSpPr>
          <p:cNvPr id="8" name="Group 8"/>
          <p:cNvGrpSpPr/>
          <p:nvPr/>
        </p:nvGrpSpPr>
        <p:grpSpPr>
          <a:xfrm>
            <a:off x="1020813" y="2552700"/>
            <a:ext cx="793852" cy="1143448"/>
            <a:chOff x="0" y="0"/>
            <a:chExt cx="1058469" cy="1524597"/>
          </a:xfrm>
        </p:grpSpPr>
        <p:sp>
          <p:nvSpPr>
            <p:cNvPr id="9" name="Freeform 9"/>
            <p:cNvSpPr/>
            <p:nvPr/>
          </p:nvSpPr>
          <p:spPr>
            <a:xfrm>
              <a:off x="0" y="0"/>
              <a:ext cx="1058418" cy="1524635"/>
            </a:xfrm>
            <a:custGeom>
              <a:avLst/>
              <a:gdLst/>
              <a:ahLst/>
              <a:cxnLst/>
              <a:rect l="l" t="t" r="r" b="b"/>
              <a:pathLst>
                <a:path w="1058418" h="1524635">
                  <a:moveTo>
                    <a:pt x="0" y="65405"/>
                  </a:moveTo>
                  <a:cubicBezTo>
                    <a:pt x="0" y="29337"/>
                    <a:pt x="29337" y="0"/>
                    <a:pt x="65405" y="0"/>
                  </a:cubicBezTo>
                  <a:lnTo>
                    <a:pt x="993013" y="0"/>
                  </a:lnTo>
                  <a:cubicBezTo>
                    <a:pt x="1029208" y="0"/>
                    <a:pt x="1058418" y="29337"/>
                    <a:pt x="1058418" y="65405"/>
                  </a:cubicBezTo>
                  <a:lnTo>
                    <a:pt x="1058418" y="1459230"/>
                  </a:lnTo>
                  <a:cubicBezTo>
                    <a:pt x="1058418" y="1495425"/>
                    <a:pt x="1029081" y="1524635"/>
                    <a:pt x="993013" y="1524635"/>
                  </a:cubicBezTo>
                  <a:lnTo>
                    <a:pt x="65405" y="1524635"/>
                  </a:lnTo>
                  <a:cubicBezTo>
                    <a:pt x="29210" y="1524635"/>
                    <a:pt x="0" y="1495298"/>
                    <a:pt x="0" y="1459230"/>
                  </a:cubicBezTo>
                  <a:close/>
                </a:path>
              </a:pathLst>
            </a:custGeom>
            <a:solidFill>
              <a:srgbClr val="FFCCCC"/>
            </a:solidFill>
          </p:spPr>
        </p:sp>
      </p:grpSp>
      <p:sp>
        <p:nvSpPr>
          <p:cNvPr id="10" name="TextBox 10"/>
          <p:cNvSpPr txBox="1"/>
          <p:nvPr/>
        </p:nvSpPr>
        <p:spPr>
          <a:xfrm>
            <a:off x="1264148" y="2976410"/>
            <a:ext cx="297656" cy="333966"/>
          </a:xfrm>
          <a:prstGeom prst="rect">
            <a:avLst/>
          </a:prstGeom>
        </p:spPr>
        <p:txBody>
          <a:bodyPr lIns="0" tIns="0" rIns="0" bIns="0" rtlCol="0" anchor="t">
            <a:spAutoFit/>
          </a:bodyPr>
          <a:lstStyle/>
          <a:p>
            <a:pPr algn="l">
              <a:lnSpc>
                <a:spcPts val="2312"/>
              </a:lnSpc>
            </a:pPr>
            <a:r>
              <a:rPr lang="en-US" sz="2312" b="1">
                <a:solidFill>
                  <a:srgbClr val="000099"/>
                </a:solidFill>
                <a:latin typeface="Open Sans 1 Bold"/>
                <a:ea typeface="Open Sans 1 Bold"/>
                <a:cs typeface="Open Sans 1 Bold"/>
                <a:sym typeface="Open Sans 1 Bold"/>
              </a:rPr>
              <a:t>1</a:t>
            </a:r>
          </a:p>
        </p:txBody>
      </p:sp>
      <p:sp>
        <p:nvSpPr>
          <p:cNvPr id="11" name="TextBox 11"/>
          <p:cNvSpPr txBox="1"/>
          <p:nvPr/>
        </p:nvSpPr>
        <p:spPr>
          <a:xfrm>
            <a:off x="2013052" y="2732037"/>
            <a:ext cx="2480815"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A. Hạ tầng CNTT</a:t>
            </a:r>
          </a:p>
        </p:txBody>
      </p:sp>
      <p:sp>
        <p:nvSpPr>
          <p:cNvPr id="12" name="TextBox 12"/>
          <p:cNvSpPr txBox="1"/>
          <p:nvPr/>
        </p:nvSpPr>
        <p:spPr>
          <a:xfrm>
            <a:off x="2013052" y="3123009"/>
            <a:ext cx="15055748" cy="374752"/>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Kết quả công việc Hệ thống Mạng, Server, Backup &amp; Bảo trì.</a:t>
            </a:r>
          </a:p>
        </p:txBody>
      </p:sp>
      <p:grpSp>
        <p:nvGrpSpPr>
          <p:cNvPr id="13" name="Group 13"/>
          <p:cNvGrpSpPr/>
          <p:nvPr/>
        </p:nvGrpSpPr>
        <p:grpSpPr>
          <a:xfrm>
            <a:off x="977951" y="3908822"/>
            <a:ext cx="16332098" cy="1229173"/>
            <a:chOff x="0" y="0"/>
            <a:chExt cx="21776131" cy="1638897"/>
          </a:xfrm>
        </p:grpSpPr>
        <p:sp>
          <p:nvSpPr>
            <p:cNvPr id="14" name="Freeform 14"/>
            <p:cNvSpPr/>
            <p:nvPr/>
          </p:nvSpPr>
          <p:spPr>
            <a:xfrm>
              <a:off x="19050" y="19050"/>
              <a:ext cx="21737955" cy="1600835"/>
            </a:xfrm>
            <a:custGeom>
              <a:avLst/>
              <a:gdLst/>
              <a:ahLst/>
              <a:cxnLst/>
              <a:rect l="l" t="t" r="r" b="b"/>
              <a:pathLst>
                <a:path w="21737955" h="1600835">
                  <a:moveTo>
                    <a:pt x="0" y="111125"/>
                  </a:moveTo>
                  <a:cubicBezTo>
                    <a:pt x="0" y="49784"/>
                    <a:pt x="50800" y="0"/>
                    <a:pt x="113538" y="0"/>
                  </a:cubicBezTo>
                  <a:lnTo>
                    <a:pt x="21624417" y="0"/>
                  </a:lnTo>
                  <a:cubicBezTo>
                    <a:pt x="21687155" y="0"/>
                    <a:pt x="21737955" y="49784"/>
                    <a:pt x="21737955" y="111125"/>
                  </a:cubicBezTo>
                  <a:lnTo>
                    <a:pt x="21737955" y="1489710"/>
                  </a:lnTo>
                  <a:cubicBezTo>
                    <a:pt x="21737955" y="1551051"/>
                    <a:pt x="21687155" y="1600835"/>
                    <a:pt x="21624417" y="1600835"/>
                  </a:cubicBezTo>
                  <a:lnTo>
                    <a:pt x="113538" y="1600835"/>
                  </a:lnTo>
                  <a:cubicBezTo>
                    <a:pt x="50800" y="1600835"/>
                    <a:pt x="0" y="1551051"/>
                    <a:pt x="0" y="1489710"/>
                  </a:cubicBezTo>
                  <a:close/>
                </a:path>
              </a:pathLst>
            </a:custGeom>
            <a:solidFill>
              <a:srgbClr val="FFFFFF"/>
            </a:solidFill>
          </p:spPr>
        </p:sp>
        <p:sp>
          <p:nvSpPr>
            <p:cNvPr id="15" name="Freeform 15"/>
            <p:cNvSpPr/>
            <p:nvPr/>
          </p:nvSpPr>
          <p:spPr>
            <a:xfrm>
              <a:off x="0" y="0"/>
              <a:ext cx="21776055" cy="1638935"/>
            </a:xfrm>
            <a:custGeom>
              <a:avLst/>
              <a:gdLst/>
              <a:ahLst/>
              <a:cxnLst/>
              <a:rect l="l" t="t" r="r" b="b"/>
              <a:pathLst>
                <a:path w="21776055" h="1638935">
                  <a:moveTo>
                    <a:pt x="0" y="130175"/>
                  </a:moveTo>
                  <a:cubicBezTo>
                    <a:pt x="0" y="57912"/>
                    <a:pt x="59817" y="0"/>
                    <a:pt x="132588" y="0"/>
                  </a:cubicBezTo>
                  <a:lnTo>
                    <a:pt x="21643467" y="0"/>
                  </a:lnTo>
                  <a:lnTo>
                    <a:pt x="21643467" y="19050"/>
                  </a:lnTo>
                  <a:lnTo>
                    <a:pt x="21643467" y="0"/>
                  </a:lnTo>
                  <a:cubicBezTo>
                    <a:pt x="21716364" y="0"/>
                    <a:pt x="21776055" y="57912"/>
                    <a:pt x="21776055" y="130175"/>
                  </a:cubicBezTo>
                  <a:lnTo>
                    <a:pt x="21757005" y="130175"/>
                  </a:lnTo>
                  <a:lnTo>
                    <a:pt x="21776055" y="130175"/>
                  </a:lnTo>
                  <a:lnTo>
                    <a:pt x="21776055" y="1508760"/>
                  </a:lnTo>
                  <a:lnTo>
                    <a:pt x="21757005" y="1508760"/>
                  </a:lnTo>
                  <a:lnTo>
                    <a:pt x="21776055" y="1508760"/>
                  </a:lnTo>
                  <a:cubicBezTo>
                    <a:pt x="21776055" y="1581023"/>
                    <a:pt x="21716237" y="1638935"/>
                    <a:pt x="21643467" y="1638935"/>
                  </a:cubicBezTo>
                  <a:lnTo>
                    <a:pt x="21643467" y="1619885"/>
                  </a:lnTo>
                  <a:lnTo>
                    <a:pt x="21643467" y="1638935"/>
                  </a:lnTo>
                  <a:lnTo>
                    <a:pt x="132588" y="1638935"/>
                  </a:lnTo>
                  <a:lnTo>
                    <a:pt x="132588" y="1619885"/>
                  </a:lnTo>
                  <a:lnTo>
                    <a:pt x="132588" y="1638935"/>
                  </a:lnTo>
                  <a:cubicBezTo>
                    <a:pt x="59817" y="1638935"/>
                    <a:pt x="0" y="1581023"/>
                    <a:pt x="0" y="1508760"/>
                  </a:cubicBezTo>
                  <a:lnTo>
                    <a:pt x="0" y="130175"/>
                  </a:lnTo>
                  <a:lnTo>
                    <a:pt x="19050" y="130175"/>
                  </a:lnTo>
                  <a:lnTo>
                    <a:pt x="0" y="130175"/>
                  </a:lnTo>
                  <a:moveTo>
                    <a:pt x="38100" y="130175"/>
                  </a:moveTo>
                  <a:lnTo>
                    <a:pt x="38100" y="1508760"/>
                  </a:lnTo>
                  <a:lnTo>
                    <a:pt x="19050" y="1508760"/>
                  </a:lnTo>
                  <a:lnTo>
                    <a:pt x="38100" y="1508760"/>
                  </a:lnTo>
                  <a:cubicBezTo>
                    <a:pt x="38100" y="1559179"/>
                    <a:pt x="80010" y="1600835"/>
                    <a:pt x="132588" y="1600835"/>
                  </a:cubicBezTo>
                  <a:lnTo>
                    <a:pt x="21643467" y="1600835"/>
                  </a:lnTo>
                  <a:cubicBezTo>
                    <a:pt x="21696045" y="1600835"/>
                    <a:pt x="21737955" y="1559179"/>
                    <a:pt x="21737955" y="1508760"/>
                  </a:cubicBezTo>
                  <a:lnTo>
                    <a:pt x="21737955" y="130175"/>
                  </a:lnTo>
                  <a:cubicBezTo>
                    <a:pt x="21737955" y="79756"/>
                    <a:pt x="21696045" y="38100"/>
                    <a:pt x="21643467" y="38100"/>
                  </a:cubicBezTo>
                  <a:lnTo>
                    <a:pt x="132588" y="38100"/>
                  </a:lnTo>
                  <a:lnTo>
                    <a:pt x="132588" y="19050"/>
                  </a:lnTo>
                  <a:lnTo>
                    <a:pt x="132588" y="38100"/>
                  </a:lnTo>
                  <a:cubicBezTo>
                    <a:pt x="80010" y="38100"/>
                    <a:pt x="38100" y="79756"/>
                    <a:pt x="38100" y="130175"/>
                  </a:cubicBezTo>
                  <a:close/>
                </a:path>
              </a:pathLst>
            </a:custGeom>
            <a:solidFill>
              <a:srgbClr val="E5B2B2"/>
            </a:solidFill>
          </p:spPr>
        </p:sp>
      </p:grpSp>
      <p:grpSp>
        <p:nvGrpSpPr>
          <p:cNvPr id="16" name="Group 16"/>
          <p:cNvGrpSpPr/>
          <p:nvPr/>
        </p:nvGrpSpPr>
        <p:grpSpPr>
          <a:xfrm>
            <a:off x="1020813" y="3951684"/>
            <a:ext cx="793852" cy="1143448"/>
            <a:chOff x="0" y="0"/>
            <a:chExt cx="1058469" cy="1524597"/>
          </a:xfrm>
        </p:grpSpPr>
        <p:sp>
          <p:nvSpPr>
            <p:cNvPr id="17" name="Freeform 17"/>
            <p:cNvSpPr/>
            <p:nvPr/>
          </p:nvSpPr>
          <p:spPr>
            <a:xfrm>
              <a:off x="0" y="0"/>
              <a:ext cx="1058418" cy="1524635"/>
            </a:xfrm>
            <a:custGeom>
              <a:avLst/>
              <a:gdLst/>
              <a:ahLst/>
              <a:cxnLst/>
              <a:rect l="l" t="t" r="r" b="b"/>
              <a:pathLst>
                <a:path w="1058418" h="1524635">
                  <a:moveTo>
                    <a:pt x="0" y="65405"/>
                  </a:moveTo>
                  <a:cubicBezTo>
                    <a:pt x="0" y="29337"/>
                    <a:pt x="29337" y="0"/>
                    <a:pt x="65405" y="0"/>
                  </a:cubicBezTo>
                  <a:lnTo>
                    <a:pt x="993013" y="0"/>
                  </a:lnTo>
                  <a:cubicBezTo>
                    <a:pt x="1029208" y="0"/>
                    <a:pt x="1058418" y="29337"/>
                    <a:pt x="1058418" y="65405"/>
                  </a:cubicBezTo>
                  <a:lnTo>
                    <a:pt x="1058418" y="1459230"/>
                  </a:lnTo>
                  <a:cubicBezTo>
                    <a:pt x="1058418" y="1495425"/>
                    <a:pt x="1029081" y="1524635"/>
                    <a:pt x="993013" y="1524635"/>
                  </a:cubicBezTo>
                  <a:lnTo>
                    <a:pt x="65405" y="1524635"/>
                  </a:lnTo>
                  <a:cubicBezTo>
                    <a:pt x="29210" y="1524635"/>
                    <a:pt x="0" y="1495298"/>
                    <a:pt x="0" y="1459230"/>
                  </a:cubicBezTo>
                  <a:close/>
                </a:path>
              </a:pathLst>
            </a:custGeom>
            <a:solidFill>
              <a:srgbClr val="FFCCCC"/>
            </a:solidFill>
          </p:spPr>
        </p:sp>
      </p:grpSp>
      <p:sp>
        <p:nvSpPr>
          <p:cNvPr id="18" name="TextBox 18"/>
          <p:cNvSpPr txBox="1"/>
          <p:nvPr/>
        </p:nvSpPr>
        <p:spPr>
          <a:xfrm>
            <a:off x="1264148" y="4375394"/>
            <a:ext cx="297656" cy="333966"/>
          </a:xfrm>
          <a:prstGeom prst="rect">
            <a:avLst/>
          </a:prstGeom>
        </p:spPr>
        <p:txBody>
          <a:bodyPr lIns="0" tIns="0" rIns="0" bIns="0" rtlCol="0" anchor="t">
            <a:spAutoFit/>
          </a:bodyPr>
          <a:lstStyle/>
          <a:p>
            <a:pPr algn="l">
              <a:lnSpc>
                <a:spcPts val="2312"/>
              </a:lnSpc>
            </a:pPr>
            <a:r>
              <a:rPr lang="en-US" sz="2312" b="1">
                <a:solidFill>
                  <a:srgbClr val="000099"/>
                </a:solidFill>
                <a:latin typeface="Open Sans 1 Bold"/>
                <a:ea typeface="Open Sans 1 Bold"/>
                <a:cs typeface="Open Sans 1 Bold"/>
                <a:sym typeface="Open Sans 1 Bold"/>
              </a:rPr>
              <a:t>2</a:t>
            </a:r>
          </a:p>
        </p:txBody>
      </p:sp>
      <p:sp>
        <p:nvSpPr>
          <p:cNvPr id="19" name="TextBox 19"/>
          <p:cNvSpPr txBox="1"/>
          <p:nvPr/>
        </p:nvSpPr>
        <p:spPr>
          <a:xfrm>
            <a:off x="2013052" y="4131021"/>
            <a:ext cx="2480815"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B. Hệ thống ERP</a:t>
            </a:r>
          </a:p>
        </p:txBody>
      </p:sp>
      <p:sp>
        <p:nvSpPr>
          <p:cNvPr id="20" name="TextBox 20"/>
          <p:cNvSpPr txBox="1"/>
          <p:nvPr/>
        </p:nvSpPr>
        <p:spPr>
          <a:xfrm>
            <a:off x="2013052" y="4521994"/>
            <a:ext cx="15055748" cy="374752"/>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Vận hành, bảo trì, và tiến độ Nâng cấp hệ thống ERP cốt lõi.</a:t>
            </a:r>
          </a:p>
        </p:txBody>
      </p:sp>
      <p:grpSp>
        <p:nvGrpSpPr>
          <p:cNvPr id="21" name="Group 21"/>
          <p:cNvGrpSpPr/>
          <p:nvPr/>
        </p:nvGrpSpPr>
        <p:grpSpPr>
          <a:xfrm>
            <a:off x="977951" y="5307806"/>
            <a:ext cx="16332098" cy="1229173"/>
            <a:chOff x="0" y="0"/>
            <a:chExt cx="21776131" cy="1638897"/>
          </a:xfrm>
        </p:grpSpPr>
        <p:sp>
          <p:nvSpPr>
            <p:cNvPr id="22" name="Freeform 22"/>
            <p:cNvSpPr/>
            <p:nvPr/>
          </p:nvSpPr>
          <p:spPr>
            <a:xfrm>
              <a:off x="19050" y="19050"/>
              <a:ext cx="21737955" cy="1600835"/>
            </a:xfrm>
            <a:custGeom>
              <a:avLst/>
              <a:gdLst/>
              <a:ahLst/>
              <a:cxnLst/>
              <a:rect l="l" t="t" r="r" b="b"/>
              <a:pathLst>
                <a:path w="21737955" h="1600835">
                  <a:moveTo>
                    <a:pt x="0" y="111125"/>
                  </a:moveTo>
                  <a:cubicBezTo>
                    <a:pt x="0" y="49784"/>
                    <a:pt x="50800" y="0"/>
                    <a:pt x="113538" y="0"/>
                  </a:cubicBezTo>
                  <a:lnTo>
                    <a:pt x="21624417" y="0"/>
                  </a:lnTo>
                  <a:cubicBezTo>
                    <a:pt x="21687155" y="0"/>
                    <a:pt x="21737955" y="49784"/>
                    <a:pt x="21737955" y="111125"/>
                  </a:cubicBezTo>
                  <a:lnTo>
                    <a:pt x="21737955" y="1489710"/>
                  </a:lnTo>
                  <a:cubicBezTo>
                    <a:pt x="21737955" y="1551051"/>
                    <a:pt x="21687155" y="1600835"/>
                    <a:pt x="21624417" y="1600835"/>
                  </a:cubicBezTo>
                  <a:lnTo>
                    <a:pt x="113538" y="1600835"/>
                  </a:lnTo>
                  <a:cubicBezTo>
                    <a:pt x="50800" y="1600835"/>
                    <a:pt x="0" y="1551051"/>
                    <a:pt x="0" y="1489710"/>
                  </a:cubicBezTo>
                  <a:close/>
                </a:path>
              </a:pathLst>
            </a:custGeom>
            <a:solidFill>
              <a:srgbClr val="FFFFFF"/>
            </a:solidFill>
          </p:spPr>
        </p:sp>
        <p:sp>
          <p:nvSpPr>
            <p:cNvPr id="23" name="Freeform 23"/>
            <p:cNvSpPr/>
            <p:nvPr/>
          </p:nvSpPr>
          <p:spPr>
            <a:xfrm>
              <a:off x="0" y="0"/>
              <a:ext cx="21776055" cy="1638935"/>
            </a:xfrm>
            <a:custGeom>
              <a:avLst/>
              <a:gdLst/>
              <a:ahLst/>
              <a:cxnLst/>
              <a:rect l="l" t="t" r="r" b="b"/>
              <a:pathLst>
                <a:path w="21776055" h="1638935">
                  <a:moveTo>
                    <a:pt x="0" y="130175"/>
                  </a:moveTo>
                  <a:cubicBezTo>
                    <a:pt x="0" y="57912"/>
                    <a:pt x="59817" y="0"/>
                    <a:pt x="132588" y="0"/>
                  </a:cubicBezTo>
                  <a:lnTo>
                    <a:pt x="21643467" y="0"/>
                  </a:lnTo>
                  <a:lnTo>
                    <a:pt x="21643467" y="19050"/>
                  </a:lnTo>
                  <a:lnTo>
                    <a:pt x="21643467" y="0"/>
                  </a:lnTo>
                  <a:cubicBezTo>
                    <a:pt x="21716364" y="0"/>
                    <a:pt x="21776055" y="57912"/>
                    <a:pt x="21776055" y="130175"/>
                  </a:cubicBezTo>
                  <a:lnTo>
                    <a:pt x="21757005" y="130175"/>
                  </a:lnTo>
                  <a:lnTo>
                    <a:pt x="21776055" y="130175"/>
                  </a:lnTo>
                  <a:lnTo>
                    <a:pt x="21776055" y="1508760"/>
                  </a:lnTo>
                  <a:lnTo>
                    <a:pt x="21757005" y="1508760"/>
                  </a:lnTo>
                  <a:lnTo>
                    <a:pt x="21776055" y="1508760"/>
                  </a:lnTo>
                  <a:cubicBezTo>
                    <a:pt x="21776055" y="1581023"/>
                    <a:pt x="21716237" y="1638935"/>
                    <a:pt x="21643467" y="1638935"/>
                  </a:cubicBezTo>
                  <a:lnTo>
                    <a:pt x="21643467" y="1619885"/>
                  </a:lnTo>
                  <a:lnTo>
                    <a:pt x="21643467" y="1638935"/>
                  </a:lnTo>
                  <a:lnTo>
                    <a:pt x="132588" y="1638935"/>
                  </a:lnTo>
                  <a:lnTo>
                    <a:pt x="132588" y="1619885"/>
                  </a:lnTo>
                  <a:lnTo>
                    <a:pt x="132588" y="1638935"/>
                  </a:lnTo>
                  <a:cubicBezTo>
                    <a:pt x="59817" y="1638935"/>
                    <a:pt x="0" y="1581023"/>
                    <a:pt x="0" y="1508760"/>
                  </a:cubicBezTo>
                  <a:lnTo>
                    <a:pt x="0" y="130175"/>
                  </a:lnTo>
                  <a:lnTo>
                    <a:pt x="19050" y="130175"/>
                  </a:lnTo>
                  <a:lnTo>
                    <a:pt x="0" y="130175"/>
                  </a:lnTo>
                  <a:moveTo>
                    <a:pt x="38100" y="130175"/>
                  </a:moveTo>
                  <a:lnTo>
                    <a:pt x="38100" y="1508760"/>
                  </a:lnTo>
                  <a:lnTo>
                    <a:pt x="19050" y="1508760"/>
                  </a:lnTo>
                  <a:lnTo>
                    <a:pt x="38100" y="1508760"/>
                  </a:lnTo>
                  <a:cubicBezTo>
                    <a:pt x="38100" y="1559179"/>
                    <a:pt x="80010" y="1600835"/>
                    <a:pt x="132588" y="1600835"/>
                  </a:cubicBezTo>
                  <a:lnTo>
                    <a:pt x="21643467" y="1600835"/>
                  </a:lnTo>
                  <a:cubicBezTo>
                    <a:pt x="21696045" y="1600835"/>
                    <a:pt x="21737955" y="1559179"/>
                    <a:pt x="21737955" y="1508760"/>
                  </a:cubicBezTo>
                  <a:lnTo>
                    <a:pt x="21737955" y="130175"/>
                  </a:lnTo>
                  <a:cubicBezTo>
                    <a:pt x="21737955" y="79756"/>
                    <a:pt x="21696045" y="38100"/>
                    <a:pt x="21643467" y="38100"/>
                  </a:cubicBezTo>
                  <a:lnTo>
                    <a:pt x="132588" y="38100"/>
                  </a:lnTo>
                  <a:lnTo>
                    <a:pt x="132588" y="19050"/>
                  </a:lnTo>
                  <a:lnTo>
                    <a:pt x="132588" y="38100"/>
                  </a:lnTo>
                  <a:cubicBezTo>
                    <a:pt x="80010" y="38100"/>
                    <a:pt x="38100" y="79756"/>
                    <a:pt x="38100" y="130175"/>
                  </a:cubicBezTo>
                  <a:close/>
                </a:path>
              </a:pathLst>
            </a:custGeom>
            <a:solidFill>
              <a:srgbClr val="E5B2B2"/>
            </a:solidFill>
          </p:spPr>
        </p:sp>
      </p:grpSp>
      <p:grpSp>
        <p:nvGrpSpPr>
          <p:cNvPr id="24" name="Group 24"/>
          <p:cNvGrpSpPr/>
          <p:nvPr/>
        </p:nvGrpSpPr>
        <p:grpSpPr>
          <a:xfrm>
            <a:off x="1020813" y="5350669"/>
            <a:ext cx="793852" cy="1143448"/>
            <a:chOff x="0" y="0"/>
            <a:chExt cx="1058469" cy="1524597"/>
          </a:xfrm>
        </p:grpSpPr>
        <p:sp>
          <p:nvSpPr>
            <p:cNvPr id="25" name="Freeform 25"/>
            <p:cNvSpPr/>
            <p:nvPr/>
          </p:nvSpPr>
          <p:spPr>
            <a:xfrm>
              <a:off x="0" y="0"/>
              <a:ext cx="1058418" cy="1524635"/>
            </a:xfrm>
            <a:custGeom>
              <a:avLst/>
              <a:gdLst/>
              <a:ahLst/>
              <a:cxnLst/>
              <a:rect l="l" t="t" r="r" b="b"/>
              <a:pathLst>
                <a:path w="1058418" h="1524635">
                  <a:moveTo>
                    <a:pt x="0" y="65405"/>
                  </a:moveTo>
                  <a:cubicBezTo>
                    <a:pt x="0" y="29337"/>
                    <a:pt x="29337" y="0"/>
                    <a:pt x="65405" y="0"/>
                  </a:cubicBezTo>
                  <a:lnTo>
                    <a:pt x="993013" y="0"/>
                  </a:lnTo>
                  <a:cubicBezTo>
                    <a:pt x="1029208" y="0"/>
                    <a:pt x="1058418" y="29337"/>
                    <a:pt x="1058418" y="65405"/>
                  </a:cubicBezTo>
                  <a:lnTo>
                    <a:pt x="1058418" y="1459230"/>
                  </a:lnTo>
                  <a:cubicBezTo>
                    <a:pt x="1058418" y="1495425"/>
                    <a:pt x="1029081" y="1524635"/>
                    <a:pt x="993013" y="1524635"/>
                  </a:cubicBezTo>
                  <a:lnTo>
                    <a:pt x="65405" y="1524635"/>
                  </a:lnTo>
                  <a:cubicBezTo>
                    <a:pt x="29210" y="1524635"/>
                    <a:pt x="0" y="1495298"/>
                    <a:pt x="0" y="1459230"/>
                  </a:cubicBezTo>
                  <a:close/>
                </a:path>
              </a:pathLst>
            </a:custGeom>
            <a:solidFill>
              <a:srgbClr val="FFCCCC"/>
            </a:solidFill>
          </p:spPr>
        </p:sp>
      </p:grpSp>
      <p:sp>
        <p:nvSpPr>
          <p:cNvPr id="26" name="TextBox 26"/>
          <p:cNvSpPr txBox="1"/>
          <p:nvPr/>
        </p:nvSpPr>
        <p:spPr>
          <a:xfrm>
            <a:off x="1264148" y="5774379"/>
            <a:ext cx="297656" cy="333966"/>
          </a:xfrm>
          <a:prstGeom prst="rect">
            <a:avLst/>
          </a:prstGeom>
        </p:spPr>
        <p:txBody>
          <a:bodyPr lIns="0" tIns="0" rIns="0" bIns="0" rtlCol="0" anchor="t">
            <a:spAutoFit/>
          </a:bodyPr>
          <a:lstStyle/>
          <a:p>
            <a:pPr algn="l">
              <a:lnSpc>
                <a:spcPts val="2312"/>
              </a:lnSpc>
            </a:pPr>
            <a:r>
              <a:rPr lang="en-US" sz="2312" b="1">
                <a:solidFill>
                  <a:srgbClr val="000099"/>
                </a:solidFill>
                <a:latin typeface="Open Sans 1 Bold"/>
                <a:ea typeface="Open Sans 1 Bold"/>
                <a:cs typeface="Open Sans 1 Bold"/>
                <a:sym typeface="Open Sans 1 Bold"/>
              </a:rPr>
              <a:t>3</a:t>
            </a:r>
          </a:p>
        </p:txBody>
      </p:sp>
      <p:sp>
        <p:nvSpPr>
          <p:cNvPr id="27" name="TextBox 27"/>
          <p:cNvSpPr txBox="1"/>
          <p:nvPr/>
        </p:nvSpPr>
        <p:spPr>
          <a:xfrm>
            <a:off x="2013052" y="5530005"/>
            <a:ext cx="2881160"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C. Eoffice – HCM &amp; Khác</a:t>
            </a:r>
          </a:p>
        </p:txBody>
      </p:sp>
      <p:sp>
        <p:nvSpPr>
          <p:cNvPr id="28" name="TextBox 28"/>
          <p:cNvSpPr txBox="1"/>
          <p:nvPr/>
        </p:nvSpPr>
        <p:spPr>
          <a:xfrm>
            <a:off x="2013052" y="5920978"/>
            <a:ext cx="15055748" cy="374752"/>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Cập nhật các điều chỉnh hệ thống nhân sự và quản lý văn phòng.</a:t>
            </a:r>
          </a:p>
        </p:txBody>
      </p:sp>
      <p:grpSp>
        <p:nvGrpSpPr>
          <p:cNvPr id="29" name="Group 29"/>
          <p:cNvGrpSpPr/>
          <p:nvPr/>
        </p:nvGrpSpPr>
        <p:grpSpPr>
          <a:xfrm>
            <a:off x="977951" y="6706791"/>
            <a:ext cx="16332098" cy="1229173"/>
            <a:chOff x="0" y="0"/>
            <a:chExt cx="21776131" cy="1638897"/>
          </a:xfrm>
        </p:grpSpPr>
        <p:sp>
          <p:nvSpPr>
            <p:cNvPr id="30" name="Freeform 30"/>
            <p:cNvSpPr/>
            <p:nvPr/>
          </p:nvSpPr>
          <p:spPr>
            <a:xfrm>
              <a:off x="19050" y="19050"/>
              <a:ext cx="21737955" cy="1600835"/>
            </a:xfrm>
            <a:custGeom>
              <a:avLst/>
              <a:gdLst/>
              <a:ahLst/>
              <a:cxnLst/>
              <a:rect l="l" t="t" r="r" b="b"/>
              <a:pathLst>
                <a:path w="21737955" h="1600835">
                  <a:moveTo>
                    <a:pt x="0" y="111125"/>
                  </a:moveTo>
                  <a:cubicBezTo>
                    <a:pt x="0" y="49784"/>
                    <a:pt x="50800" y="0"/>
                    <a:pt x="113538" y="0"/>
                  </a:cubicBezTo>
                  <a:lnTo>
                    <a:pt x="21624417" y="0"/>
                  </a:lnTo>
                  <a:cubicBezTo>
                    <a:pt x="21687155" y="0"/>
                    <a:pt x="21737955" y="49784"/>
                    <a:pt x="21737955" y="111125"/>
                  </a:cubicBezTo>
                  <a:lnTo>
                    <a:pt x="21737955" y="1489710"/>
                  </a:lnTo>
                  <a:cubicBezTo>
                    <a:pt x="21737955" y="1551051"/>
                    <a:pt x="21687155" y="1600835"/>
                    <a:pt x="21624417" y="1600835"/>
                  </a:cubicBezTo>
                  <a:lnTo>
                    <a:pt x="113538" y="1600835"/>
                  </a:lnTo>
                  <a:cubicBezTo>
                    <a:pt x="50800" y="1600835"/>
                    <a:pt x="0" y="1551051"/>
                    <a:pt x="0" y="1489710"/>
                  </a:cubicBezTo>
                  <a:close/>
                </a:path>
              </a:pathLst>
            </a:custGeom>
            <a:solidFill>
              <a:srgbClr val="FFFFFF"/>
            </a:solidFill>
          </p:spPr>
        </p:sp>
        <p:sp>
          <p:nvSpPr>
            <p:cNvPr id="31" name="Freeform 31"/>
            <p:cNvSpPr/>
            <p:nvPr/>
          </p:nvSpPr>
          <p:spPr>
            <a:xfrm>
              <a:off x="0" y="0"/>
              <a:ext cx="21776055" cy="1638935"/>
            </a:xfrm>
            <a:custGeom>
              <a:avLst/>
              <a:gdLst/>
              <a:ahLst/>
              <a:cxnLst/>
              <a:rect l="l" t="t" r="r" b="b"/>
              <a:pathLst>
                <a:path w="21776055" h="1638935">
                  <a:moveTo>
                    <a:pt x="0" y="130175"/>
                  </a:moveTo>
                  <a:cubicBezTo>
                    <a:pt x="0" y="57912"/>
                    <a:pt x="59817" y="0"/>
                    <a:pt x="132588" y="0"/>
                  </a:cubicBezTo>
                  <a:lnTo>
                    <a:pt x="21643467" y="0"/>
                  </a:lnTo>
                  <a:lnTo>
                    <a:pt x="21643467" y="19050"/>
                  </a:lnTo>
                  <a:lnTo>
                    <a:pt x="21643467" y="0"/>
                  </a:lnTo>
                  <a:cubicBezTo>
                    <a:pt x="21716364" y="0"/>
                    <a:pt x="21776055" y="57912"/>
                    <a:pt x="21776055" y="130175"/>
                  </a:cubicBezTo>
                  <a:lnTo>
                    <a:pt x="21757005" y="130175"/>
                  </a:lnTo>
                  <a:lnTo>
                    <a:pt x="21776055" y="130175"/>
                  </a:lnTo>
                  <a:lnTo>
                    <a:pt x="21776055" y="1508760"/>
                  </a:lnTo>
                  <a:lnTo>
                    <a:pt x="21757005" y="1508760"/>
                  </a:lnTo>
                  <a:lnTo>
                    <a:pt x="21776055" y="1508760"/>
                  </a:lnTo>
                  <a:cubicBezTo>
                    <a:pt x="21776055" y="1581023"/>
                    <a:pt x="21716237" y="1638935"/>
                    <a:pt x="21643467" y="1638935"/>
                  </a:cubicBezTo>
                  <a:lnTo>
                    <a:pt x="21643467" y="1619885"/>
                  </a:lnTo>
                  <a:lnTo>
                    <a:pt x="21643467" y="1638935"/>
                  </a:lnTo>
                  <a:lnTo>
                    <a:pt x="132588" y="1638935"/>
                  </a:lnTo>
                  <a:lnTo>
                    <a:pt x="132588" y="1619885"/>
                  </a:lnTo>
                  <a:lnTo>
                    <a:pt x="132588" y="1638935"/>
                  </a:lnTo>
                  <a:cubicBezTo>
                    <a:pt x="59817" y="1638935"/>
                    <a:pt x="0" y="1581023"/>
                    <a:pt x="0" y="1508760"/>
                  </a:cubicBezTo>
                  <a:lnTo>
                    <a:pt x="0" y="130175"/>
                  </a:lnTo>
                  <a:lnTo>
                    <a:pt x="19050" y="130175"/>
                  </a:lnTo>
                  <a:lnTo>
                    <a:pt x="0" y="130175"/>
                  </a:lnTo>
                  <a:moveTo>
                    <a:pt x="38100" y="130175"/>
                  </a:moveTo>
                  <a:lnTo>
                    <a:pt x="38100" y="1508760"/>
                  </a:lnTo>
                  <a:lnTo>
                    <a:pt x="19050" y="1508760"/>
                  </a:lnTo>
                  <a:lnTo>
                    <a:pt x="38100" y="1508760"/>
                  </a:lnTo>
                  <a:cubicBezTo>
                    <a:pt x="38100" y="1559179"/>
                    <a:pt x="80010" y="1600835"/>
                    <a:pt x="132588" y="1600835"/>
                  </a:cubicBezTo>
                  <a:lnTo>
                    <a:pt x="21643467" y="1600835"/>
                  </a:lnTo>
                  <a:cubicBezTo>
                    <a:pt x="21696045" y="1600835"/>
                    <a:pt x="21737955" y="1559179"/>
                    <a:pt x="21737955" y="1508760"/>
                  </a:cubicBezTo>
                  <a:lnTo>
                    <a:pt x="21737955" y="130175"/>
                  </a:lnTo>
                  <a:cubicBezTo>
                    <a:pt x="21737955" y="79756"/>
                    <a:pt x="21696045" y="38100"/>
                    <a:pt x="21643467" y="38100"/>
                  </a:cubicBezTo>
                  <a:lnTo>
                    <a:pt x="132588" y="38100"/>
                  </a:lnTo>
                  <a:lnTo>
                    <a:pt x="132588" y="19050"/>
                  </a:lnTo>
                  <a:lnTo>
                    <a:pt x="132588" y="38100"/>
                  </a:lnTo>
                  <a:cubicBezTo>
                    <a:pt x="80010" y="38100"/>
                    <a:pt x="38100" y="79756"/>
                    <a:pt x="38100" y="130175"/>
                  </a:cubicBezTo>
                  <a:close/>
                </a:path>
              </a:pathLst>
            </a:custGeom>
            <a:solidFill>
              <a:srgbClr val="E5B2B2"/>
            </a:solidFill>
          </p:spPr>
        </p:sp>
      </p:grpSp>
      <p:grpSp>
        <p:nvGrpSpPr>
          <p:cNvPr id="32" name="Group 32"/>
          <p:cNvGrpSpPr/>
          <p:nvPr/>
        </p:nvGrpSpPr>
        <p:grpSpPr>
          <a:xfrm>
            <a:off x="1020813" y="6749653"/>
            <a:ext cx="793852" cy="1143448"/>
            <a:chOff x="0" y="0"/>
            <a:chExt cx="1058469" cy="1524597"/>
          </a:xfrm>
        </p:grpSpPr>
        <p:sp>
          <p:nvSpPr>
            <p:cNvPr id="33" name="Freeform 33"/>
            <p:cNvSpPr/>
            <p:nvPr/>
          </p:nvSpPr>
          <p:spPr>
            <a:xfrm>
              <a:off x="0" y="0"/>
              <a:ext cx="1058418" cy="1524635"/>
            </a:xfrm>
            <a:custGeom>
              <a:avLst/>
              <a:gdLst/>
              <a:ahLst/>
              <a:cxnLst/>
              <a:rect l="l" t="t" r="r" b="b"/>
              <a:pathLst>
                <a:path w="1058418" h="1524635">
                  <a:moveTo>
                    <a:pt x="0" y="65405"/>
                  </a:moveTo>
                  <a:cubicBezTo>
                    <a:pt x="0" y="29337"/>
                    <a:pt x="29337" y="0"/>
                    <a:pt x="65405" y="0"/>
                  </a:cubicBezTo>
                  <a:lnTo>
                    <a:pt x="993013" y="0"/>
                  </a:lnTo>
                  <a:cubicBezTo>
                    <a:pt x="1029208" y="0"/>
                    <a:pt x="1058418" y="29337"/>
                    <a:pt x="1058418" y="65405"/>
                  </a:cubicBezTo>
                  <a:lnTo>
                    <a:pt x="1058418" y="1459230"/>
                  </a:lnTo>
                  <a:cubicBezTo>
                    <a:pt x="1058418" y="1495425"/>
                    <a:pt x="1029081" y="1524635"/>
                    <a:pt x="993013" y="1524635"/>
                  </a:cubicBezTo>
                  <a:lnTo>
                    <a:pt x="65405" y="1524635"/>
                  </a:lnTo>
                  <a:cubicBezTo>
                    <a:pt x="29210" y="1524635"/>
                    <a:pt x="0" y="1495298"/>
                    <a:pt x="0" y="1459230"/>
                  </a:cubicBezTo>
                  <a:close/>
                </a:path>
              </a:pathLst>
            </a:custGeom>
            <a:solidFill>
              <a:srgbClr val="FFCCCC"/>
            </a:solidFill>
          </p:spPr>
        </p:sp>
      </p:grpSp>
      <p:sp>
        <p:nvSpPr>
          <p:cNvPr id="34" name="TextBox 34"/>
          <p:cNvSpPr txBox="1"/>
          <p:nvPr/>
        </p:nvSpPr>
        <p:spPr>
          <a:xfrm>
            <a:off x="1264148" y="7173363"/>
            <a:ext cx="297656" cy="333966"/>
          </a:xfrm>
          <a:prstGeom prst="rect">
            <a:avLst/>
          </a:prstGeom>
        </p:spPr>
        <p:txBody>
          <a:bodyPr lIns="0" tIns="0" rIns="0" bIns="0" rtlCol="0" anchor="t">
            <a:spAutoFit/>
          </a:bodyPr>
          <a:lstStyle/>
          <a:p>
            <a:pPr algn="l">
              <a:lnSpc>
                <a:spcPts val="2312"/>
              </a:lnSpc>
            </a:pPr>
            <a:r>
              <a:rPr lang="en-US" sz="2312" b="1">
                <a:solidFill>
                  <a:srgbClr val="000099"/>
                </a:solidFill>
                <a:latin typeface="Open Sans 1 Bold"/>
                <a:ea typeface="Open Sans 1 Bold"/>
                <a:cs typeface="Open Sans 1 Bold"/>
                <a:sym typeface="Open Sans 1 Bold"/>
              </a:rPr>
              <a:t>4</a:t>
            </a:r>
          </a:p>
        </p:txBody>
      </p:sp>
      <p:sp>
        <p:nvSpPr>
          <p:cNvPr id="35" name="TextBox 35"/>
          <p:cNvSpPr txBox="1"/>
          <p:nvPr/>
        </p:nvSpPr>
        <p:spPr>
          <a:xfrm>
            <a:off x="2013052" y="6928990"/>
            <a:ext cx="2616698"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D. Chuyển đổi số &amp; AI</a:t>
            </a:r>
          </a:p>
        </p:txBody>
      </p:sp>
      <p:sp>
        <p:nvSpPr>
          <p:cNvPr id="36" name="TextBox 36"/>
          <p:cNvSpPr txBox="1"/>
          <p:nvPr/>
        </p:nvSpPr>
        <p:spPr>
          <a:xfrm>
            <a:off x="2013052" y="7319962"/>
            <a:ext cx="15055748" cy="374752"/>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Các hoạt động liên quan đến Sáng kiến Chuyển đổi số và AI.</a:t>
            </a:r>
          </a:p>
        </p:txBody>
      </p:sp>
      <p:grpSp>
        <p:nvGrpSpPr>
          <p:cNvPr id="37" name="Group 37"/>
          <p:cNvGrpSpPr/>
          <p:nvPr/>
        </p:nvGrpSpPr>
        <p:grpSpPr>
          <a:xfrm>
            <a:off x="977951" y="8105775"/>
            <a:ext cx="16332098" cy="1229173"/>
            <a:chOff x="0" y="0"/>
            <a:chExt cx="21776131" cy="1638897"/>
          </a:xfrm>
        </p:grpSpPr>
        <p:sp>
          <p:nvSpPr>
            <p:cNvPr id="38" name="Freeform 38"/>
            <p:cNvSpPr/>
            <p:nvPr/>
          </p:nvSpPr>
          <p:spPr>
            <a:xfrm>
              <a:off x="19050" y="19050"/>
              <a:ext cx="21737955" cy="1600835"/>
            </a:xfrm>
            <a:custGeom>
              <a:avLst/>
              <a:gdLst/>
              <a:ahLst/>
              <a:cxnLst/>
              <a:rect l="l" t="t" r="r" b="b"/>
              <a:pathLst>
                <a:path w="21737955" h="1600835">
                  <a:moveTo>
                    <a:pt x="0" y="111125"/>
                  </a:moveTo>
                  <a:cubicBezTo>
                    <a:pt x="0" y="49784"/>
                    <a:pt x="50800" y="0"/>
                    <a:pt x="113538" y="0"/>
                  </a:cubicBezTo>
                  <a:lnTo>
                    <a:pt x="21624417" y="0"/>
                  </a:lnTo>
                  <a:cubicBezTo>
                    <a:pt x="21687155" y="0"/>
                    <a:pt x="21737955" y="49784"/>
                    <a:pt x="21737955" y="111125"/>
                  </a:cubicBezTo>
                  <a:lnTo>
                    <a:pt x="21737955" y="1489710"/>
                  </a:lnTo>
                  <a:cubicBezTo>
                    <a:pt x="21737955" y="1551051"/>
                    <a:pt x="21687155" y="1600835"/>
                    <a:pt x="21624417" y="1600835"/>
                  </a:cubicBezTo>
                  <a:lnTo>
                    <a:pt x="113538" y="1600835"/>
                  </a:lnTo>
                  <a:cubicBezTo>
                    <a:pt x="50800" y="1600835"/>
                    <a:pt x="0" y="1551051"/>
                    <a:pt x="0" y="1489710"/>
                  </a:cubicBezTo>
                  <a:close/>
                </a:path>
              </a:pathLst>
            </a:custGeom>
            <a:solidFill>
              <a:srgbClr val="FFFFFF"/>
            </a:solidFill>
          </p:spPr>
        </p:sp>
        <p:sp>
          <p:nvSpPr>
            <p:cNvPr id="39" name="Freeform 39"/>
            <p:cNvSpPr/>
            <p:nvPr/>
          </p:nvSpPr>
          <p:spPr>
            <a:xfrm>
              <a:off x="0" y="0"/>
              <a:ext cx="21776055" cy="1638935"/>
            </a:xfrm>
            <a:custGeom>
              <a:avLst/>
              <a:gdLst/>
              <a:ahLst/>
              <a:cxnLst/>
              <a:rect l="l" t="t" r="r" b="b"/>
              <a:pathLst>
                <a:path w="21776055" h="1638935">
                  <a:moveTo>
                    <a:pt x="0" y="130175"/>
                  </a:moveTo>
                  <a:cubicBezTo>
                    <a:pt x="0" y="57912"/>
                    <a:pt x="59817" y="0"/>
                    <a:pt x="132588" y="0"/>
                  </a:cubicBezTo>
                  <a:lnTo>
                    <a:pt x="21643467" y="0"/>
                  </a:lnTo>
                  <a:lnTo>
                    <a:pt x="21643467" y="19050"/>
                  </a:lnTo>
                  <a:lnTo>
                    <a:pt x="21643467" y="0"/>
                  </a:lnTo>
                  <a:cubicBezTo>
                    <a:pt x="21716364" y="0"/>
                    <a:pt x="21776055" y="57912"/>
                    <a:pt x="21776055" y="130175"/>
                  </a:cubicBezTo>
                  <a:lnTo>
                    <a:pt x="21757005" y="130175"/>
                  </a:lnTo>
                  <a:lnTo>
                    <a:pt x="21776055" y="130175"/>
                  </a:lnTo>
                  <a:lnTo>
                    <a:pt x="21776055" y="1508760"/>
                  </a:lnTo>
                  <a:lnTo>
                    <a:pt x="21757005" y="1508760"/>
                  </a:lnTo>
                  <a:lnTo>
                    <a:pt x="21776055" y="1508760"/>
                  </a:lnTo>
                  <a:cubicBezTo>
                    <a:pt x="21776055" y="1581023"/>
                    <a:pt x="21716237" y="1638935"/>
                    <a:pt x="21643467" y="1638935"/>
                  </a:cubicBezTo>
                  <a:lnTo>
                    <a:pt x="21643467" y="1619885"/>
                  </a:lnTo>
                  <a:lnTo>
                    <a:pt x="21643467" y="1638935"/>
                  </a:lnTo>
                  <a:lnTo>
                    <a:pt x="132588" y="1638935"/>
                  </a:lnTo>
                  <a:lnTo>
                    <a:pt x="132588" y="1619885"/>
                  </a:lnTo>
                  <a:lnTo>
                    <a:pt x="132588" y="1638935"/>
                  </a:lnTo>
                  <a:cubicBezTo>
                    <a:pt x="59817" y="1638935"/>
                    <a:pt x="0" y="1581023"/>
                    <a:pt x="0" y="1508760"/>
                  </a:cubicBezTo>
                  <a:lnTo>
                    <a:pt x="0" y="130175"/>
                  </a:lnTo>
                  <a:lnTo>
                    <a:pt x="19050" y="130175"/>
                  </a:lnTo>
                  <a:lnTo>
                    <a:pt x="0" y="130175"/>
                  </a:lnTo>
                  <a:moveTo>
                    <a:pt x="38100" y="130175"/>
                  </a:moveTo>
                  <a:lnTo>
                    <a:pt x="38100" y="1508760"/>
                  </a:lnTo>
                  <a:lnTo>
                    <a:pt x="19050" y="1508760"/>
                  </a:lnTo>
                  <a:lnTo>
                    <a:pt x="38100" y="1508760"/>
                  </a:lnTo>
                  <a:cubicBezTo>
                    <a:pt x="38100" y="1559179"/>
                    <a:pt x="80010" y="1600835"/>
                    <a:pt x="132588" y="1600835"/>
                  </a:cubicBezTo>
                  <a:lnTo>
                    <a:pt x="21643467" y="1600835"/>
                  </a:lnTo>
                  <a:cubicBezTo>
                    <a:pt x="21696045" y="1600835"/>
                    <a:pt x="21737955" y="1559179"/>
                    <a:pt x="21737955" y="1508760"/>
                  </a:cubicBezTo>
                  <a:lnTo>
                    <a:pt x="21737955" y="130175"/>
                  </a:lnTo>
                  <a:cubicBezTo>
                    <a:pt x="21737955" y="79756"/>
                    <a:pt x="21696045" y="38100"/>
                    <a:pt x="21643467" y="38100"/>
                  </a:cubicBezTo>
                  <a:lnTo>
                    <a:pt x="132588" y="38100"/>
                  </a:lnTo>
                  <a:lnTo>
                    <a:pt x="132588" y="19050"/>
                  </a:lnTo>
                  <a:lnTo>
                    <a:pt x="132588" y="38100"/>
                  </a:lnTo>
                  <a:cubicBezTo>
                    <a:pt x="80010" y="38100"/>
                    <a:pt x="38100" y="79756"/>
                    <a:pt x="38100" y="130175"/>
                  </a:cubicBezTo>
                  <a:close/>
                </a:path>
              </a:pathLst>
            </a:custGeom>
            <a:solidFill>
              <a:srgbClr val="E5B2B2"/>
            </a:solidFill>
          </p:spPr>
        </p:sp>
      </p:grpSp>
      <p:grpSp>
        <p:nvGrpSpPr>
          <p:cNvPr id="40" name="Group 40"/>
          <p:cNvGrpSpPr/>
          <p:nvPr/>
        </p:nvGrpSpPr>
        <p:grpSpPr>
          <a:xfrm>
            <a:off x="1020813" y="8148638"/>
            <a:ext cx="793852" cy="1143448"/>
            <a:chOff x="0" y="0"/>
            <a:chExt cx="1058469" cy="1524597"/>
          </a:xfrm>
        </p:grpSpPr>
        <p:sp>
          <p:nvSpPr>
            <p:cNvPr id="41" name="Freeform 41"/>
            <p:cNvSpPr/>
            <p:nvPr/>
          </p:nvSpPr>
          <p:spPr>
            <a:xfrm>
              <a:off x="0" y="0"/>
              <a:ext cx="1058418" cy="1524635"/>
            </a:xfrm>
            <a:custGeom>
              <a:avLst/>
              <a:gdLst/>
              <a:ahLst/>
              <a:cxnLst/>
              <a:rect l="l" t="t" r="r" b="b"/>
              <a:pathLst>
                <a:path w="1058418" h="1524635">
                  <a:moveTo>
                    <a:pt x="0" y="65405"/>
                  </a:moveTo>
                  <a:cubicBezTo>
                    <a:pt x="0" y="29337"/>
                    <a:pt x="29337" y="0"/>
                    <a:pt x="65405" y="0"/>
                  </a:cubicBezTo>
                  <a:lnTo>
                    <a:pt x="993013" y="0"/>
                  </a:lnTo>
                  <a:cubicBezTo>
                    <a:pt x="1029208" y="0"/>
                    <a:pt x="1058418" y="29337"/>
                    <a:pt x="1058418" y="65405"/>
                  </a:cubicBezTo>
                  <a:lnTo>
                    <a:pt x="1058418" y="1459230"/>
                  </a:lnTo>
                  <a:cubicBezTo>
                    <a:pt x="1058418" y="1495425"/>
                    <a:pt x="1029081" y="1524635"/>
                    <a:pt x="993013" y="1524635"/>
                  </a:cubicBezTo>
                  <a:lnTo>
                    <a:pt x="65405" y="1524635"/>
                  </a:lnTo>
                  <a:cubicBezTo>
                    <a:pt x="29210" y="1524635"/>
                    <a:pt x="0" y="1495298"/>
                    <a:pt x="0" y="1459230"/>
                  </a:cubicBezTo>
                  <a:close/>
                </a:path>
              </a:pathLst>
            </a:custGeom>
            <a:solidFill>
              <a:srgbClr val="FFCCCC"/>
            </a:solidFill>
          </p:spPr>
        </p:sp>
      </p:grpSp>
      <p:sp>
        <p:nvSpPr>
          <p:cNvPr id="42" name="TextBox 42"/>
          <p:cNvSpPr txBox="1"/>
          <p:nvPr/>
        </p:nvSpPr>
        <p:spPr>
          <a:xfrm>
            <a:off x="1264148" y="8572348"/>
            <a:ext cx="297656" cy="333966"/>
          </a:xfrm>
          <a:prstGeom prst="rect">
            <a:avLst/>
          </a:prstGeom>
        </p:spPr>
        <p:txBody>
          <a:bodyPr lIns="0" tIns="0" rIns="0" bIns="0" rtlCol="0" anchor="t">
            <a:spAutoFit/>
          </a:bodyPr>
          <a:lstStyle/>
          <a:p>
            <a:pPr algn="l">
              <a:lnSpc>
                <a:spcPts val="2312"/>
              </a:lnSpc>
            </a:pPr>
            <a:r>
              <a:rPr lang="en-US" sz="2312" b="1">
                <a:solidFill>
                  <a:srgbClr val="000099"/>
                </a:solidFill>
                <a:latin typeface="Open Sans 1 Bold"/>
                <a:ea typeface="Open Sans 1 Bold"/>
                <a:cs typeface="Open Sans 1 Bold"/>
                <a:sym typeface="Open Sans 1 Bold"/>
              </a:rPr>
              <a:t>5</a:t>
            </a:r>
          </a:p>
        </p:txBody>
      </p:sp>
      <p:sp>
        <p:nvSpPr>
          <p:cNvPr id="43" name="TextBox 43"/>
          <p:cNvSpPr txBox="1"/>
          <p:nvPr/>
        </p:nvSpPr>
        <p:spPr>
          <a:xfrm>
            <a:off x="2013052" y="8327974"/>
            <a:ext cx="4034733"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E. Tồn đọng &amp; Kế hoạch Tháng 11</a:t>
            </a:r>
          </a:p>
        </p:txBody>
      </p:sp>
      <p:sp>
        <p:nvSpPr>
          <p:cNvPr id="44" name="TextBox 44"/>
          <p:cNvSpPr txBox="1"/>
          <p:nvPr/>
        </p:nvSpPr>
        <p:spPr>
          <a:xfrm>
            <a:off x="2013052" y="8718947"/>
            <a:ext cx="15055748" cy="374752"/>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Tổng hợp các vấn đề tồn đọng và định hướng công việc sắp tới.</a:t>
            </a: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790127" y="601713"/>
            <a:ext cx="8042672" cy="531914"/>
          </a:xfrm>
          <a:prstGeom prst="rect">
            <a:avLst/>
          </a:prstGeom>
        </p:spPr>
        <p:txBody>
          <a:bodyPr lIns="0" tIns="0" rIns="0" bIns="0" rtlCol="0" anchor="t">
            <a:spAutoFit/>
          </a:bodyPr>
          <a:lstStyle/>
          <a:p>
            <a:pPr algn="l">
              <a:lnSpc>
                <a:spcPts val="3875"/>
              </a:lnSpc>
            </a:pPr>
            <a:r>
              <a:rPr lang="en-US" sz="3062" b="1">
                <a:solidFill>
                  <a:srgbClr val="FF0000"/>
                </a:solidFill>
                <a:latin typeface="Open Sans 1 Bold"/>
                <a:ea typeface="Open Sans 1 Bold"/>
                <a:cs typeface="Open Sans 1 Bold"/>
                <a:sym typeface="Open Sans 1 Bold"/>
              </a:rPr>
              <a:t>A. KẾT QUẢ CÔNG VIỆC HẠ TẦNG CNTT </a:t>
            </a:r>
            <a:r>
              <a:rPr lang="en-US" sz="3062" b="1">
                <a:solidFill>
                  <a:srgbClr val="000000"/>
                </a:solidFill>
                <a:latin typeface="Open Sans 1 Bold"/>
                <a:ea typeface="Open Sans 1 Bold"/>
                <a:cs typeface="Open Sans 1 Bold"/>
                <a:sym typeface="Open Sans 1 Bold"/>
              </a:rPr>
              <a:t>🛠️</a:t>
            </a:r>
          </a:p>
        </p:txBody>
      </p:sp>
      <p:sp>
        <p:nvSpPr>
          <p:cNvPr id="4" name="TextBox 4"/>
          <p:cNvSpPr txBox="1"/>
          <p:nvPr/>
        </p:nvSpPr>
        <p:spPr>
          <a:xfrm>
            <a:off x="1340025" y="2127918"/>
            <a:ext cx="9944100" cy="262188"/>
          </a:xfrm>
          <a:prstGeom prst="rect">
            <a:avLst/>
          </a:prstGeom>
        </p:spPr>
        <p:txBody>
          <a:bodyPr lIns="0" tIns="0" rIns="0" bIns="0" rtlCol="0" anchor="t">
            <a:spAutoFit/>
          </a:bodyPr>
          <a:lstStyle/>
          <a:p>
            <a:pPr algn="l">
              <a:lnSpc>
                <a:spcPts val="1937"/>
              </a:lnSpc>
            </a:pPr>
            <a:r>
              <a:rPr lang="en-US" sz="2400" b="1" dirty="0" err="1">
                <a:solidFill>
                  <a:srgbClr val="000099"/>
                </a:solidFill>
                <a:latin typeface="Open Sans 1 Bold"/>
                <a:ea typeface="Open Sans 1 Bold"/>
                <a:cs typeface="Open Sans 1 Bold"/>
                <a:sym typeface="Open Sans 1 Bold"/>
              </a:rPr>
              <a:t>Hệ</a:t>
            </a:r>
            <a:r>
              <a:rPr lang="en-US" sz="2400" b="1" dirty="0">
                <a:solidFill>
                  <a:srgbClr val="000099"/>
                </a:solidFill>
                <a:latin typeface="Open Sans 1 Bold"/>
                <a:ea typeface="Open Sans 1 Bold"/>
                <a:cs typeface="Open Sans 1 Bold"/>
                <a:sym typeface="Open Sans 1 Bold"/>
              </a:rPr>
              <a:t> </a:t>
            </a:r>
            <a:r>
              <a:rPr lang="en-US" sz="2400" b="1" dirty="0" err="1">
                <a:solidFill>
                  <a:srgbClr val="000099"/>
                </a:solidFill>
                <a:latin typeface="Open Sans 1 Bold"/>
                <a:ea typeface="Open Sans 1 Bold"/>
                <a:cs typeface="Open Sans 1 Bold"/>
                <a:sym typeface="Open Sans 1 Bold"/>
              </a:rPr>
              <a:t>thống</a:t>
            </a:r>
            <a:r>
              <a:rPr lang="en-US" sz="2400" b="1" dirty="0">
                <a:solidFill>
                  <a:srgbClr val="000099"/>
                </a:solidFill>
                <a:latin typeface="Open Sans 1 Bold"/>
                <a:ea typeface="Open Sans 1 Bold"/>
                <a:cs typeface="Open Sans 1 Bold"/>
                <a:sym typeface="Open Sans 1 Bold"/>
              </a:rPr>
              <a:t> </a:t>
            </a:r>
            <a:r>
              <a:rPr lang="en-US" sz="2400" b="1" dirty="0" err="1">
                <a:solidFill>
                  <a:srgbClr val="000099"/>
                </a:solidFill>
                <a:latin typeface="Open Sans 1 Bold"/>
                <a:ea typeface="Open Sans 1 Bold"/>
                <a:cs typeface="Open Sans 1 Bold"/>
                <a:sym typeface="Open Sans 1 Bold"/>
              </a:rPr>
              <a:t>Mạng</a:t>
            </a:r>
            <a:r>
              <a:rPr lang="en-US" sz="2400" b="1" dirty="0">
                <a:solidFill>
                  <a:srgbClr val="000099"/>
                </a:solidFill>
                <a:latin typeface="Open Sans 1 Bold"/>
                <a:ea typeface="Open Sans 1 Bold"/>
                <a:cs typeface="Open Sans 1 Bold"/>
                <a:sym typeface="Open Sans 1 Bold"/>
              </a:rPr>
              <a:t> &amp; Server</a:t>
            </a:r>
          </a:p>
        </p:txBody>
      </p:sp>
      <p:sp>
        <p:nvSpPr>
          <p:cNvPr id="5" name="TextBox 5"/>
          <p:cNvSpPr txBox="1"/>
          <p:nvPr/>
        </p:nvSpPr>
        <p:spPr>
          <a:xfrm>
            <a:off x="1333399" y="2417366"/>
            <a:ext cx="9944100" cy="615553"/>
          </a:xfrm>
          <a:prstGeom prst="rect">
            <a:avLst/>
          </a:prstGeom>
        </p:spPr>
        <p:txBody>
          <a:bodyPr lIns="0" tIns="0" rIns="0" bIns="0" rtlCol="0" anchor="t">
            <a:spAutoFit/>
          </a:bodyPr>
          <a:lstStyle/>
          <a:p>
            <a:pPr algn="l"/>
            <a:r>
              <a:rPr lang="en-US" sz="2000" dirty="0" err="1">
                <a:solidFill>
                  <a:srgbClr val="000099"/>
                </a:solidFill>
                <a:latin typeface="Open Sans 1"/>
                <a:ea typeface="Open Sans 1"/>
                <a:cs typeface="Open Sans 1"/>
                <a:sym typeface="Open Sans 1"/>
              </a:rPr>
              <a:t>Các</a:t>
            </a:r>
            <a:r>
              <a:rPr lang="en-US" sz="2000" dirty="0">
                <a:solidFill>
                  <a:srgbClr val="000099"/>
                </a:solidFill>
                <a:latin typeface="Open Sans 1"/>
                <a:ea typeface="Open Sans 1"/>
                <a:cs typeface="Open Sans 1"/>
                <a:sym typeface="Open Sans 1"/>
              </a:rPr>
              <a:t> site </a:t>
            </a:r>
            <a:r>
              <a:rPr lang="en-US" sz="2000" dirty="0" err="1">
                <a:solidFill>
                  <a:srgbClr val="000099"/>
                </a:solidFill>
                <a:latin typeface="Open Sans 1"/>
                <a:ea typeface="Open Sans 1"/>
                <a:cs typeface="Open Sans 1"/>
                <a:sym typeface="Open Sans 1"/>
              </a:rPr>
              <a:t>hoạt</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động</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ổn</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định</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Đã</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cấu</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hình</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liên</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kết</a:t>
            </a:r>
            <a:r>
              <a:rPr lang="en-US" sz="2000" dirty="0">
                <a:solidFill>
                  <a:srgbClr val="000099"/>
                </a:solidFill>
                <a:latin typeface="Open Sans 1"/>
                <a:ea typeface="Open Sans 1"/>
                <a:cs typeface="Open Sans 1"/>
                <a:sym typeface="Open Sans 1"/>
              </a:rPr>
              <a:t> mail </a:t>
            </a:r>
            <a:r>
              <a:rPr lang="en-US" sz="2000" dirty="0" err="1">
                <a:solidFill>
                  <a:srgbClr val="000099"/>
                </a:solidFill>
                <a:latin typeface="Open Sans 1"/>
                <a:ea typeface="Open Sans 1"/>
                <a:cs typeface="Open Sans 1"/>
                <a:sym typeface="Open Sans 1"/>
              </a:rPr>
              <a:t>phê</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duyệt</a:t>
            </a:r>
            <a:r>
              <a:rPr lang="en-US" sz="2000" dirty="0">
                <a:solidFill>
                  <a:srgbClr val="000099"/>
                </a:solidFill>
                <a:latin typeface="Open Sans 1"/>
                <a:ea typeface="Open Sans 1"/>
                <a:cs typeface="Open Sans 1"/>
                <a:sym typeface="Open Sans 1"/>
              </a:rPr>
              <a:t> EBS </a:t>
            </a:r>
            <a:r>
              <a:rPr lang="en-US" sz="2000" dirty="0" err="1">
                <a:solidFill>
                  <a:srgbClr val="000099"/>
                </a:solidFill>
                <a:latin typeface="Open Sans 1"/>
                <a:ea typeface="Open Sans 1"/>
                <a:cs typeface="Open Sans 1"/>
                <a:sym typeface="Open Sans 1"/>
              </a:rPr>
              <a:t>và</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chuyển</a:t>
            </a:r>
            <a:r>
              <a:rPr lang="en-US" sz="2000" dirty="0">
                <a:solidFill>
                  <a:srgbClr val="000099"/>
                </a:solidFill>
                <a:latin typeface="Open Sans 1"/>
                <a:ea typeface="Open Sans 1"/>
                <a:cs typeface="Open Sans 1"/>
                <a:sym typeface="Open Sans 1"/>
              </a:rPr>
              <a:t> Backup app 8007 qua </a:t>
            </a:r>
            <a:r>
              <a:rPr lang="en-US" sz="2000" dirty="0" err="1">
                <a:solidFill>
                  <a:srgbClr val="000099"/>
                </a:solidFill>
                <a:latin typeface="Open Sans 1"/>
                <a:ea typeface="Open Sans 1"/>
                <a:cs typeface="Open Sans 1"/>
                <a:sym typeface="Open Sans 1"/>
              </a:rPr>
              <a:t>Sanbox</a:t>
            </a:r>
            <a:r>
              <a:rPr lang="en-US" sz="2000" dirty="0">
                <a:solidFill>
                  <a:srgbClr val="000099"/>
                </a:solidFill>
                <a:latin typeface="Open Sans 1"/>
                <a:ea typeface="Open Sans 1"/>
                <a:cs typeface="Open Sans 1"/>
                <a:sym typeface="Open Sans 1"/>
              </a:rPr>
              <a:t> APP </a:t>
            </a:r>
            <a:r>
              <a:rPr lang="en-US" sz="2000" dirty="0" err="1">
                <a:solidFill>
                  <a:srgbClr val="000099"/>
                </a:solidFill>
                <a:latin typeface="Open Sans 1"/>
                <a:ea typeface="Open Sans 1"/>
                <a:cs typeface="Open Sans 1"/>
                <a:sym typeface="Open Sans 1"/>
              </a:rPr>
              <a:t>để</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tối</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ưu</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hóa</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tài</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nguyên</a:t>
            </a:r>
            <a:r>
              <a:rPr lang="en-US" sz="2000" dirty="0">
                <a:solidFill>
                  <a:srgbClr val="000099"/>
                </a:solidFill>
                <a:latin typeface="Open Sans 1"/>
                <a:ea typeface="Open Sans 1"/>
                <a:cs typeface="Open Sans 1"/>
                <a:sym typeface="Open Sans 1"/>
              </a:rPr>
              <a:t>.</a:t>
            </a:r>
          </a:p>
        </p:txBody>
      </p:sp>
      <p:sp>
        <p:nvSpPr>
          <p:cNvPr id="6" name="TextBox 6"/>
          <p:cNvSpPr txBox="1"/>
          <p:nvPr/>
        </p:nvSpPr>
        <p:spPr>
          <a:xfrm>
            <a:off x="1340025" y="3311568"/>
            <a:ext cx="9944100" cy="262188"/>
          </a:xfrm>
          <a:prstGeom prst="rect">
            <a:avLst/>
          </a:prstGeom>
        </p:spPr>
        <p:txBody>
          <a:bodyPr lIns="0" tIns="0" rIns="0" bIns="0" rtlCol="0" anchor="t">
            <a:spAutoFit/>
          </a:bodyPr>
          <a:lstStyle/>
          <a:p>
            <a:pPr algn="l">
              <a:lnSpc>
                <a:spcPts val="1937"/>
              </a:lnSpc>
            </a:pPr>
            <a:r>
              <a:rPr lang="en-US" sz="2400" b="1" dirty="0">
                <a:solidFill>
                  <a:srgbClr val="000099"/>
                </a:solidFill>
                <a:latin typeface="Open Sans 1 Bold"/>
                <a:ea typeface="Open Sans 1 Bold"/>
                <a:cs typeface="Open Sans 1 Bold"/>
                <a:sym typeface="Open Sans 1 Bold"/>
              </a:rPr>
              <a:t>Backup &amp; </a:t>
            </a:r>
            <a:r>
              <a:rPr lang="en-US" sz="2400" b="1" dirty="0" err="1">
                <a:solidFill>
                  <a:srgbClr val="000099"/>
                </a:solidFill>
                <a:latin typeface="Open Sans 1 Bold"/>
                <a:ea typeface="Open Sans 1 Bold"/>
                <a:cs typeface="Open Sans 1 Bold"/>
                <a:sym typeface="Open Sans 1 Bold"/>
              </a:rPr>
              <a:t>Lưu</a:t>
            </a:r>
            <a:r>
              <a:rPr lang="en-US" sz="2400" b="1" dirty="0">
                <a:solidFill>
                  <a:srgbClr val="000099"/>
                </a:solidFill>
                <a:latin typeface="Open Sans 1 Bold"/>
                <a:ea typeface="Open Sans 1 Bold"/>
                <a:cs typeface="Open Sans 1 Bold"/>
                <a:sym typeface="Open Sans 1 Bold"/>
              </a:rPr>
              <a:t> </a:t>
            </a:r>
            <a:r>
              <a:rPr lang="en-US" sz="2400" b="1" dirty="0" err="1">
                <a:solidFill>
                  <a:srgbClr val="000099"/>
                </a:solidFill>
                <a:latin typeface="Open Sans 1 Bold"/>
                <a:ea typeface="Open Sans 1 Bold"/>
                <a:cs typeface="Open Sans 1 Bold"/>
                <a:sym typeface="Open Sans 1 Bold"/>
              </a:rPr>
              <a:t>trữ</a:t>
            </a:r>
            <a:endParaRPr lang="en-US" sz="2400" b="1" dirty="0">
              <a:solidFill>
                <a:srgbClr val="000099"/>
              </a:solidFill>
              <a:latin typeface="Open Sans 1 Bold"/>
              <a:ea typeface="Open Sans 1 Bold"/>
              <a:cs typeface="Open Sans 1 Bold"/>
              <a:sym typeface="Open Sans 1 Bold"/>
            </a:endParaRPr>
          </a:p>
        </p:txBody>
      </p:sp>
      <p:sp>
        <p:nvSpPr>
          <p:cNvPr id="7" name="TextBox 7"/>
          <p:cNvSpPr txBox="1"/>
          <p:nvPr/>
        </p:nvSpPr>
        <p:spPr>
          <a:xfrm>
            <a:off x="1333399" y="3580006"/>
            <a:ext cx="9944100" cy="615553"/>
          </a:xfrm>
          <a:prstGeom prst="rect">
            <a:avLst/>
          </a:prstGeom>
        </p:spPr>
        <p:txBody>
          <a:bodyPr lIns="0" tIns="0" rIns="0" bIns="0" rtlCol="0" anchor="t">
            <a:spAutoFit/>
          </a:bodyPr>
          <a:lstStyle/>
          <a:p>
            <a:pPr algn="l"/>
            <a:r>
              <a:rPr lang="en-US" sz="2000" dirty="0" err="1">
                <a:solidFill>
                  <a:srgbClr val="000099"/>
                </a:solidFill>
                <a:latin typeface="Open Sans 1"/>
                <a:ea typeface="Open Sans 1"/>
                <a:cs typeface="Open Sans 1"/>
                <a:sym typeface="Open Sans 1"/>
              </a:rPr>
              <a:t>Hệ</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thống</a:t>
            </a:r>
            <a:r>
              <a:rPr lang="en-US" sz="2000" dirty="0">
                <a:solidFill>
                  <a:srgbClr val="000099"/>
                </a:solidFill>
                <a:latin typeface="Open Sans 1"/>
                <a:ea typeface="Open Sans 1"/>
                <a:cs typeface="Open Sans 1"/>
                <a:sym typeface="Open Sans 1"/>
              </a:rPr>
              <a:t> Backup </a:t>
            </a:r>
            <a:r>
              <a:rPr lang="en-US" sz="2000" dirty="0" err="1">
                <a:solidFill>
                  <a:srgbClr val="000099"/>
                </a:solidFill>
                <a:latin typeface="Open Sans 1"/>
                <a:ea typeface="Open Sans 1"/>
                <a:cs typeface="Open Sans 1"/>
                <a:sym typeface="Open Sans 1"/>
              </a:rPr>
              <a:t>được</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theo</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dõi</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hàng</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ngày</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tình</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trạng</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hoạt</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động</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ổn</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định</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đảm</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bảo</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khả</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năng</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phục</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hồi</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dữ</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liệu</a:t>
            </a:r>
            <a:r>
              <a:rPr lang="en-US" sz="2000" dirty="0">
                <a:solidFill>
                  <a:srgbClr val="000099"/>
                </a:solidFill>
                <a:latin typeface="Open Sans 1"/>
                <a:ea typeface="Open Sans 1"/>
                <a:cs typeface="Open Sans 1"/>
                <a:sym typeface="Open Sans 1"/>
              </a:rPr>
              <a:t>.</a:t>
            </a:r>
          </a:p>
        </p:txBody>
      </p:sp>
      <p:sp>
        <p:nvSpPr>
          <p:cNvPr id="8" name="TextBox 8"/>
          <p:cNvSpPr txBox="1"/>
          <p:nvPr/>
        </p:nvSpPr>
        <p:spPr>
          <a:xfrm>
            <a:off x="1333399" y="4514551"/>
            <a:ext cx="9944100" cy="243656"/>
          </a:xfrm>
          <a:prstGeom prst="rect">
            <a:avLst/>
          </a:prstGeom>
        </p:spPr>
        <p:txBody>
          <a:bodyPr lIns="0" tIns="0" rIns="0" bIns="0" rtlCol="0" anchor="t">
            <a:spAutoFit/>
          </a:bodyPr>
          <a:lstStyle/>
          <a:p>
            <a:pPr algn="l">
              <a:lnSpc>
                <a:spcPts val="1937"/>
              </a:lnSpc>
            </a:pPr>
            <a:r>
              <a:rPr lang="en-US" sz="2400" b="1" dirty="0" err="1">
                <a:solidFill>
                  <a:srgbClr val="000099"/>
                </a:solidFill>
                <a:latin typeface="Open Sans 1 Bold"/>
                <a:ea typeface="Open Sans 1 Bold"/>
                <a:cs typeface="Open Sans 1 Bold"/>
                <a:sym typeface="Open Sans 1 Bold"/>
              </a:rPr>
              <a:t>Bảo</a:t>
            </a:r>
            <a:r>
              <a:rPr lang="en-US" sz="2400" b="1" dirty="0">
                <a:solidFill>
                  <a:srgbClr val="000099"/>
                </a:solidFill>
                <a:latin typeface="Open Sans 1 Bold"/>
                <a:ea typeface="Open Sans 1 Bold"/>
                <a:cs typeface="Open Sans 1 Bold"/>
                <a:sym typeface="Open Sans 1 Bold"/>
              </a:rPr>
              <a:t> </a:t>
            </a:r>
            <a:r>
              <a:rPr lang="en-US" sz="2400" b="1" dirty="0" err="1">
                <a:solidFill>
                  <a:srgbClr val="000099"/>
                </a:solidFill>
                <a:latin typeface="Open Sans 1 Bold"/>
                <a:ea typeface="Open Sans 1 Bold"/>
                <a:cs typeface="Open Sans 1 Bold"/>
                <a:sym typeface="Open Sans 1 Bold"/>
              </a:rPr>
              <a:t>trì</a:t>
            </a:r>
            <a:r>
              <a:rPr lang="en-US" sz="2400" b="1" dirty="0">
                <a:solidFill>
                  <a:srgbClr val="000099"/>
                </a:solidFill>
                <a:latin typeface="Open Sans 1 Bold"/>
                <a:ea typeface="Open Sans 1 Bold"/>
                <a:cs typeface="Open Sans 1 Bold"/>
                <a:sym typeface="Open Sans 1 Bold"/>
              </a:rPr>
              <a:t> &amp; License</a:t>
            </a:r>
          </a:p>
        </p:txBody>
      </p:sp>
      <p:sp>
        <p:nvSpPr>
          <p:cNvPr id="9" name="TextBox 9"/>
          <p:cNvSpPr txBox="1"/>
          <p:nvPr/>
        </p:nvSpPr>
        <p:spPr>
          <a:xfrm>
            <a:off x="1316834" y="4758207"/>
            <a:ext cx="9944100" cy="615553"/>
          </a:xfrm>
          <a:prstGeom prst="rect">
            <a:avLst/>
          </a:prstGeom>
        </p:spPr>
        <p:txBody>
          <a:bodyPr lIns="0" tIns="0" rIns="0" bIns="0" rtlCol="0" anchor="t">
            <a:spAutoFit/>
          </a:bodyPr>
          <a:lstStyle/>
          <a:p>
            <a:pPr algn="l"/>
            <a:r>
              <a:rPr lang="en-US" sz="2000" dirty="0" err="1">
                <a:solidFill>
                  <a:srgbClr val="000099"/>
                </a:solidFill>
                <a:latin typeface="Open Sans 1"/>
                <a:ea typeface="Open Sans 1"/>
                <a:cs typeface="Open Sans 1"/>
                <a:sym typeface="Open Sans 1"/>
              </a:rPr>
              <a:t>Đã</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hoàn</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tất</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trình</a:t>
            </a:r>
            <a:r>
              <a:rPr lang="en-US" sz="2000" dirty="0">
                <a:solidFill>
                  <a:srgbClr val="000099"/>
                </a:solidFill>
                <a:latin typeface="Open Sans 1"/>
                <a:ea typeface="Open Sans 1"/>
                <a:cs typeface="Open Sans 1"/>
                <a:sym typeface="Open Sans 1"/>
              </a:rPr>
              <a:t> </a:t>
            </a:r>
            <a:r>
              <a:rPr lang="en-US" sz="2000" dirty="0" err="1">
                <a:solidFill>
                  <a:srgbClr val="FF0101"/>
                </a:solidFill>
                <a:latin typeface="Open Sans 1"/>
                <a:ea typeface="Open Sans 1"/>
                <a:cs typeface="Open Sans 1"/>
                <a:sym typeface="Open Sans 1"/>
              </a:rPr>
              <a:t>Kế</a:t>
            </a:r>
            <a:r>
              <a:rPr lang="en-US" sz="2000" dirty="0">
                <a:solidFill>
                  <a:srgbClr val="FF0101"/>
                </a:solidFill>
                <a:latin typeface="Open Sans 1"/>
                <a:ea typeface="Open Sans 1"/>
                <a:cs typeface="Open Sans 1"/>
                <a:sym typeface="Open Sans 1"/>
              </a:rPr>
              <a:t> </a:t>
            </a:r>
            <a:r>
              <a:rPr lang="en-US" sz="2000" dirty="0" err="1">
                <a:solidFill>
                  <a:srgbClr val="FF0101"/>
                </a:solidFill>
                <a:latin typeface="Open Sans 1"/>
                <a:ea typeface="Open Sans 1"/>
                <a:cs typeface="Open Sans 1"/>
                <a:sym typeface="Open Sans 1"/>
              </a:rPr>
              <a:t>hoạch</a:t>
            </a:r>
            <a:r>
              <a:rPr lang="en-US" sz="2000" dirty="0">
                <a:solidFill>
                  <a:srgbClr val="FF0101"/>
                </a:solidFill>
                <a:latin typeface="Open Sans 1"/>
                <a:ea typeface="Open Sans 1"/>
                <a:cs typeface="Open Sans 1"/>
                <a:sym typeface="Open Sans 1"/>
              </a:rPr>
              <a:t> </a:t>
            </a:r>
            <a:r>
              <a:rPr lang="en-US" sz="2000" dirty="0" err="1">
                <a:solidFill>
                  <a:srgbClr val="FF0101"/>
                </a:solidFill>
                <a:latin typeface="Open Sans 1"/>
                <a:ea typeface="Open Sans 1"/>
                <a:cs typeface="Open Sans 1"/>
                <a:sym typeface="Open Sans 1"/>
              </a:rPr>
              <a:t>bảo</a:t>
            </a:r>
            <a:r>
              <a:rPr lang="en-US" sz="2000" dirty="0">
                <a:solidFill>
                  <a:srgbClr val="FF0101"/>
                </a:solidFill>
                <a:latin typeface="Open Sans 1"/>
                <a:ea typeface="Open Sans 1"/>
                <a:cs typeface="Open Sans 1"/>
                <a:sym typeface="Open Sans 1"/>
              </a:rPr>
              <a:t> </a:t>
            </a:r>
            <a:r>
              <a:rPr lang="en-US" sz="2000" dirty="0" err="1">
                <a:solidFill>
                  <a:srgbClr val="FF0101"/>
                </a:solidFill>
                <a:latin typeface="Open Sans 1"/>
                <a:ea typeface="Open Sans 1"/>
                <a:cs typeface="Open Sans 1"/>
                <a:sym typeface="Open Sans 1"/>
              </a:rPr>
              <a:t>trì</a:t>
            </a:r>
            <a:r>
              <a:rPr lang="en-US" sz="2000" dirty="0">
                <a:solidFill>
                  <a:srgbClr val="FF0101"/>
                </a:solidFill>
                <a:latin typeface="Open Sans 1"/>
                <a:ea typeface="Open Sans 1"/>
                <a:cs typeface="Open Sans 1"/>
                <a:sym typeface="Open Sans 1"/>
              </a:rPr>
              <a:t> 2025 (</a:t>
            </a:r>
            <a:r>
              <a:rPr lang="en-US" sz="2000" dirty="0" err="1">
                <a:solidFill>
                  <a:srgbClr val="FF0101"/>
                </a:solidFill>
                <a:latin typeface="Open Sans 1"/>
                <a:ea typeface="Open Sans 1"/>
                <a:cs typeface="Open Sans 1"/>
                <a:sym typeface="Open Sans 1"/>
              </a:rPr>
              <a:t>đã</a:t>
            </a:r>
            <a:r>
              <a:rPr lang="en-US" sz="2000" dirty="0">
                <a:solidFill>
                  <a:srgbClr val="FF0101"/>
                </a:solidFill>
                <a:latin typeface="Open Sans 1"/>
                <a:ea typeface="Open Sans 1"/>
                <a:cs typeface="Open Sans 1"/>
                <a:sym typeface="Open Sans 1"/>
              </a:rPr>
              <a:t> </a:t>
            </a:r>
            <a:r>
              <a:rPr lang="en-US" sz="2000" dirty="0" err="1">
                <a:solidFill>
                  <a:srgbClr val="FF0101"/>
                </a:solidFill>
                <a:latin typeface="Open Sans 1"/>
                <a:ea typeface="Open Sans 1"/>
                <a:cs typeface="Open Sans 1"/>
                <a:sym typeface="Open Sans 1"/>
              </a:rPr>
              <a:t>được</a:t>
            </a:r>
            <a:r>
              <a:rPr lang="en-US" sz="2000" dirty="0">
                <a:solidFill>
                  <a:srgbClr val="FF0101"/>
                </a:solidFill>
                <a:latin typeface="Open Sans 1"/>
                <a:ea typeface="Open Sans 1"/>
                <a:cs typeface="Open Sans 1"/>
                <a:sym typeface="Open Sans 1"/>
              </a:rPr>
              <a:t> </a:t>
            </a:r>
            <a:r>
              <a:rPr lang="en-US" sz="2000" dirty="0" err="1">
                <a:solidFill>
                  <a:srgbClr val="FF0101"/>
                </a:solidFill>
                <a:latin typeface="Open Sans 1"/>
                <a:ea typeface="Open Sans 1"/>
                <a:cs typeface="Open Sans 1"/>
                <a:sym typeface="Open Sans 1"/>
              </a:rPr>
              <a:t>duyệt</a:t>
            </a:r>
            <a:r>
              <a:rPr lang="en-US" sz="2000" dirty="0">
                <a:solidFill>
                  <a:srgbClr val="FF0101"/>
                </a:solidFill>
                <a:latin typeface="Open Sans 1"/>
                <a:ea typeface="Open Sans 1"/>
                <a:cs typeface="Open Sans 1"/>
                <a:sym typeface="Open Sans 1"/>
              </a:rPr>
              <a:t>)</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Đồng</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thời</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hoàn</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tất</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chuẩn</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bị</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Tờ</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trình</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gia</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hạn</a:t>
            </a:r>
            <a:r>
              <a:rPr lang="en-US" sz="2000" dirty="0">
                <a:solidFill>
                  <a:srgbClr val="000099"/>
                </a:solidFill>
                <a:latin typeface="Open Sans 1"/>
                <a:ea typeface="Open Sans 1"/>
                <a:cs typeface="Open Sans 1"/>
                <a:sym typeface="Open Sans 1"/>
              </a:rPr>
              <a:t> License Microsoft </a:t>
            </a:r>
            <a:r>
              <a:rPr lang="en-US" sz="2000" dirty="0" err="1">
                <a:solidFill>
                  <a:srgbClr val="000099"/>
                </a:solidFill>
                <a:latin typeface="Open Sans 1"/>
                <a:ea typeface="Open Sans 1"/>
                <a:cs typeface="Open Sans 1"/>
                <a:sym typeface="Open Sans 1"/>
              </a:rPr>
              <a:t>sắp</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tới</a:t>
            </a:r>
            <a:r>
              <a:rPr lang="en-US" sz="2000" dirty="0">
                <a:solidFill>
                  <a:srgbClr val="000099"/>
                </a:solidFill>
                <a:latin typeface="Open Sans 1"/>
                <a:ea typeface="Open Sans 1"/>
                <a:cs typeface="Open Sans 1"/>
                <a:sym typeface="Open Sans 1"/>
              </a:rPr>
              <a:t>.</a:t>
            </a:r>
          </a:p>
        </p:txBody>
      </p:sp>
      <p:sp>
        <p:nvSpPr>
          <p:cNvPr id="10" name="TextBox 10"/>
          <p:cNvSpPr txBox="1"/>
          <p:nvPr/>
        </p:nvSpPr>
        <p:spPr>
          <a:xfrm>
            <a:off x="1333399" y="5771999"/>
            <a:ext cx="9944100" cy="262188"/>
          </a:xfrm>
          <a:prstGeom prst="rect">
            <a:avLst/>
          </a:prstGeom>
        </p:spPr>
        <p:txBody>
          <a:bodyPr lIns="0" tIns="0" rIns="0" bIns="0" rtlCol="0" anchor="t">
            <a:spAutoFit/>
          </a:bodyPr>
          <a:lstStyle/>
          <a:p>
            <a:pPr algn="l">
              <a:lnSpc>
                <a:spcPts val="1937"/>
              </a:lnSpc>
            </a:pPr>
            <a:r>
              <a:rPr lang="en-US" sz="2400" b="1" dirty="0" err="1">
                <a:solidFill>
                  <a:srgbClr val="000099"/>
                </a:solidFill>
                <a:latin typeface="Open Sans 1 Bold"/>
                <a:ea typeface="Open Sans 1 Bold"/>
                <a:cs typeface="Open Sans 1 Bold"/>
                <a:sym typeface="Open Sans 1 Bold"/>
              </a:rPr>
              <a:t>Hệ</a:t>
            </a:r>
            <a:r>
              <a:rPr lang="en-US" sz="2400" b="1" dirty="0">
                <a:solidFill>
                  <a:srgbClr val="000099"/>
                </a:solidFill>
                <a:latin typeface="Open Sans 1 Bold"/>
                <a:ea typeface="Open Sans 1 Bold"/>
                <a:cs typeface="Open Sans 1 Bold"/>
                <a:sym typeface="Open Sans 1 Bold"/>
              </a:rPr>
              <a:t> </a:t>
            </a:r>
            <a:r>
              <a:rPr lang="en-US" sz="2400" b="1" dirty="0" err="1">
                <a:solidFill>
                  <a:srgbClr val="000099"/>
                </a:solidFill>
                <a:latin typeface="Open Sans 1 Bold"/>
                <a:ea typeface="Open Sans 1 Bold"/>
                <a:cs typeface="Open Sans 1 Bold"/>
                <a:sym typeface="Open Sans 1 Bold"/>
              </a:rPr>
              <a:t>thống</a:t>
            </a:r>
            <a:r>
              <a:rPr lang="en-US" sz="2400" b="1" dirty="0">
                <a:solidFill>
                  <a:srgbClr val="000099"/>
                </a:solidFill>
                <a:latin typeface="Open Sans 1 Bold"/>
                <a:ea typeface="Open Sans 1 Bold"/>
                <a:cs typeface="Open Sans 1 Bold"/>
                <a:sym typeface="Open Sans 1 Bold"/>
              </a:rPr>
              <a:t> Camera</a:t>
            </a:r>
          </a:p>
        </p:txBody>
      </p:sp>
      <p:sp>
        <p:nvSpPr>
          <p:cNvPr id="11" name="TextBox 11"/>
          <p:cNvSpPr txBox="1"/>
          <p:nvPr/>
        </p:nvSpPr>
        <p:spPr>
          <a:xfrm>
            <a:off x="1333399" y="6133527"/>
            <a:ext cx="9944100" cy="615553"/>
          </a:xfrm>
          <a:prstGeom prst="rect">
            <a:avLst/>
          </a:prstGeom>
        </p:spPr>
        <p:txBody>
          <a:bodyPr lIns="0" tIns="0" rIns="0" bIns="0" rtlCol="0" anchor="t">
            <a:spAutoFit/>
          </a:bodyPr>
          <a:lstStyle/>
          <a:p>
            <a:pPr algn="l"/>
            <a:r>
              <a:rPr lang="en-US" sz="2000" dirty="0" err="1">
                <a:solidFill>
                  <a:srgbClr val="000099"/>
                </a:solidFill>
                <a:latin typeface="Open Sans 1"/>
                <a:ea typeface="Open Sans 1"/>
                <a:cs typeface="Open Sans 1"/>
                <a:sym typeface="Open Sans 1"/>
              </a:rPr>
              <a:t>Tiếp</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tục</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thống</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kê</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tổng</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thể</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hệ</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thống</a:t>
            </a:r>
            <a:r>
              <a:rPr lang="en-US" sz="2000" dirty="0">
                <a:solidFill>
                  <a:srgbClr val="000099"/>
                </a:solidFill>
                <a:latin typeface="Open Sans 1"/>
                <a:ea typeface="Open Sans 1"/>
                <a:cs typeface="Open Sans 1"/>
                <a:sym typeface="Open Sans 1"/>
              </a:rPr>
              <a:t> camera </a:t>
            </a:r>
            <a:r>
              <a:rPr lang="en-US" sz="2000" dirty="0" err="1">
                <a:solidFill>
                  <a:srgbClr val="000099"/>
                </a:solidFill>
                <a:latin typeface="Open Sans 1"/>
                <a:ea typeface="Open Sans 1"/>
                <a:cs typeface="Open Sans 1"/>
                <a:sym typeface="Open Sans 1"/>
              </a:rPr>
              <a:t>tại</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các</a:t>
            </a:r>
            <a:r>
              <a:rPr lang="en-US" sz="2000" dirty="0">
                <a:solidFill>
                  <a:srgbClr val="000099"/>
                </a:solidFill>
                <a:latin typeface="Open Sans 1"/>
                <a:ea typeface="Open Sans 1"/>
                <a:cs typeface="Open Sans 1"/>
                <a:sym typeface="Open Sans 1"/>
              </a:rPr>
              <a:t> site. </a:t>
            </a:r>
            <a:r>
              <a:rPr lang="en-US" sz="2000" dirty="0" err="1">
                <a:solidFill>
                  <a:srgbClr val="000099"/>
                </a:solidFill>
                <a:latin typeface="Open Sans 1"/>
                <a:ea typeface="Open Sans 1"/>
                <a:cs typeface="Open Sans 1"/>
                <a:sym typeface="Open Sans 1"/>
              </a:rPr>
              <a:t>Ghi</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nhận</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tại</a:t>
            </a:r>
            <a:r>
              <a:rPr lang="en-US" sz="2000" dirty="0">
                <a:solidFill>
                  <a:srgbClr val="000099"/>
                </a:solidFill>
                <a:latin typeface="Open Sans 1"/>
                <a:ea typeface="Open Sans 1"/>
                <a:cs typeface="Open Sans 1"/>
                <a:sym typeface="Open Sans 1"/>
              </a:rPr>
              <a:t> TDM </a:t>
            </a:r>
            <a:r>
              <a:rPr lang="en-US" sz="2000" dirty="0" err="1">
                <a:solidFill>
                  <a:srgbClr val="000099"/>
                </a:solidFill>
                <a:latin typeface="Open Sans 1"/>
                <a:ea typeface="Open Sans 1"/>
                <a:cs typeface="Open Sans 1"/>
                <a:sym typeface="Open Sans 1"/>
              </a:rPr>
              <a:t>đã</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kiểm</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tra</a:t>
            </a:r>
            <a:r>
              <a:rPr lang="en-US" sz="2000" dirty="0">
                <a:solidFill>
                  <a:srgbClr val="000099"/>
                </a:solidFill>
                <a:latin typeface="Open Sans 1"/>
                <a:ea typeface="Open Sans 1"/>
                <a:cs typeface="Open Sans 1"/>
                <a:sym typeface="Open Sans 1"/>
              </a:rPr>
              <a:t> </a:t>
            </a:r>
            <a:r>
              <a:rPr lang="en-US" sz="2000" b="1" dirty="0">
                <a:solidFill>
                  <a:srgbClr val="000099"/>
                </a:solidFill>
                <a:latin typeface="Open Sans 1 Bold"/>
                <a:ea typeface="Open Sans 1 Bold"/>
                <a:cs typeface="Open Sans 1 Bold"/>
                <a:sym typeface="Open Sans 1 Bold"/>
              </a:rPr>
              <a:t>199/205 </a:t>
            </a:r>
            <a:r>
              <a:rPr lang="en-US" sz="2000" b="1" dirty="0" err="1">
                <a:solidFill>
                  <a:srgbClr val="000099"/>
                </a:solidFill>
                <a:latin typeface="Open Sans 1 Bold"/>
                <a:ea typeface="Open Sans 1 Bold"/>
                <a:cs typeface="Open Sans 1 Bold"/>
                <a:sym typeface="Open Sans 1 Bold"/>
              </a:rPr>
              <a:t>kênh</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hoạt</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động</a:t>
            </a:r>
            <a:r>
              <a:rPr lang="en-US" sz="2000" dirty="0">
                <a:solidFill>
                  <a:srgbClr val="000099"/>
                </a:solidFill>
                <a:latin typeface="Open Sans 1"/>
                <a:ea typeface="Open Sans 1"/>
                <a:cs typeface="Open Sans 1"/>
                <a:sym typeface="Open Sans 1"/>
              </a:rPr>
              <a:t>.</a:t>
            </a:r>
          </a:p>
        </p:txBody>
      </p:sp>
      <p:sp>
        <p:nvSpPr>
          <p:cNvPr id="12" name="TextBox 12"/>
          <p:cNvSpPr txBox="1"/>
          <p:nvPr/>
        </p:nvSpPr>
        <p:spPr>
          <a:xfrm>
            <a:off x="1333399" y="7124700"/>
            <a:ext cx="9944100" cy="243656"/>
          </a:xfrm>
          <a:prstGeom prst="rect">
            <a:avLst/>
          </a:prstGeom>
        </p:spPr>
        <p:txBody>
          <a:bodyPr lIns="0" tIns="0" rIns="0" bIns="0" rtlCol="0" anchor="t">
            <a:spAutoFit/>
          </a:bodyPr>
          <a:lstStyle/>
          <a:p>
            <a:pPr algn="l">
              <a:lnSpc>
                <a:spcPts val="1937"/>
              </a:lnSpc>
            </a:pPr>
            <a:r>
              <a:rPr lang="en-US" sz="2400" b="1" dirty="0" err="1">
                <a:solidFill>
                  <a:srgbClr val="000099"/>
                </a:solidFill>
                <a:latin typeface="Open Sans 1 Bold"/>
                <a:ea typeface="Open Sans 1 Bold"/>
                <a:cs typeface="Open Sans 1 Bold"/>
                <a:sym typeface="Open Sans 1 Bold"/>
              </a:rPr>
              <a:t>Hỗ</a:t>
            </a:r>
            <a:r>
              <a:rPr lang="en-US" sz="2400" b="1" dirty="0">
                <a:solidFill>
                  <a:srgbClr val="000099"/>
                </a:solidFill>
                <a:latin typeface="Open Sans 1 Bold"/>
                <a:ea typeface="Open Sans 1 Bold"/>
                <a:cs typeface="Open Sans 1 Bold"/>
                <a:sym typeface="Open Sans 1 Bold"/>
              </a:rPr>
              <a:t> </a:t>
            </a:r>
            <a:r>
              <a:rPr lang="en-US" sz="2400" b="1" dirty="0" err="1">
                <a:solidFill>
                  <a:srgbClr val="000099"/>
                </a:solidFill>
                <a:latin typeface="Open Sans 1 Bold"/>
                <a:ea typeface="Open Sans 1 Bold"/>
                <a:cs typeface="Open Sans 1 Bold"/>
                <a:sym typeface="Open Sans 1 Bold"/>
              </a:rPr>
              <a:t>trợ</a:t>
            </a:r>
            <a:r>
              <a:rPr lang="en-US" sz="2400" b="1" dirty="0">
                <a:solidFill>
                  <a:srgbClr val="000099"/>
                </a:solidFill>
                <a:latin typeface="Open Sans 1 Bold"/>
                <a:ea typeface="Open Sans 1 Bold"/>
                <a:cs typeface="Open Sans 1 Bold"/>
                <a:sym typeface="Open Sans 1 Bold"/>
              </a:rPr>
              <a:t> </a:t>
            </a:r>
            <a:r>
              <a:rPr lang="en-US" sz="2400" b="1" dirty="0" err="1">
                <a:solidFill>
                  <a:srgbClr val="000099"/>
                </a:solidFill>
                <a:latin typeface="Open Sans 1 Bold"/>
                <a:ea typeface="Open Sans 1 Bold"/>
                <a:cs typeface="Open Sans 1 Bold"/>
                <a:sym typeface="Open Sans 1 Bold"/>
              </a:rPr>
              <a:t>Đặc</a:t>
            </a:r>
            <a:r>
              <a:rPr lang="en-US" sz="2400" b="1" dirty="0">
                <a:solidFill>
                  <a:srgbClr val="000099"/>
                </a:solidFill>
                <a:latin typeface="Open Sans 1 Bold"/>
                <a:ea typeface="Open Sans 1 Bold"/>
                <a:cs typeface="Open Sans 1 Bold"/>
                <a:sym typeface="Open Sans 1 Bold"/>
              </a:rPr>
              <a:t> </a:t>
            </a:r>
            <a:r>
              <a:rPr lang="en-US" sz="2400" b="1" dirty="0" err="1">
                <a:solidFill>
                  <a:srgbClr val="000099"/>
                </a:solidFill>
                <a:latin typeface="Open Sans 1 Bold"/>
                <a:ea typeface="Open Sans 1 Bold"/>
                <a:cs typeface="Open Sans 1 Bold"/>
                <a:sym typeface="Open Sans 1 Bold"/>
              </a:rPr>
              <a:t>biệt</a:t>
            </a:r>
            <a:endParaRPr lang="en-US" sz="2400" b="1" dirty="0">
              <a:solidFill>
                <a:srgbClr val="000099"/>
              </a:solidFill>
              <a:latin typeface="Open Sans 1 Bold"/>
              <a:ea typeface="Open Sans 1 Bold"/>
              <a:cs typeface="Open Sans 1 Bold"/>
              <a:sym typeface="Open Sans 1 Bold"/>
            </a:endParaRPr>
          </a:p>
        </p:txBody>
      </p:sp>
      <p:sp>
        <p:nvSpPr>
          <p:cNvPr id="13" name="TextBox 13"/>
          <p:cNvSpPr txBox="1"/>
          <p:nvPr/>
        </p:nvSpPr>
        <p:spPr>
          <a:xfrm>
            <a:off x="1303582" y="7505700"/>
            <a:ext cx="9944100" cy="615553"/>
          </a:xfrm>
          <a:prstGeom prst="rect">
            <a:avLst/>
          </a:prstGeom>
        </p:spPr>
        <p:txBody>
          <a:bodyPr lIns="0" tIns="0" rIns="0" bIns="0" rtlCol="0" anchor="t">
            <a:spAutoFit/>
          </a:bodyPr>
          <a:lstStyle/>
          <a:p>
            <a:pPr algn="l"/>
            <a:r>
              <a:rPr lang="en-US" sz="2000" dirty="0" err="1">
                <a:solidFill>
                  <a:srgbClr val="000099"/>
                </a:solidFill>
                <a:latin typeface="Open Sans 1"/>
                <a:ea typeface="Open Sans 1"/>
                <a:cs typeface="Open Sans 1"/>
                <a:sym typeface="Open Sans 1"/>
              </a:rPr>
              <a:t>Đã</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lên</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hợp</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đồng</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mua</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Chữ</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ký</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số</a:t>
            </a:r>
            <a:r>
              <a:rPr lang="en-US" sz="2000" dirty="0">
                <a:solidFill>
                  <a:srgbClr val="000099"/>
                </a:solidFill>
                <a:latin typeface="Open Sans 1"/>
                <a:ea typeface="Open Sans 1"/>
                <a:cs typeface="Open Sans 1"/>
                <a:sym typeface="Open Sans 1"/>
              </a:rPr>
              <a:t> VNPT </a:t>
            </a:r>
            <a:r>
              <a:rPr lang="en-US" sz="2000" dirty="0" err="1">
                <a:solidFill>
                  <a:srgbClr val="000099"/>
                </a:solidFill>
                <a:latin typeface="Open Sans 1"/>
                <a:ea typeface="Open Sans 1"/>
                <a:cs typeface="Open Sans 1"/>
                <a:sym typeface="Open Sans 1"/>
              </a:rPr>
              <a:t>SmartCA</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phục</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vụ</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cho</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các</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cơ</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quan</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chức</a:t>
            </a:r>
            <a:r>
              <a:rPr lang="en-US" sz="2000" dirty="0">
                <a:solidFill>
                  <a:srgbClr val="000099"/>
                </a:solidFill>
                <a:latin typeface="Open Sans 1"/>
                <a:ea typeface="Open Sans 1"/>
                <a:cs typeface="Open Sans 1"/>
                <a:sym typeface="Open Sans 1"/>
              </a:rPr>
              <a:t> </a:t>
            </a:r>
            <a:r>
              <a:rPr lang="en-US" sz="2000" dirty="0" err="1">
                <a:solidFill>
                  <a:srgbClr val="000099"/>
                </a:solidFill>
                <a:latin typeface="Open Sans 1"/>
                <a:ea typeface="Open Sans 1"/>
                <a:cs typeface="Open Sans 1"/>
                <a:sym typeface="Open Sans 1"/>
              </a:rPr>
              <a:t>năng</a:t>
            </a:r>
            <a:r>
              <a:rPr lang="en-US" sz="2000" dirty="0">
                <a:solidFill>
                  <a:srgbClr val="000099"/>
                </a:solidFill>
                <a:latin typeface="Open Sans 1"/>
                <a:ea typeface="Open Sans 1"/>
                <a:cs typeface="Open Sans 1"/>
                <a:sym typeface="Open Sans 1"/>
              </a:rPr>
              <a:t> (COCQ).</a:t>
            </a:r>
          </a:p>
        </p:txBody>
      </p:sp>
      <p:grpSp>
        <p:nvGrpSpPr>
          <p:cNvPr id="14" name="Group 14"/>
          <p:cNvGrpSpPr/>
          <p:nvPr/>
        </p:nvGrpSpPr>
        <p:grpSpPr>
          <a:xfrm>
            <a:off x="11902429" y="1998907"/>
            <a:ext cx="4516193" cy="4516193"/>
            <a:chOff x="0" y="0"/>
            <a:chExt cx="6021591" cy="6021591"/>
          </a:xfrm>
        </p:grpSpPr>
        <p:sp>
          <p:nvSpPr>
            <p:cNvPr id="15" name="Freeform 15" descr="preencoded.png"/>
            <p:cNvSpPr/>
            <p:nvPr/>
          </p:nvSpPr>
          <p:spPr>
            <a:xfrm>
              <a:off x="0" y="0"/>
              <a:ext cx="6021578" cy="6021578"/>
            </a:xfrm>
            <a:custGeom>
              <a:avLst/>
              <a:gdLst/>
              <a:ahLst/>
              <a:cxnLst/>
              <a:rect l="l" t="t" r="r" b="b"/>
              <a:pathLst>
                <a:path w="6021578" h="6021578">
                  <a:moveTo>
                    <a:pt x="0" y="0"/>
                  </a:moveTo>
                  <a:lnTo>
                    <a:pt x="6021578" y="0"/>
                  </a:lnTo>
                  <a:lnTo>
                    <a:pt x="6021578" y="6021578"/>
                  </a:lnTo>
                  <a:lnTo>
                    <a:pt x="0" y="6021578"/>
                  </a:lnTo>
                  <a:lnTo>
                    <a:pt x="0" y="0"/>
                  </a:lnTo>
                  <a:close/>
                </a:path>
              </a:pathLst>
            </a:custGeom>
            <a:blipFill>
              <a:blip r:embed="rId3"/>
              <a:stretch>
                <a:fillRect/>
              </a:stretch>
            </a:blipFill>
          </p:spPr>
        </p:sp>
      </p:gr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912762"/>
            <a:ext cx="11860559" cy="825998"/>
          </a:xfrm>
          <a:prstGeom prst="rect">
            <a:avLst/>
          </a:prstGeom>
        </p:spPr>
        <p:txBody>
          <a:bodyPr lIns="0" tIns="0" rIns="0" bIns="0" rtlCol="0" anchor="t">
            <a:spAutoFit/>
          </a:bodyPr>
          <a:lstStyle/>
          <a:p>
            <a:pPr algn="l">
              <a:lnSpc>
                <a:spcPts val="6249"/>
              </a:lnSpc>
            </a:pPr>
            <a:r>
              <a:rPr lang="en-US" sz="4999" b="1">
                <a:solidFill>
                  <a:srgbClr val="FF0000"/>
                </a:solidFill>
                <a:latin typeface="Open Sans 1 Bold"/>
                <a:ea typeface="Open Sans 1 Bold"/>
                <a:cs typeface="Open Sans 1 Bold"/>
                <a:sym typeface="Open Sans 1 Bold"/>
              </a:rPr>
              <a:t>B. TIẾN ĐỘ CÔNG VIỆC HỆ THỐNG ERP</a:t>
            </a:r>
          </a:p>
        </p:txBody>
      </p:sp>
      <p:sp>
        <p:nvSpPr>
          <p:cNvPr id="4" name="TextBox 4"/>
          <p:cNvSpPr txBox="1"/>
          <p:nvPr/>
        </p:nvSpPr>
        <p:spPr>
          <a:xfrm>
            <a:off x="992238" y="2144316"/>
            <a:ext cx="16303523" cy="614953"/>
          </a:xfrm>
          <a:prstGeom prst="rect">
            <a:avLst/>
          </a:prstGeom>
        </p:spPr>
        <p:txBody>
          <a:bodyPr lIns="0" tIns="0" rIns="0" bIns="0" rtlCol="0" anchor="t">
            <a:spAutoFit/>
          </a:bodyPr>
          <a:lstStyle/>
          <a:p>
            <a:pPr algn="l">
              <a:lnSpc>
                <a:spcPts val="4000"/>
              </a:lnSpc>
            </a:pPr>
            <a:r>
              <a:rPr lang="en-US" sz="2499">
                <a:solidFill>
                  <a:srgbClr val="000099"/>
                </a:solidFill>
                <a:latin typeface="Open Sans 1"/>
                <a:ea typeface="Open Sans 1"/>
                <a:cs typeface="Open Sans 1"/>
                <a:sym typeface="Open Sans 1"/>
              </a:rPr>
              <a:t>Đảm bảo vận hành ổn định và tiến hành các dự án nâng cấp chiến lược.</a:t>
            </a:r>
          </a:p>
        </p:txBody>
      </p:sp>
      <p:grpSp>
        <p:nvGrpSpPr>
          <p:cNvPr id="5" name="Group 5"/>
          <p:cNvGrpSpPr/>
          <p:nvPr/>
        </p:nvGrpSpPr>
        <p:grpSpPr>
          <a:xfrm>
            <a:off x="9129712" y="3046209"/>
            <a:ext cx="28575" cy="6299302"/>
            <a:chOff x="0" y="0"/>
            <a:chExt cx="38100" cy="8399069"/>
          </a:xfrm>
        </p:grpSpPr>
        <p:sp>
          <p:nvSpPr>
            <p:cNvPr id="6" name="Freeform 6"/>
            <p:cNvSpPr/>
            <p:nvPr/>
          </p:nvSpPr>
          <p:spPr>
            <a:xfrm>
              <a:off x="0" y="0"/>
              <a:ext cx="38100" cy="8399018"/>
            </a:xfrm>
            <a:custGeom>
              <a:avLst/>
              <a:gdLst/>
              <a:ahLst/>
              <a:cxnLst/>
              <a:rect l="l" t="t" r="r" b="b"/>
              <a:pathLst>
                <a:path w="38100" h="8399018">
                  <a:moveTo>
                    <a:pt x="0" y="19050"/>
                  </a:moveTo>
                  <a:cubicBezTo>
                    <a:pt x="0" y="8509"/>
                    <a:pt x="8509" y="0"/>
                    <a:pt x="19050" y="0"/>
                  </a:cubicBezTo>
                  <a:cubicBezTo>
                    <a:pt x="29591" y="0"/>
                    <a:pt x="38100" y="8509"/>
                    <a:pt x="38100" y="19050"/>
                  </a:cubicBezTo>
                  <a:lnTo>
                    <a:pt x="38100" y="8379968"/>
                  </a:lnTo>
                  <a:cubicBezTo>
                    <a:pt x="38100" y="8390510"/>
                    <a:pt x="29591" y="8399018"/>
                    <a:pt x="19050" y="8399018"/>
                  </a:cubicBezTo>
                  <a:cubicBezTo>
                    <a:pt x="8509" y="8399018"/>
                    <a:pt x="0" y="8390510"/>
                    <a:pt x="0" y="8379968"/>
                  </a:cubicBezTo>
                  <a:close/>
                </a:path>
              </a:pathLst>
            </a:custGeom>
            <a:solidFill>
              <a:srgbClr val="E5B2B2"/>
            </a:solidFill>
          </p:spPr>
        </p:sp>
      </p:grpSp>
      <p:grpSp>
        <p:nvGrpSpPr>
          <p:cNvPr id="7" name="Group 7"/>
          <p:cNvGrpSpPr/>
          <p:nvPr/>
        </p:nvGrpSpPr>
        <p:grpSpPr>
          <a:xfrm>
            <a:off x="8120139" y="3318872"/>
            <a:ext cx="765419" cy="28575"/>
            <a:chOff x="0" y="0"/>
            <a:chExt cx="1020559" cy="38100"/>
          </a:xfrm>
        </p:grpSpPr>
        <p:sp>
          <p:nvSpPr>
            <p:cNvPr id="8" name="Freeform 8"/>
            <p:cNvSpPr/>
            <p:nvPr/>
          </p:nvSpPr>
          <p:spPr>
            <a:xfrm>
              <a:off x="0" y="0"/>
              <a:ext cx="1020572" cy="38100"/>
            </a:xfrm>
            <a:custGeom>
              <a:avLst/>
              <a:gdLst/>
              <a:ahLst/>
              <a:cxnLst/>
              <a:rect l="l" t="t" r="r" b="b"/>
              <a:pathLst>
                <a:path w="1020572" h="38100">
                  <a:moveTo>
                    <a:pt x="0" y="19050"/>
                  </a:moveTo>
                  <a:cubicBezTo>
                    <a:pt x="0" y="8509"/>
                    <a:pt x="8509" y="0"/>
                    <a:pt x="19050" y="0"/>
                  </a:cubicBezTo>
                  <a:lnTo>
                    <a:pt x="1001522" y="0"/>
                  </a:lnTo>
                  <a:cubicBezTo>
                    <a:pt x="1012063" y="0"/>
                    <a:pt x="1020572" y="8509"/>
                    <a:pt x="1020572" y="19050"/>
                  </a:cubicBezTo>
                  <a:cubicBezTo>
                    <a:pt x="1020572" y="29591"/>
                    <a:pt x="1012063" y="38100"/>
                    <a:pt x="1001522" y="38100"/>
                  </a:cubicBezTo>
                  <a:lnTo>
                    <a:pt x="19050" y="38100"/>
                  </a:lnTo>
                  <a:cubicBezTo>
                    <a:pt x="8509" y="38100"/>
                    <a:pt x="0" y="29591"/>
                    <a:pt x="0" y="19050"/>
                  </a:cubicBezTo>
                  <a:close/>
                </a:path>
              </a:pathLst>
            </a:custGeom>
            <a:solidFill>
              <a:srgbClr val="E5B2B2"/>
            </a:solidFill>
          </p:spPr>
        </p:sp>
      </p:grpSp>
      <p:grpSp>
        <p:nvGrpSpPr>
          <p:cNvPr id="9" name="Group 9"/>
          <p:cNvGrpSpPr/>
          <p:nvPr/>
        </p:nvGrpSpPr>
        <p:grpSpPr>
          <a:xfrm>
            <a:off x="8852221" y="3041447"/>
            <a:ext cx="583559" cy="583559"/>
            <a:chOff x="0" y="0"/>
            <a:chExt cx="778078" cy="778078"/>
          </a:xfrm>
        </p:grpSpPr>
        <p:sp>
          <p:nvSpPr>
            <p:cNvPr id="10" name="Freeform 10"/>
            <p:cNvSpPr/>
            <p:nvPr/>
          </p:nvSpPr>
          <p:spPr>
            <a:xfrm>
              <a:off x="6350" y="6350"/>
              <a:ext cx="765302" cy="765302"/>
            </a:xfrm>
            <a:custGeom>
              <a:avLst/>
              <a:gdLst/>
              <a:ahLst/>
              <a:cxnLst/>
              <a:rect l="l" t="t" r="r" b="b"/>
              <a:pathLst>
                <a:path w="765302" h="765302">
                  <a:moveTo>
                    <a:pt x="0" y="142875"/>
                  </a:moveTo>
                  <a:cubicBezTo>
                    <a:pt x="0" y="64008"/>
                    <a:pt x="64008" y="0"/>
                    <a:pt x="142875" y="0"/>
                  </a:cubicBezTo>
                  <a:lnTo>
                    <a:pt x="622427" y="0"/>
                  </a:lnTo>
                  <a:cubicBezTo>
                    <a:pt x="701294" y="0"/>
                    <a:pt x="765302" y="64008"/>
                    <a:pt x="765302" y="142875"/>
                  </a:cubicBezTo>
                  <a:lnTo>
                    <a:pt x="765302" y="622427"/>
                  </a:lnTo>
                  <a:cubicBezTo>
                    <a:pt x="765302" y="701294"/>
                    <a:pt x="701294" y="765302"/>
                    <a:pt x="622427" y="765302"/>
                  </a:cubicBezTo>
                  <a:lnTo>
                    <a:pt x="142875" y="765302"/>
                  </a:lnTo>
                  <a:cubicBezTo>
                    <a:pt x="64008" y="765429"/>
                    <a:pt x="0" y="701421"/>
                    <a:pt x="0" y="622427"/>
                  </a:cubicBezTo>
                  <a:close/>
                </a:path>
              </a:pathLst>
            </a:custGeom>
            <a:solidFill>
              <a:srgbClr val="FFCCCC"/>
            </a:solidFill>
          </p:spPr>
        </p:sp>
        <p:sp>
          <p:nvSpPr>
            <p:cNvPr id="11" name="Freeform 11"/>
            <p:cNvSpPr/>
            <p:nvPr/>
          </p:nvSpPr>
          <p:spPr>
            <a:xfrm>
              <a:off x="0" y="0"/>
              <a:ext cx="778129" cy="778129"/>
            </a:xfrm>
            <a:custGeom>
              <a:avLst/>
              <a:gdLst/>
              <a:ahLst/>
              <a:cxnLst/>
              <a:rect l="l" t="t" r="r" b="b"/>
              <a:pathLst>
                <a:path w="778129" h="778129">
                  <a:moveTo>
                    <a:pt x="0" y="149225"/>
                  </a:moveTo>
                  <a:cubicBezTo>
                    <a:pt x="0" y="66802"/>
                    <a:pt x="66802" y="0"/>
                    <a:pt x="149225" y="0"/>
                  </a:cubicBezTo>
                  <a:lnTo>
                    <a:pt x="628777" y="0"/>
                  </a:lnTo>
                  <a:lnTo>
                    <a:pt x="628777" y="6350"/>
                  </a:lnTo>
                  <a:lnTo>
                    <a:pt x="628777" y="0"/>
                  </a:lnTo>
                  <a:cubicBezTo>
                    <a:pt x="711200" y="0"/>
                    <a:pt x="778129" y="66802"/>
                    <a:pt x="778129" y="149225"/>
                  </a:cubicBezTo>
                  <a:lnTo>
                    <a:pt x="771779" y="149225"/>
                  </a:lnTo>
                  <a:lnTo>
                    <a:pt x="778129" y="149225"/>
                  </a:lnTo>
                  <a:lnTo>
                    <a:pt x="778129" y="628777"/>
                  </a:lnTo>
                  <a:lnTo>
                    <a:pt x="771779" y="628777"/>
                  </a:lnTo>
                  <a:lnTo>
                    <a:pt x="778129" y="628777"/>
                  </a:lnTo>
                  <a:cubicBezTo>
                    <a:pt x="778129" y="711200"/>
                    <a:pt x="711200" y="778129"/>
                    <a:pt x="628777" y="778129"/>
                  </a:cubicBezTo>
                  <a:lnTo>
                    <a:pt x="628777" y="771779"/>
                  </a:lnTo>
                  <a:lnTo>
                    <a:pt x="628777" y="778129"/>
                  </a:lnTo>
                  <a:lnTo>
                    <a:pt x="149225" y="778129"/>
                  </a:lnTo>
                  <a:lnTo>
                    <a:pt x="149225" y="771779"/>
                  </a:lnTo>
                  <a:lnTo>
                    <a:pt x="149225" y="778129"/>
                  </a:lnTo>
                  <a:cubicBezTo>
                    <a:pt x="66802" y="778129"/>
                    <a:pt x="0" y="711200"/>
                    <a:pt x="0" y="628777"/>
                  </a:cubicBezTo>
                  <a:lnTo>
                    <a:pt x="0" y="149225"/>
                  </a:lnTo>
                  <a:lnTo>
                    <a:pt x="6350" y="149225"/>
                  </a:lnTo>
                  <a:lnTo>
                    <a:pt x="0" y="149225"/>
                  </a:lnTo>
                  <a:moveTo>
                    <a:pt x="12700" y="149225"/>
                  </a:moveTo>
                  <a:lnTo>
                    <a:pt x="12700" y="628777"/>
                  </a:lnTo>
                  <a:lnTo>
                    <a:pt x="6350" y="628777"/>
                  </a:lnTo>
                  <a:lnTo>
                    <a:pt x="12700" y="628777"/>
                  </a:lnTo>
                  <a:cubicBezTo>
                    <a:pt x="12700" y="704215"/>
                    <a:pt x="73787" y="765302"/>
                    <a:pt x="149225" y="765302"/>
                  </a:cubicBezTo>
                  <a:lnTo>
                    <a:pt x="628777" y="765302"/>
                  </a:lnTo>
                  <a:cubicBezTo>
                    <a:pt x="704215" y="765302"/>
                    <a:pt x="765302" y="704215"/>
                    <a:pt x="765302" y="628777"/>
                  </a:cubicBezTo>
                  <a:lnTo>
                    <a:pt x="765302" y="149225"/>
                  </a:lnTo>
                  <a:cubicBezTo>
                    <a:pt x="765429" y="73787"/>
                    <a:pt x="704215" y="12700"/>
                    <a:pt x="628777" y="12700"/>
                  </a:cubicBezTo>
                  <a:lnTo>
                    <a:pt x="149225" y="12700"/>
                  </a:lnTo>
                  <a:lnTo>
                    <a:pt x="149225" y="6350"/>
                  </a:lnTo>
                  <a:lnTo>
                    <a:pt x="149225" y="12700"/>
                  </a:lnTo>
                  <a:cubicBezTo>
                    <a:pt x="73787" y="12700"/>
                    <a:pt x="12700" y="73787"/>
                    <a:pt x="12700" y="149225"/>
                  </a:cubicBezTo>
                  <a:close/>
                </a:path>
              </a:pathLst>
            </a:custGeom>
            <a:solidFill>
              <a:srgbClr val="E5B2B2"/>
            </a:solidFill>
          </p:spPr>
        </p:sp>
      </p:grpSp>
      <p:sp>
        <p:nvSpPr>
          <p:cNvPr id="12" name="TextBox 12"/>
          <p:cNvSpPr txBox="1"/>
          <p:nvPr/>
        </p:nvSpPr>
        <p:spPr>
          <a:xfrm>
            <a:off x="8952605" y="3151137"/>
            <a:ext cx="382638" cy="421186"/>
          </a:xfrm>
          <a:prstGeom prst="rect">
            <a:avLst/>
          </a:prstGeom>
        </p:spPr>
        <p:txBody>
          <a:bodyPr lIns="0" tIns="0" rIns="0" bIns="0" rtlCol="0" anchor="t">
            <a:spAutoFit/>
          </a:bodyPr>
          <a:lstStyle/>
          <a:p>
            <a:pPr algn="ctr">
              <a:lnSpc>
                <a:spcPts val="3000"/>
              </a:lnSpc>
            </a:pPr>
            <a:r>
              <a:rPr lang="en-US" sz="3000" b="1">
                <a:solidFill>
                  <a:srgbClr val="000099"/>
                </a:solidFill>
                <a:latin typeface="Open Sans 1 Bold"/>
                <a:ea typeface="Open Sans 1 Bold"/>
                <a:cs typeface="Open Sans 1 Bold"/>
                <a:sym typeface="Open Sans 1 Bold"/>
              </a:rPr>
              <a:t>1</a:t>
            </a:r>
          </a:p>
        </p:txBody>
      </p:sp>
      <p:sp>
        <p:nvSpPr>
          <p:cNvPr id="13" name="TextBox 13"/>
          <p:cNvSpPr txBox="1"/>
          <p:nvPr/>
        </p:nvSpPr>
        <p:spPr>
          <a:xfrm>
            <a:off x="4678413" y="3114827"/>
            <a:ext cx="3189684" cy="417614"/>
          </a:xfrm>
          <a:prstGeom prst="rect">
            <a:avLst/>
          </a:prstGeom>
        </p:spPr>
        <p:txBody>
          <a:bodyPr lIns="0" tIns="0" rIns="0" bIns="0" rtlCol="0" anchor="t">
            <a:spAutoFit/>
          </a:bodyPr>
          <a:lstStyle/>
          <a:p>
            <a:pPr algn="r">
              <a:lnSpc>
                <a:spcPts val="3124"/>
              </a:lnSpc>
            </a:pPr>
            <a:r>
              <a:rPr lang="en-US" sz="2499" b="1">
                <a:solidFill>
                  <a:srgbClr val="000099"/>
                </a:solidFill>
                <a:latin typeface="Open Sans 1 Bold"/>
                <a:ea typeface="Open Sans 1 Bold"/>
                <a:cs typeface="Open Sans 1 Bold"/>
                <a:sym typeface="Open Sans 1 Bold"/>
              </a:rPr>
              <a:t>Vận hành &amp; Bảo trì</a:t>
            </a:r>
          </a:p>
        </p:txBody>
      </p:sp>
      <p:sp>
        <p:nvSpPr>
          <p:cNvPr id="14" name="TextBox 14"/>
          <p:cNvSpPr txBox="1"/>
          <p:nvPr/>
        </p:nvSpPr>
        <p:spPr>
          <a:xfrm>
            <a:off x="992238" y="3609232"/>
            <a:ext cx="6875859" cy="1301353"/>
          </a:xfrm>
          <a:prstGeom prst="rect">
            <a:avLst/>
          </a:prstGeom>
        </p:spPr>
        <p:txBody>
          <a:bodyPr lIns="0" tIns="0" rIns="0" bIns="0" rtlCol="0" anchor="t">
            <a:spAutoFit/>
          </a:bodyPr>
          <a:lstStyle/>
          <a:p>
            <a:pPr algn="r">
              <a:lnSpc>
                <a:spcPts val="3187"/>
              </a:lnSpc>
            </a:pPr>
            <a:r>
              <a:rPr lang="en-US" sz="2000">
                <a:solidFill>
                  <a:srgbClr val="000099"/>
                </a:solidFill>
                <a:latin typeface="Open Sans 1"/>
                <a:ea typeface="Open Sans 1"/>
                <a:cs typeface="Open Sans 1"/>
                <a:sym typeface="Open Sans 1"/>
              </a:rPr>
              <a:t>Hoàn thành ký duyệt </a:t>
            </a:r>
            <a:r>
              <a:rPr lang="en-US" sz="2000" b="1">
                <a:solidFill>
                  <a:srgbClr val="000099"/>
                </a:solidFill>
                <a:latin typeface="Open Sans 1 Bold"/>
                <a:ea typeface="Open Sans 1 Bold"/>
                <a:cs typeface="Open Sans 1 Bold"/>
                <a:sym typeface="Open Sans 1 Bold"/>
              </a:rPr>
              <a:t>Hợp đồng bảo trì 06 tháng Database + DRSite</a:t>
            </a:r>
            <a:r>
              <a:rPr lang="en-US" sz="2000">
                <a:solidFill>
                  <a:srgbClr val="000099"/>
                </a:solidFill>
                <a:latin typeface="Open Sans 1"/>
                <a:ea typeface="Open Sans 1"/>
                <a:cs typeface="Open Sans 1"/>
                <a:sym typeface="Open Sans 1"/>
              </a:rPr>
              <a:t>, đảm bảo tính liên tục và an toàn dữ liệu cho hệ thống ERP cốt lõi.</a:t>
            </a:r>
          </a:p>
        </p:txBody>
      </p:sp>
      <p:grpSp>
        <p:nvGrpSpPr>
          <p:cNvPr id="15" name="Group 15"/>
          <p:cNvGrpSpPr/>
          <p:nvPr/>
        </p:nvGrpSpPr>
        <p:grpSpPr>
          <a:xfrm>
            <a:off x="9402442" y="4849863"/>
            <a:ext cx="765419" cy="28575"/>
            <a:chOff x="0" y="0"/>
            <a:chExt cx="1020559" cy="38100"/>
          </a:xfrm>
        </p:grpSpPr>
        <p:sp>
          <p:nvSpPr>
            <p:cNvPr id="16" name="Freeform 16"/>
            <p:cNvSpPr/>
            <p:nvPr/>
          </p:nvSpPr>
          <p:spPr>
            <a:xfrm>
              <a:off x="0" y="0"/>
              <a:ext cx="1020572" cy="38100"/>
            </a:xfrm>
            <a:custGeom>
              <a:avLst/>
              <a:gdLst/>
              <a:ahLst/>
              <a:cxnLst/>
              <a:rect l="l" t="t" r="r" b="b"/>
              <a:pathLst>
                <a:path w="1020572" h="38100">
                  <a:moveTo>
                    <a:pt x="0" y="19050"/>
                  </a:moveTo>
                  <a:cubicBezTo>
                    <a:pt x="0" y="8509"/>
                    <a:pt x="8509" y="0"/>
                    <a:pt x="19050" y="0"/>
                  </a:cubicBezTo>
                  <a:lnTo>
                    <a:pt x="1001522" y="0"/>
                  </a:lnTo>
                  <a:cubicBezTo>
                    <a:pt x="1012063" y="0"/>
                    <a:pt x="1020572" y="8509"/>
                    <a:pt x="1020572" y="19050"/>
                  </a:cubicBezTo>
                  <a:cubicBezTo>
                    <a:pt x="1020572" y="29591"/>
                    <a:pt x="1012063" y="38100"/>
                    <a:pt x="1001522" y="38100"/>
                  </a:cubicBezTo>
                  <a:lnTo>
                    <a:pt x="19050" y="38100"/>
                  </a:lnTo>
                  <a:cubicBezTo>
                    <a:pt x="8509" y="38100"/>
                    <a:pt x="0" y="29591"/>
                    <a:pt x="0" y="19050"/>
                  </a:cubicBezTo>
                  <a:close/>
                </a:path>
              </a:pathLst>
            </a:custGeom>
            <a:solidFill>
              <a:srgbClr val="E5B2B2"/>
            </a:solidFill>
          </p:spPr>
        </p:sp>
      </p:grpSp>
      <p:grpSp>
        <p:nvGrpSpPr>
          <p:cNvPr id="17" name="Group 17"/>
          <p:cNvGrpSpPr/>
          <p:nvPr/>
        </p:nvGrpSpPr>
        <p:grpSpPr>
          <a:xfrm>
            <a:off x="8852221" y="4572448"/>
            <a:ext cx="583559" cy="583559"/>
            <a:chOff x="0" y="0"/>
            <a:chExt cx="778078" cy="778078"/>
          </a:xfrm>
        </p:grpSpPr>
        <p:sp>
          <p:nvSpPr>
            <p:cNvPr id="18" name="Freeform 18"/>
            <p:cNvSpPr/>
            <p:nvPr/>
          </p:nvSpPr>
          <p:spPr>
            <a:xfrm>
              <a:off x="6350" y="6350"/>
              <a:ext cx="765302" cy="765302"/>
            </a:xfrm>
            <a:custGeom>
              <a:avLst/>
              <a:gdLst/>
              <a:ahLst/>
              <a:cxnLst/>
              <a:rect l="l" t="t" r="r" b="b"/>
              <a:pathLst>
                <a:path w="765302" h="765302">
                  <a:moveTo>
                    <a:pt x="0" y="142875"/>
                  </a:moveTo>
                  <a:cubicBezTo>
                    <a:pt x="0" y="64008"/>
                    <a:pt x="64008" y="0"/>
                    <a:pt x="142875" y="0"/>
                  </a:cubicBezTo>
                  <a:lnTo>
                    <a:pt x="622427" y="0"/>
                  </a:lnTo>
                  <a:cubicBezTo>
                    <a:pt x="701294" y="0"/>
                    <a:pt x="765302" y="64008"/>
                    <a:pt x="765302" y="142875"/>
                  </a:cubicBezTo>
                  <a:lnTo>
                    <a:pt x="765302" y="622427"/>
                  </a:lnTo>
                  <a:cubicBezTo>
                    <a:pt x="765302" y="701294"/>
                    <a:pt x="701294" y="765302"/>
                    <a:pt x="622427" y="765302"/>
                  </a:cubicBezTo>
                  <a:lnTo>
                    <a:pt x="142875" y="765302"/>
                  </a:lnTo>
                  <a:cubicBezTo>
                    <a:pt x="64008" y="765429"/>
                    <a:pt x="0" y="701421"/>
                    <a:pt x="0" y="622427"/>
                  </a:cubicBezTo>
                  <a:close/>
                </a:path>
              </a:pathLst>
            </a:custGeom>
            <a:solidFill>
              <a:srgbClr val="FFCCCC"/>
            </a:solidFill>
          </p:spPr>
        </p:sp>
        <p:sp>
          <p:nvSpPr>
            <p:cNvPr id="19" name="Freeform 19"/>
            <p:cNvSpPr/>
            <p:nvPr/>
          </p:nvSpPr>
          <p:spPr>
            <a:xfrm>
              <a:off x="0" y="0"/>
              <a:ext cx="778129" cy="778129"/>
            </a:xfrm>
            <a:custGeom>
              <a:avLst/>
              <a:gdLst/>
              <a:ahLst/>
              <a:cxnLst/>
              <a:rect l="l" t="t" r="r" b="b"/>
              <a:pathLst>
                <a:path w="778129" h="778129">
                  <a:moveTo>
                    <a:pt x="0" y="149225"/>
                  </a:moveTo>
                  <a:cubicBezTo>
                    <a:pt x="0" y="66802"/>
                    <a:pt x="66802" y="0"/>
                    <a:pt x="149225" y="0"/>
                  </a:cubicBezTo>
                  <a:lnTo>
                    <a:pt x="628777" y="0"/>
                  </a:lnTo>
                  <a:lnTo>
                    <a:pt x="628777" y="6350"/>
                  </a:lnTo>
                  <a:lnTo>
                    <a:pt x="628777" y="0"/>
                  </a:lnTo>
                  <a:cubicBezTo>
                    <a:pt x="711200" y="0"/>
                    <a:pt x="778129" y="66802"/>
                    <a:pt x="778129" y="149225"/>
                  </a:cubicBezTo>
                  <a:lnTo>
                    <a:pt x="771779" y="149225"/>
                  </a:lnTo>
                  <a:lnTo>
                    <a:pt x="778129" y="149225"/>
                  </a:lnTo>
                  <a:lnTo>
                    <a:pt x="778129" y="628777"/>
                  </a:lnTo>
                  <a:lnTo>
                    <a:pt x="771779" y="628777"/>
                  </a:lnTo>
                  <a:lnTo>
                    <a:pt x="778129" y="628777"/>
                  </a:lnTo>
                  <a:cubicBezTo>
                    <a:pt x="778129" y="711200"/>
                    <a:pt x="711200" y="778129"/>
                    <a:pt x="628777" y="778129"/>
                  </a:cubicBezTo>
                  <a:lnTo>
                    <a:pt x="628777" y="771779"/>
                  </a:lnTo>
                  <a:lnTo>
                    <a:pt x="628777" y="778129"/>
                  </a:lnTo>
                  <a:lnTo>
                    <a:pt x="149225" y="778129"/>
                  </a:lnTo>
                  <a:lnTo>
                    <a:pt x="149225" y="771779"/>
                  </a:lnTo>
                  <a:lnTo>
                    <a:pt x="149225" y="778129"/>
                  </a:lnTo>
                  <a:cubicBezTo>
                    <a:pt x="66802" y="778129"/>
                    <a:pt x="0" y="711200"/>
                    <a:pt x="0" y="628777"/>
                  </a:cubicBezTo>
                  <a:lnTo>
                    <a:pt x="0" y="149225"/>
                  </a:lnTo>
                  <a:lnTo>
                    <a:pt x="6350" y="149225"/>
                  </a:lnTo>
                  <a:lnTo>
                    <a:pt x="0" y="149225"/>
                  </a:lnTo>
                  <a:moveTo>
                    <a:pt x="12700" y="149225"/>
                  </a:moveTo>
                  <a:lnTo>
                    <a:pt x="12700" y="628777"/>
                  </a:lnTo>
                  <a:lnTo>
                    <a:pt x="6350" y="628777"/>
                  </a:lnTo>
                  <a:lnTo>
                    <a:pt x="12700" y="628777"/>
                  </a:lnTo>
                  <a:cubicBezTo>
                    <a:pt x="12700" y="704215"/>
                    <a:pt x="73787" y="765302"/>
                    <a:pt x="149225" y="765302"/>
                  </a:cubicBezTo>
                  <a:lnTo>
                    <a:pt x="628777" y="765302"/>
                  </a:lnTo>
                  <a:cubicBezTo>
                    <a:pt x="704215" y="765302"/>
                    <a:pt x="765302" y="704215"/>
                    <a:pt x="765302" y="628777"/>
                  </a:cubicBezTo>
                  <a:lnTo>
                    <a:pt x="765302" y="149225"/>
                  </a:lnTo>
                  <a:cubicBezTo>
                    <a:pt x="765429" y="73787"/>
                    <a:pt x="704215" y="12700"/>
                    <a:pt x="628777" y="12700"/>
                  </a:cubicBezTo>
                  <a:lnTo>
                    <a:pt x="149225" y="12700"/>
                  </a:lnTo>
                  <a:lnTo>
                    <a:pt x="149225" y="6350"/>
                  </a:lnTo>
                  <a:lnTo>
                    <a:pt x="149225" y="12700"/>
                  </a:lnTo>
                  <a:cubicBezTo>
                    <a:pt x="73787" y="12700"/>
                    <a:pt x="12700" y="73787"/>
                    <a:pt x="12700" y="149225"/>
                  </a:cubicBezTo>
                  <a:close/>
                </a:path>
              </a:pathLst>
            </a:custGeom>
            <a:solidFill>
              <a:srgbClr val="E5B2B2"/>
            </a:solidFill>
          </p:spPr>
        </p:sp>
      </p:grpSp>
      <p:sp>
        <p:nvSpPr>
          <p:cNvPr id="20" name="TextBox 20"/>
          <p:cNvSpPr txBox="1"/>
          <p:nvPr/>
        </p:nvSpPr>
        <p:spPr>
          <a:xfrm>
            <a:off x="8952605" y="4682128"/>
            <a:ext cx="382638" cy="421186"/>
          </a:xfrm>
          <a:prstGeom prst="rect">
            <a:avLst/>
          </a:prstGeom>
        </p:spPr>
        <p:txBody>
          <a:bodyPr lIns="0" tIns="0" rIns="0" bIns="0" rtlCol="0" anchor="t">
            <a:spAutoFit/>
          </a:bodyPr>
          <a:lstStyle/>
          <a:p>
            <a:pPr algn="ctr">
              <a:lnSpc>
                <a:spcPts val="3000"/>
              </a:lnSpc>
            </a:pPr>
            <a:r>
              <a:rPr lang="en-US" sz="3000" b="1">
                <a:solidFill>
                  <a:srgbClr val="000099"/>
                </a:solidFill>
                <a:latin typeface="Open Sans 1 Bold"/>
                <a:ea typeface="Open Sans 1 Bold"/>
                <a:cs typeface="Open Sans 1 Bold"/>
                <a:sym typeface="Open Sans 1 Bold"/>
              </a:rPr>
              <a:t>2</a:t>
            </a:r>
          </a:p>
        </p:txBody>
      </p:sp>
      <p:sp>
        <p:nvSpPr>
          <p:cNvPr id="21" name="TextBox 21"/>
          <p:cNvSpPr txBox="1"/>
          <p:nvPr/>
        </p:nvSpPr>
        <p:spPr>
          <a:xfrm>
            <a:off x="10419902" y="4645819"/>
            <a:ext cx="3826373" cy="417614"/>
          </a:xfrm>
          <a:prstGeom prst="rect">
            <a:avLst/>
          </a:prstGeom>
        </p:spPr>
        <p:txBody>
          <a:bodyPr lIns="0" tIns="0" rIns="0" bIns="0" rtlCol="0" anchor="t">
            <a:spAutoFit/>
          </a:bodyPr>
          <a:lstStyle/>
          <a:p>
            <a:pPr algn="l">
              <a:lnSpc>
                <a:spcPts val="3124"/>
              </a:lnSpc>
            </a:pPr>
            <a:r>
              <a:rPr lang="en-US" sz="2499" b="1">
                <a:solidFill>
                  <a:srgbClr val="000099"/>
                </a:solidFill>
                <a:latin typeface="Open Sans 1 Bold"/>
                <a:ea typeface="Open Sans 1 Bold"/>
                <a:cs typeface="Open Sans 1 Bold"/>
                <a:sym typeface="Open Sans 1 Bold"/>
              </a:rPr>
              <a:t>Hóa đơn Điện tử (HĐĐT)</a:t>
            </a:r>
          </a:p>
        </p:txBody>
      </p:sp>
      <p:sp>
        <p:nvSpPr>
          <p:cNvPr id="22" name="TextBox 22"/>
          <p:cNvSpPr txBox="1"/>
          <p:nvPr/>
        </p:nvSpPr>
        <p:spPr>
          <a:xfrm>
            <a:off x="10419902" y="5140223"/>
            <a:ext cx="6875859" cy="1301353"/>
          </a:xfrm>
          <a:prstGeom prst="rect">
            <a:avLst/>
          </a:prstGeom>
        </p:spPr>
        <p:txBody>
          <a:bodyPr lIns="0" tIns="0" rIns="0" bIns="0" rtlCol="0" anchor="t">
            <a:spAutoFit/>
          </a:bodyPr>
          <a:lstStyle/>
          <a:p>
            <a:pPr algn="l">
              <a:lnSpc>
                <a:spcPts val="3187"/>
              </a:lnSpc>
            </a:pPr>
            <a:r>
              <a:rPr lang="en-US" sz="2000">
                <a:solidFill>
                  <a:srgbClr val="000099"/>
                </a:solidFill>
                <a:latin typeface="Open Sans 1"/>
                <a:ea typeface="Open Sans 1"/>
                <a:cs typeface="Open Sans 1"/>
                <a:sym typeface="Open Sans 1"/>
              </a:rPr>
              <a:t>Theo dõi ổn định sau Golive HĐĐT cải tiến ND70. Đã </a:t>
            </a:r>
            <a:r>
              <a:rPr lang="en-US" sz="2000">
                <a:solidFill>
                  <a:srgbClr val="FF0101"/>
                </a:solidFill>
                <a:latin typeface="Open Sans 1"/>
                <a:ea typeface="Open Sans 1"/>
                <a:cs typeface="Open Sans 1"/>
                <a:sym typeface="Open Sans 1"/>
              </a:rPr>
              <a:t>Hoàn thành và ký duyệt các biên bản nghiệm thu</a:t>
            </a:r>
            <a:r>
              <a:rPr lang="en-US" sz="2000">
                <a:solidFill>
                  <a:srgbClr val="000099"/>
                </a:solidFill>
                <a:latin typeface="Open Sans 1"/>
                <a:ea typeface="Open Sans 1"/>
                <a:cs typeface="Open Sans 1"/>
                <a:sym typeface="Open Sans 1"/>
              </a:rPr>
              <a:t> liên quan đến dự án này.</a:t>
            </a:r>
          </a:p>
        </p:txBody>
      </p:sp>
      <p:grpSp>
        <p:nvGrpSpPr>
          <p:cNvPr id="23" name="Group 23"/>
          <p:cNvGrpSpPr/>
          <p:nvPr/>
        </p:nvGrpSpPr>
        <p:grpSpPr>
          <a:xfrm>
            <a:off x="8120139" y="6169523"/>
            <a:ext cx="765419" cy="28575"/>
            <a:chOff x="0" y="0"/>
            <a:chExt cx="1020559" cy="38100"/>
          </a:xfrm>
        </p:grpSpPr>
        <p:sp>
          <p:nvSpPr>
            <p:cNvPr id="24" name="Freeform 24"/>
            <p:cNvSpPr/>
            <p:nvPr/>
          </p:nvSpPr>
          <p:spPr>
            <a:xfrm>
              <a:off x="0" y="0"/>
              <a:ext cx="1020572" cy="38100"/>
            </a:xfrm>
            <a:custGeom>
              <a:avLst/>
              <a:gdLst/>
              <a:ahLst/>
              <a:cxnLst/>
              <a:rect l="l" t="t" r="r" b="b"/>
              <a:pathLst>
                <a:path w="1020572" h="38100">
                  <a:moveTo>
                    <a:pt x="0" y="19050"/>
                  </a:moveTo>
                  <a:cubicBezTo>
                    <a:pt x="0" y="8509"/>
                    <a:pt x="8509" y="0"/>
                    <a:pt x="19050" y="0"/>
                  </a:cubicBezTo>
                  <a:lnTo>
                    <a:pt x="1001522" y="0"/>
                  </a:lnTo>
                  <a:cubicBezTo>
                    <a:pt x="1012063" y="0"/>
                    <a:pt x="1020572" y="8509"/>
                    <a:pt x="1020572" y="19050"/>
                  </a:cubicBezTo>
                  <a:cubicBezTo>
                    <a:pt x="1020572" y="29591"/>
                    <a:pt x="1012063" y="38100"/>
                    <a:pt x="1001522" y="38100"/>
                  </a:cubicBezTo>
                  <a:lnTo>
                    <a:pt x="19050" y="38100"/>
                  </a:lnTo>
                  <a:cubicBezTo>
                    <a:pt x="8509" y="38100"/>
                    <a:pt x="0" y="29591"/>
                    <a:pt x="0" y="19050"/>
                  </a:cubicBezTo>
                  <a:close/>
                </a:path>
              </a:pathLst>
            </a:custGeom>
            <a:solidFill>
              <a:srgbClr val="E5B2B2"/>
            </a:solidFill>
          </p:spPr>
        </p:sp>
      </p:grpSp>
      <p:grpSp>
        <p:nvGrpSpPr>
          <p:cNvPr id="25" name="Group 25"/>
          <p:cNvGrpSpPr/>
          <p:nvPr/>
        </p:nvGrpSpPr>
        <p:grpSpPr>
          <a:xfrm>
            <a:off x="8852221" y="5892108"/>
            <a:ext cx="583559" cy="583559"/>
            <a:chOff x="0" y="0"/>
            <a:chExt cx="778078" cy="778078"/>
          </a:xfrm>
        </p:grpSpPr>
        <p:sp>
          <p:nvSpPr>
            <p:cNvPr id="26" name="Freeform 26"/>
            <p:cNvSpPr/>
            <p:nvPr/>
          </p:nvSpPr>
          <p:spPr>
            <a:xfrm>
              <a:off x="6350" y="6350"/>
              <a:ext cx="765302" cy="765302"/>
            </a:xfrm>
            <a:custGeom>
              <a:avLst/>
              <a:gdLst/>
              <a:ahLst/>
              <a:cxnLst/>
              <a:rect l="l" t="t" r="r" b="b"/>
              <a:pathLst>
                <a:path w="765302" h="765302">
                  <a:moveTo>
                    <a:pt x="0" y="142875"/>
                  </a:moveTo>
                  <a:cubicBezTo>
                    <a:pt x="0" y="64008"/>
                    <a:pt x="64008" y="0"/>
                    <a:pt x="142875" y="0"/>
                  </a:cubicBezTo>
                  <a:lnTo>
                    <a:pt x="622427" y="0"/>
                  </a:lnTo>
                  <a:cubicBezTo>
                    <a:pt x="701294" y="0"/>
                    <a:pt x="765302" y="64008"/>
                    <a:pt x="765302" y="142875"/>
                  </a:cubicBezTo>
                  <a:lnTo>
                    <a:pt x="765302" y="622427"/>
                  </a:lnTo>
                  <a:cubicBezTo>
                    <a:pt x="765302" y="701294"/>
                    <a:pt x="701294" y="765302"/>
                    <a:pt x="622427" y="765302"/>
                  </a:cubicBezTo>
                  <a:lnTo>
                    <a:pt x="142875" y="765302"/>
                  </a:lnTo>
                  <a:cubicBezTo>
                    <a:pt x="64008" y="765429"/>
                    <a:pt x="0" y="701421"/>
                    <a:pt x="0" y="622427"/>
                  </a:cubicBezTo>
                  <a:close/>
                </a:path>
              </a:pathLst>
            </a:custGeom>
            <a:solidFill>
              <a:srgbClr val="FFCCCC"/>
            </a:solidFill>
          </p:spPr>
        </p:sp>
        <p:sp>
          <p:nvSpPr>
            <p:cNvPr id="27" name="Freeform 27"/>
            <p:cNvSpPr/>
            <p:nvPr/>
          </p:nvSpPr>
          <p:spPr>
            <a:xfrm>
              <a:off x="0" y="0"/>
              <a:ext cx="778129" cy="778129"/>
            </a:xfrm>
            <a:custGeom>
              <a:avLst/>
              <a:gdLst/>
              <a:ahLst/>
              <a:cxnLst/>
              <a:rect l="l" t="t" r="r" b="b"/>
              <a:pathLst>
                <a:path w="778129" h="778129">
                  <a:moveTo>
                    <a:pt x="0" y="149225"/>
                  </a:moveTo>
                  <a:cubicBezTo>
                    <a:pt x="0" y="66802"/>
                    <a:pt x="66802" y="0"/>
                    <a:pt x="149225" y="0"/>
                  </a:cubicBezTo>
                  <a:lnTo>
                    <a:pt x="628777" y="0"/>
                  </a:lnTo>
                  <a:lnTo>
                    <a:pt x="628777" y="6350"/>
                  </a:lnTo>
                  <a:lnTo>
                    <a:pt x="628777" y="0"/>
                  </a:lnTo>
                  <a:cubicBezTo>
                    <a:pt x="711200" y="0"/>
                    <a:pt x="778129" y="66802"/>
                    <a:pt x="778129" y="149225"/>
                  </a:cubicBezTo>
                  <a:lnTo>
                    <a:pt x="771779" y="149225"/>
                  </a:lnTo>
                  <a:lnTo>
                    <a:pt x="778129" y="149225"/>
                  </a:lnTo>
                  <a:lnTo>
                    <a:pt x="778129" y="628777"/>
                  </a:lnTo>
                  <a:lnTo>
                    <a:pt x="771779" y="628777"/>
                  </a:lnTo>
                  <a:lnTo>
                    <a:pt x="778129" y="628777"/>
                  </a:lnTo>
                  <a:cubicBezTo>
                    <a:pt x="778129" y="711200"/>
                    <a:pt x="711200" y="778129"/>
                    <a:pt x="628777" y="778129"/>
                  </a:cubicBezTo>
                  <a:lnTo>
                    <a:pt x="628777" y="771779"/>
                  </a:lnTo>
                  <a:lnTo>
                    <a:pt x="628777" y="778129"/>
                  </a:lnTo>
                  <a:lnTo>
                    <a:pt x="149225" y="778129"/>
                  </a:lnTo>
                  <a:lnTo>
                    <a:pt x="149225" y="771779"/>
                  </a:lnTo>
                  <a:lnTo>
                    <a:pt x="149225" y="778129"/>
                  </a:lnTo>
                  <a:cubicBezTo>
                    <a:pt x="66802" y="778129"/>
                    <a:pt x="0" y="711200"/>
                    <a:pt x="0" y="628777"/>
                  </a:cubicBezTo>
                  <a:lnTo>
                    <a:pt x="0" y="149225"/>
                  </a:lnTo>
                  <a:lnTo>
                    <a:pt x="6350" y="149225"/>
                  </a:lnTo>
                  <a:lnTo>
                    <a:pt x="0" y="149225"/>
                  </a:lnTo>
                  <a:moveTo>
                    <a:pt x="12700" y="149225"/>
                  </a:moveTo>
                  <a:lnTo>
                    <a:pt x="12700" y="628777"/>
                  </a:lnTo>
                  <a:lnTo>
                    <a:pt x="6350" y="628777"/>
                  </a:lnTo>
                  <a:lnTo>
                    <a:pt x="12700" y="628777"/>
                  </a:lnTo>
                  <a:cubicBezTo>
                    <a:pt x="12700" y="704215"/>
                    <a:pt x="73787" y="765302"/>
                    <a:pt x="149225" y="765302"/>
                  </a:cubicBezTo>
                  <a:lnTo>
                    <a:pt x="628777" y="765302"/>
                  </a:lnTo>
                  <a:cubicBezTo>
                    <a:pt x="704215" y="765302"/>
                    <a:pt x="765302" y="704215"/>
                    <a:pt x="765302" y="628777"/>
                  </a:cubicBezTo>
                  <a:lnTo>
                    <a:pt x="765302" y="149225"/>
                  </a:lnTo>
                  <a:cubicBezTo>
                    <a:pt x="765429" y="73787"/>
                    <a:pt x="704215" y="12700"/>
                    <a:pt x="628777" y="12700"/>
                  </a:cubicBezTo>
                  <a:lnTo>
                    <a:pt x="149225" y="12700"/>
                  </a:lnTo>
                  <a:lnTo>
                    <a:pt x="149225" y="6350"/>
                  </a:lnTo>
                  <a:lnTo>
                    <a:pt x="149225" y="12700"/>
                  </a:lnTo>
                  <a:cubicBezTo>
                    <a:pt x="73787" y="12700"/>
                    <a:pt x="12700" y="73787"/>
                    <a:pt x="12700" y="149225"/>
                  </a:cubicBezTo>
                  <a:close/>
                </a:path>
              </a:pathLst>
            </a:custGeom>
            <a:solidFill>
              <a:srgbClr val="E5B2B2"/>
            </a:solidFill>
          </p:spPr>
        </p:sp>
      </p:grpSp>
      <p:sp>
        <p:nvSpPr>
          <p:cNvPr id="28" name="TextBox 28"/>
          <p:cNvSpPr txBox="1"/>
          <p:nvPr/>
        </p:nvSpPr>
        <p:spPr>
          <a:xfrm>
            <a:off x="8952605" y="6001788"/>
            <a:ext cx="382638" cy="421186"/>
          </a:xfrm>
          <a:prstGeom prst="rect">
            <a:avLst/>
          </a:prstGeom>
        </p:spPr>
        <p:txBody>
          <a:bodyPr lIns="0" tIns="0" rIns="0" bIns="0" rtlCol="0" anchor="t">
            <a:spAutoFit/>
          </a:bodyPr>
          <a:lstStyle/>
          <a:p>
            <a:pPr algn="ctr">
              <a:lnSpc>
                <a:spcPts val="3000"/>
              </a:lnSpc>
            </a:pPr>
            <a:r>
              <a:rPr lang="en-US" sz="3000" b="1">
                <a:solidFill>
                  <a:srgbClr val="000099"/>
                </a:solidFill>
                <a:latin typeface="Open Sans 1 Bold"/>
                <a:ea typeface="Open Sans 1 Bold"/>
                <a:cs typeface="Open Sans 1 Bold"/>
                <a:sym typeface="Open Sans 1 Bold"/>
              </a:rPr>
              <a:t>3</a:t>
            </a:r>
          </a:p>
        </p:txBody>
      </p:sp>
      <p:sp>
        <p:nvSpPr>
          <p:cNvPr id="29" name="TextBox 29"/>
          <p:cNvSpPr txBox="1"/>
          <p:nvPr/>
        </p:nvSpPr>
        <p:spPr>
          <a:xfrm>
            <a:off x="4678413" y="5965479"/>
            <a:ext cx="3189684" cy="417614"/>
          </a:xfrm>
          <a:prstGeom prst="rect">
            <a:avLst/>
          </a:prstGeom>
        </p:spPr>
        <p:txBody>
          <a:bodyPr lIns="0" tIns="0" rIns="0" bIns="0" rtlCol="0" anchor="t">
            <a:spAutoFit/>
          </a:bodyPr>
          <a:lstStyle/>
          <a:p>
            <a:pPr algn="r">
              <a:lnSpc>
                <a:spcPts val="3124"/>
              </a:lnSpc>
            </a:pPr>
            <a:r>
              <a:rPr lang="en-US" sz="2499" b="1">
                <a:solidFill>
                  <a:srgbClr val="000099"/>
                </a:solidFill>
                <a:latin typeface="Open Sans 1 Bold"/>
                <a:ea typeface="Open Sans 1 Bold"/>
                <a:cs typeface="Open Sans 1 Bold"/>
                <a:sym typeface="Open Sans 1 Bold"/>
              </a:rPr>
              <a:t>Nâng cấp ERP</a:t>
            </a:r>
          </a:p>
        </p:txBody>
      </p:sp>
      <p:sp>
        <p:nvSpPr>
          <p:cNvPr id="30" name="TextBox 30"/>
          <p:cNvSpPr txBox="1"/>
          <p:nvPr/>
        </p:nvSpPr>
        <p:spPr>
          <a:xfrm>
            <a:off x="992238" y="6459884"/>
            <a:ext cx="6875859" cy="1301353"/>
          </a:xfrm>
          <a:prstGeom prst="rect">
            <a:avLst/>
          </a:prstGeom>
        </p:spPr>
        <p:txBody>
          <a:bodyPr lIns="0" tIns="0" rIns="0" bIns="0" rtlCol="0" anchor="t">
            <a:spAutoFit/>
          </a:bodyPr>
          <a:lstStyle/>
          <a:p>
            <a:pPr algn="r">
              <a:lnSpc>
                <a:spcPts val="3187"/>
              </a:lnSpc>
            </a:pPr>
            <a:r>
              <a:rPr lang="en-US" sz="2000">
                <a:solidFill>
                  <a:srgbClr val="000099"/>
                </a:solidFill>
                <a:latin typeface="Open Sans 1"/>
                <a:ea typeface="Open Sans 1"/>
                <a:cs typeface="Open Sans 1"/>
                <a:sym typeface="Open Sans 1"/>
              </a:rPr>
              <a:t>Hợp đồng dự án Nâng cấp ERP đã được phê duyệt. Đang thực hiện theo kế hoạch và đã hoàn thành các Biên bản Khảo sát (BBKS) sơ lược ban đầu.</a:t>
            </a:r>
          </a:p>
        </p:txBody>
      </p:sp>
      <p:grpSp>
        <p:nvGrpSpPr>
          <p:cNvPr id="31" name="Group 31"/>
          <p:cNvGrpSpPr/>
          <p:nvPr/>
        </p:nvGrpSpPr>
        <p:grpSpPr>
          <a:xfrm>
            <a:off x="9402442" y="7489184"/>
            <a:ext cx="765419" cy="28575"/>
            <a:chOff x="0" y="0"/>
            <a:chExt cx="1020559" cy="38100"/>
          </a:xfrm>
        </p:grpSpPr>
        <p:sp>
          <p:nvSpPr>
            <p:cNvPr id="32" name="Freeform 32"/>
            <p:cNvSpPr/>
            <p:nvPr/>
          </p:nvSpPr>
          <p:spPr>
            <a:xfrm>
              <a:off x="0" y="0"/>
              <a:ext cx="1020572" cy="38100"/>
            </a:xfrm>
            <a:custGeom>
              <a:avLst/>
              <a:gdLst/>
              <a:ahLst/>
              <a:cxnLst/>
              <a:rect l="l" t="t" r="r" b="b"/>
              <a:pathLst>
                <a:path w="1020572" h="38100">
                  <a:moveTo>
                    <a:pt x="0" y="19050"/>
                  </a:moveTo>
                  <a:cubicBezTo>
                    <a:pt x="0" y="8509"/>
                    <a:pt x="8509" y="0"/>
                    <a:pt x="19050" y="0"/>
                  </a:cubicBezTo>
                  <a:lnTo>
                    <a:pt x="1001522" y="0"/>
                  </a:lnTo>
                  <a:cubicBezTo>
                    <a:pt x="1012063" y="0"/>
                    <a:pt x="1020572" y="8509"/>
                    <a:pt x="1020572" y="19050"/>
                  </a:cubicBezTo>
                  <a:cubicBezTo>
                    <a:pt x="1020572" y="29591"/>
                    <a:pt x="1012063" y="38100"/>
                    <a:pt x="1001522" y="38100"/>
                  </a:cubicBezTo>
                  <a:lnTo>
                    <a:pt x="19050" y="38100"/>
                  </a:lnTo>
                  <a:cubicBezTo>
                    <a:pt x="8509" y="38100"/>
                    <a:pt x="0" y="29591"/>
                    <a:pt x="0" y="19050"/>
                  </a:cubicBezTo>
                  <a:close/>
                </a:path>
              </a:pathLst>
            </a:custGeom>
            <a:solidFill>
              <a:srgbClr val="E5B2B2"/>
            </a:solidFill>
          </p:spPr>
        </p:sp>
      </p:grpSp>
      <p:grpSp>
        <p:nvGrpSpPr>
          <p:cNvPr id="33" name="Group 33"/>
          <p:cNvGrpSpPr/>
          <p:nvPr/>
        </p:nvGrpSpPr>
        <p:grpSpPr>
          <a:xfrm>
            <a:off x="8852221" y="7211768"/>
            <a:ext cx="583559" cy="583559"/>
            <a:chOff x="0" y="0"/>
            <a:chExt cx="778078" cy="778078"/>
          </a:xfrm>
        </p:grpSpPr>
        <p:sp>
          <p:nvSpPr>
            <p:cNvPr id="34" name="Freeform 34"/>
            <p:cNvSpPr/>
            <p:nvPr/>
          </p:nvSpPr>
          <p:spPr>
            <a:xfrm>
              <a:off x="6350" y="6350"/>
              <a:ext cx="765302" cy="765302"/>
            </a:xfrm>
            <a:custGeom>
              <a:avLst/>
              <a:gdLst/>
              <a:ahLst/>
              <a:cxnLst/>
              <a:rect l="l" t="t" r="r" b="b"/>
              <a:pathLst>
                <a:path w="765302" h="765302">
                  <a:moveTo>
                    <a:pt x="0" y="142875"/>
                  </a:moveTo>
                  <a:cubicBezTo>
                    <a:pt x="0" y="64008"/>
                    <a:pt x="64008" y="0"/>
                    <a:pt x="142875" y="0"/>
                  </a:cubicBezTo>
                  <a:lnTo>
                    <a:pt x="622427" y="0"/>
                  </a:lnTo>
                  <a:cubicBezTo>
                    <a:pt x="701294" y="0"/>
                    <a:pt x="765302" y="64008"/>
                    <a:pt x="765302" y="142875"/>
                  </a:cubicBezTo>
                  <a:lnTo>
                    <a:pt x="765302" y="622427"/>
                  </a:lnTo>
                  <a:cubicBezTo>
                    <a:pt x="765302" y="701294"/>
                    <a:pt x="701294" y="765302"/>
                    <a:pt x="622427" y="765302"/>
                  </a:cubicBezTo>
                  <a:lnTo>
                    <a:pt x="142875" y="765302"/>
                  </a:lnTo>
                  <a:cubicBezTo>
                    <a:pt x="64008" y="765429"/>
                    <a:pt x="0" y="701421"/>
                    <a:pt x="0" y="622427"/>
                  </a:cubicBezTo>
                  <a:close/>
                </a:path>
              </a:pathLst>
            </a:custGeom>
            <a:solidFill>
              <a:srgbClr val="FFCCCC"/>
            </a:solidFill>
          </p:spPr>
        </p:sp>
        <p:sp>
          <p:nvSpPr>
            <p:cNvPr id="35" name="Freeform 35"/>
            <p:cNvSpPr/>
            <p:nvPr/>
          </p:nvSpPr>
          <p:spPr>
            <a:xfrm>
              <a:off x="0" y="0"/>
              <a:ext cx="778129" cy="778129"/>
            </a:xfrm>
            <a:custGeom>
              <a:avLst/>
              <a:gdLst/>
              <a:ahLst/>
              <a:cxnLst/>
              <a:rect l="l" t="t" r="r" b="b"/>
              <a:pathLst>
                <a:path w="778129" h="778129">
                  <a:moveTo>
                    <a:pt x="0" y="149225"/>
                  </a:moveTo>
                  <a:cubicBezTo>
                    <a:pt x="0" y="66802"/>
                    <a:pt x="66802" y="0"/>
                    <a:pt x="149225" y="0"/>
                  </a:cubicBezTo>
                  <a:lnTo>
                    <a:pt x="628777" y="0"/>
                  </a:lnTo>
                  <a:lnTo>
                    <a:pt x="628777" y="6350"/>
                  </a:lnTo>
                  <a:lnTo>
                    <a:pt x="628777" y="0"/>
                  </a:lnTo>
                  <a:cubicBezTo>
                    <a:pt x="711200" y="0"/>
                    <a:pt x="778129" y="66802"/>
                    <a:pt x="778129" y="149225"/>
                  </a:cubicBezTo>
                  <a:lnTo>
                    <a:pt x="771779" y="149225"/>
                  </a:lnTo>
                  <a:lnTo>
                    <a:pt x="778129" y="149225"/>
                  </a:lnTo>
                  <a:lnTo>
                    <a:pt x="778129" y="628777"/>
                  </a:lnTo>
                  <a:lnTo>
                    <a:pt x="771779" y="628777"/>
                  </a:lnTo>
                  <a:lnTo>
                    <a:pt x="778129" y="628777"/>
                  </a:lnTo>
                  <a:cubicBezTo>
                    <a:pt x="778129" y="711200"/>
                    <a:pt x="711200" y="778129"/>
                    <a:pt x="628777" y="778129"/>
                  </a:cubicBezTo>
                  <a:lnTo>
                    <a:pt x="628777" y="771779"/>
                  </a:lnTo>
                  <a:lnTo>
                    <a:pt x="628777" y="778129"/>
                  </a:lnTo>
                  <a:lnTo>
                    <a:pt x="149225" y="778129"/>
                  </a:lnTo>
                  <a:lnTo>
                    <a:pt x="149225" y="771779"/>
                  </a:lnTo>
                  <a:lnTo>
                    <a:pt x="149225" y="778129"/>
                  </a:lnTo>
                  <a:cubicBezTo>
                    <a:pt x="66802" y="778129"/>
                    <a:pt x="0" y="711200"/>
                    <a:pt x="0" y="628777"/>
                  </a:cubicBezTo>
                  <a:lnTo>
                    <a:pt x="0" y="149225"/>
                  </a:lnTo>
                  <a:lnTo>
                    <a:pt x="6350" y="149225"/>
                  </a:lnTo>
                  <a:lnTo>
                    <a:pt x="0" y="149225"/>
                  </a:lnTo>
                  <a:moveTo>
                    <a:pt x="12700" y="149225"/>
                  </a:moveTo>
                  <a:lnTo>
                    <a:pt x="12700" y="628777"/>
                  </a:lnTo>
                  <a:lnTo>
                    <a:pt x="6350" y="628777"/>
                  </a:lnTo>
                  <a:lnTo>
                    <a:pt x="12700" y="628777"/>
                  </a:lnTo>
                  <a:cubicBezTo>
                    <a:pt x="12700" y="704215"/>
                    <a:pt x="73787" y="765302"/>
                    <a:pt x="149225" y="765302"/>
                  </a:cubicBezTo>
                  <a:lnTo>
                    <a:pt x="628777" y="765302"/>
                  </a:lnTo>
                  <a:cubicBezTo>
                    <a:pt x="704215" y="765302"/>
                    <a:pt x="765302" y="704215"/>
                    <a:pt x="765302" y="628777"/>
                  </a:cubicBezTo>
                  <a:lnTo>
                    <a:pt x="765302" y="149225"/>
                  </a:lnTo>
                  <a:cubicBezTo>
                    <a:pt x="765429" y="73787"/>
                    <a:pt x="704215" y="12700"/>
                    <a:pt x="628777" y="12700"/>
                  </a:cubicBezTo>
                  <a:lnTo>
                    <a:pt x="149225" y="12700"/>
                  </a:lnTo>
                  <a:lnTo>
                    <a:pt x="149225" y="6350"/>
                  </a:lnTo>
                  <a:lnTo>
                    <a:pt x="149225" y="12700"/>
                  </a:lnTo>
                  <a:cubicBezTo>
                    <a:pt x="73787" y="12700"/>
                    <a:pt x="12700" y="73787"/>
                    <a:pt x="12700" y="149225"/>
                  </a:cubicBezTo>
                  <a:close/>
                </a:path>
              </a:pathLst>
            </a:custGeom>
            <a:solidFill>
              <a:srgbClr val="E5B2B2"/>
            </a:solidFill>
          </p:spPr>
        </p:sp>
      </p:grpSp>
      <p:sp>
        <p:nvSpPr>
          <p:cNvPr id="36" name="TextBox 36"/>
          <p:cNvSpPr txBox="1"/>
          <p:nvPr/>
        </p:nvSpPr>
        <p:spPr>
          <a:xfrm>
            <a:off x="8952605" y="7321448"/>
            <a:ext cx="382638" cy="421186"/>
          </a:xfrm>
          <a:prstGeom prst="rect">
            <a:avLst/>
          </a:prstGeom>
        </p:spPr>
        <p:txBody>
          <a:bodyPr lIns="0" tIns="0" rIns="0" bIns="0" rtlCol="0" anchor="t">
            <a:spAutoFit/>
          </a:bodyPr>
          <a:lstStyle/>
          <a:p>
            <a:pPr algn="ctr">
              <a:lnSpc>
                <a:spcPts val="3000"/>
              </a:lnSpc>
            </a:pPr>
            <a:r>
              <a:rPr lang="en-US" sz="3000" b="1">
                <a:solidFill>
                  <a:srgbClr val="000099"/>
                </a:solidFill>
                <a:latin typeface="Open Sans 1 Bold"/>
                <a:ea typeface="Open Sans 1 Bold"/>
                <a:cs typeface="Open Sans 1 Bold"/>
                <a:sym typeface="Open Sans 1 Bold"/>
              </a:rPr>
              <a:t>4</a:t>
            </a:r>
          </a:p>
        </p:txBody>
      </p:sp>
      <p:sp>
        <p:nvSpPr>
          <p:cNvPr id="37" name="TextBox 37"/>
          <p:cNvSpPr txBox="1"/>
          <p:nvPr/>
        </p:nvSpPr>
        <p:spPr>
          <a:xfrm>
            <a:off x="10419902" y="7285139"/>
            <a:ext cx="3189684" cy="417614"/>
          </a:xfrm>
          <a:prstGeom prst="rect">
            <a:avLst/>
          </a:prstGeom>
        </p:spPr>
        <p:txBody>
          <a:bodyPr lIns="0" tIns="0" rIns="0" bIns="0" rtlCol="0" anchor="t">
            <a:spAutoFit/>
          </a:bodyPr>
          <a:lstStyle/>
          <a:p>
            <a:pPr algn="l">
              <a:lnSpc>
                <a:spcPts val="3124"/>
              </a:lnSpc>
            </a:pPr>
            <a:r>
              <a:rPr lang="en-US" sz="2499" b="1">
                <a:solidFill>
                  <a:srgbClr val="000099"/>
                </a:solidFill>
                <a:latin typeface="Open Sans 1 Bold"/>
                <a:ea typeface="Open Sans 1 Bold"/>
                <a:cs typeface="Open Sans 1 Bold"/>
                <a:sym typeface="Open Sans 1 Bold"/>
              </a:rPr>
              <a:t>QR Code Thép Hộp</a:t>
            </a:r>
          </a:p>
        </p:txBody>
      </p:sp>
      <p:sp>
        <p:nvSpPr>
          <p:cNvPr id="38" name="TextBox 38"/>
          <p:cNvSpPr txBox="1"/>
          <p:nvPr/>
        </p:nvSpPr>
        <p:spPr>
          <a:xfrm>
            <a:off x="10419902" y="7779544"/>
            <a:ext cx="6875859" cy="892969"/>
          </a:xfrm>
          <a:prstGeom prst="rect">
            <a:avLst/>
          </a:prstGeom>
        </p:spPr>
        <p:txBody>
          <a:bodyPr lIns="0" tIns="0" rIns="0" bIns="0" rtlCol="0" anchor="t">
            <a:spAutoFit/>
          </a:bodyPr>
          <a:lstStyle/>
          <a:p>
            <a:pPr algn="l">
              <a:lnSpc>
                <a:spcPts val="3187"/>
              </a:lnSpc>
            </a:pPr>
            <a:r>
              <a:rPr lang="en-US" sz="2000" b="1">
                <a:solidFill>
                  <a:srgbClr val="000099"/>
                </a:solidFill>
                <a:latin typeface="Open Sans 1 Bold"/>
                <a:ea typeface="Open Sans 1 Bold"/>
                <a:cs typeface="Open Sans 1 Bold"/>
                <a:sym typeface="Open Sans 1 Bold"/>
              </a:rPr>
              <a:t>Hợp đồng triển khai đã hoàn thành ký duyệt</a:t>
            </a:r>
            <a:r>
              <a:rPr lang="en-US" sz="2000">
                <a:solidFill>
                  <a:srgbClr val="000099"/>
                </a:solidFill>
                <a:latin typeface="Open Sans 1"/>
                <a:ea typeface="Open Sans 1"/>
                <a:cs typeface="Open Sans 1"/>
                <a:sym typeface="Open Sans 1"/>
              </a:rPr>
              <a:t>, chính thức bắt đầu dự án số hóa quản lý sản phẩm.</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1940566"/>
            <a:ext cx="16303523" cy="1800520"/>
          </a:xfrm>
          <a:prstGeom prst="rect">
            <a:avLst/>
          </a:prstGeom>
        </p:spPr>
        <p:txBody>
          <a:bodyPr lIns="0" tIns="0" rIns="0" bIns="0" rtlCol="0" anchor="t">
            <a:spAutoFit/>
          </a:bodyPr>
          <a:lstStyle/>
          <a:p>
            <a:pPr algn="l">
              <a:lnSpc>
                <a:spcPts val="6937"/>
              </a:lnSpc>
            </a:pPr>
            <a:r>
              <a:rPr lang="en-US" sz="5562" b="1">
                <a:solidFill>
                  <a:srgbClr val="FF0000"/>
                </a:solidFill>
                <a:latin typeface="Open Sans 1 Bold"/>
                <a:ea typeface="Open Sans 1 Bold"/>
                <a:cs typeface="Open Sans 1 Bold"/>
                <a:sym typeface="Open Sans 1 Bold"/>
              </a:rPr>
              <a:t>C. KẾT QUẢ CÔNG VIỆC EOFFICE – HCM &amp; PHÁT SINH</a:t>
            </a:r>
          </a:p>
        </p:txBody>
      </p:sp>
      <p:grpSp>
        <p:nvGrpSpPr>
          <p:cNvPr id="4" name="Group 4"/>
          <p:cNvGrpSpPr/>
          <p:nvPr/>
        </p:nvGrpSpPr>
        <p:grpSpPr>
          <a:xfrm>
            <a:off x="987476" y="4303366"/>
            <a:ext cx="16313048" cy="4019102"/>
            <a:chOff x="0" y="0"/>
            <a:chExt cx="21750731" cy="5358803"/>
          </a:xfrm>
        </p:grpSpPr>
        <p:sp>
          <p:nvSpPr>
            <p:cNvPr id="5" name="Freeform 5"/>
            <p:cNvSpPr/>
            <p:nvPr/>
          </p:nvSpPr>
          <p:spPr>
            <a:xfrm>
              <a:off x="6350" y="6350"/>
              <a:ext cx="21737955" cy="5346065"/>
            </a:xfrm>
            <a:custGeom>
              <a:avLst/>
              <a:gdLst/>
              <a:ahLst/>
              <a:cxnLst/>
              <a:rect l="l" t="t" r="r" b="b"/>
              <a:pathLst>
                <a:path w="21737955" h="5346065">
                  <a:moveTo>
                    <a:pt x="0" y="158750"/>
                  </a:moveTo>
                  <a:cubicBezTo>
                    <a:pt x="0" y="71120"/>
                    <a:pt x="71247" y="0"/>
                    <a:pt x="159004" y="0"/>
                  </a:cubicBezTo>
                  <a:lnTo>
                    <a:pt x="21578951" y="0"/>
                  </a:lnTo>
                  <a:cubicBezTo>
                    <a:pt x="21666836" y="0"/>
                    <a:pt x="21737955" y="71120"/>
                    <a:pt x="21737955" y="158750"/>
                  </a:cubicBezTo>
                  <a:lnTo>
                    <a:pt x="21737955" y="5187315"/>
                  </a:lnTo>
                  <a:cubicBezTo>
                    <a:pt x="21737955" y="5274945"/>
                    <a:pt x="21666708" y="5346065"/>
                    <a:pt x="21578951" y="5346065"/>
                  </a:cubicBezTo>
                  <a:lnTo>
                    <a:pt x="159004" y="5346065"/>
                  </a:lnTo>
                  <a:cubicBezTo>
                    <a:pt x="71120" y="5346065"/>
                    <a:pt x="0" y="5274945"/>
                    <a:pt x="0" y="5187315"/>
                  </a:cubicBezTo>
                  <a:close/>
                </a:path>
              </a:pathLst>
            </a:custGeom>
            <a:solidFill>
              <a:srgbClr val="FFCCCC"/>
            </a:solidFill>
          </p:spPr>
        </p:sp>
        <p:sp>
          <p:nvSpPr>
            <p:cNvPr id="6" name="Freeform 6"/>
            <p:cNvSpPr/>
            <p:nvPr/>
          </p:nvSpPr>
          <p:spPr>
            <a:xfrm>
              <a:off x="0" y="0"/>
              <a:ext cx="21750655" cy="5358765"/>
            </a:xfrm>
            <a:custGeom>
              <a:avLst/>
              <a:gdLst/>
              <a:ahLst/>
              <a:cxnLst/>
              <a:rect l="l" t="t" r="r" b="b"/>
              <a:pathLst>
                <a:path w="21750655" h="5358765">
                  <a:moveTo>
                    <a:pt x="0" y="165100"/>
                  </a:moveTo>
                  <a:cubicBezTo>
                    <a:pt x="0" y="73914"/>
                    <a:pt x="74041" y="0"/>
                    <a:pt x="165354" y="0"/>
                  </a:cubicBezTo>
                  <a:lnTo>
                    <a:pt x="21585301" y="0"/>
                  </a:lnTo>
                  <a:lnTo>
                    <a:pt x="21585301" y="6350"/>
                  </a:lnTo>
                  <a:lnTo>
                    <a:pt x="21585301" y="0"/>
                  </a:lnTo>
                  <a:cubicBezTo>
                    <a:pt x="21676615" y="0"/>
                    <a:pt x="21750655" y="73914"/>
                    <a:pt x="21750655" y="165100"/>
                  </a:cubicBezTo>
                  <a:lnTo>
                    <a:pt x="21744305" y="165100"/>
                  </a:lnTo>
                  <a:lnTo>
                    <a:pt x="21750655" y="165100"/>
                  </a:lnTo>
                  <a:lnTo>
                    <a:pt x="21750655" y="5193665"/>
                  </a:lnTo>
                  <a:lnTo>
                    <a:pt x="21744305" y="5193665"/>
                  </a:lnTo>
                  <a:lnTo>
                    <a:pt x="21750655" y="5193665"/>
                  </a:lnTo>
                  <a:cubicBezTo>
                    <a:pt x="21750655" y="5284851"/>
                    <a:pt x="21676615" y="5358765"/>
                    <a:pt x="21585301" y="5358765"/>
                  </a:cubicBezTo>
                  <a:lnTo>
                    <a:pt x="21585301" y="5352415"/>
                  </a:lnTo>
                  <a:lnTo>
                    <a:pt x="21585301" y="5358765"/>
                  </a:lnTo>
                  <a:lnTo>
                    <a:pt x="165354" y="5358765"/>
                  </a:lnTo>
                  <a:lnTo>
                    <a:pt x="165354" y="5352415"/>
                  </a:lnTo>
                  <a:lnTo>
                    <a:pt x="165354" y="5358765"/>
                  </a:lnTo>
                  <a:cubicBezTo>
                    <a:pt x="74041" y="5358765"/>
                    <a:pt x="0" y="5284851"/>
                    <a:pt x="0" y="5193665"/>
                  </a:cubicBezTo>
                  <a:lnTo>
                    <a:pt x="0" y="165100"/>
                  </a:lnTo>
                  <a:lnTo>
                    <a:pt x="6350" y="165100"/>
                  </a:lnTo>
                  <a:lnTo>
                    <a:pt x="0" y="165100"/>
                  </a:lnTo>
                  <a:moveTo>
                    <a:pt x="12700" y="165100"/>
                  </a:moveTo>
                  <a:lnTo>
                    <a:pt x="12700" y="5193665"/>
                  </a:lnTo>
                  <a:lnTo>
                    <a:pt x="6350" y="5193665"/>
                  </a:lnTo>
                  <a:lnTo>
                    <a:pt x="12700" y="5193665"/>
                  </a:lnTo>
                  <a:cubicBezTo>
                    <a:pt x="12700" y="5277866"/>
                    <a:pt x="81026" y="5346065"/>
                    <a:pt x="165354" y="5346065"/>
                  </a:cubicBezTo>
                  <a:lnTo>
                    <a:pt x="21585301" y="5346065"/>
                  </a:lnTo>
                  <a:cubicBezTo>
                    <a:pt x="21669629" y="5346065"/>
                    <a:pt x="21737955" y="5277866"/>
                    <a:pt x="21737955" y="5193665"/>
                  </a:cubicBezTo>
                  <a:lnTo>
                    <a:pt x="21737955" y="165100"/>
                  </a:lnTo>
                  <a:cubicBezTo>
                    <a:pt x="21737955" y="80899"/>
                    <a:pt x="21669629" y="12700"/>
                    <a:pt x="21585301" y="12700"/>
                  </a:cubicBezTo>
                  <a:lnTo>
                    <a:pt x="165354" y="12700"/>
                  </a:lnTo>
                  <a:lnTo>
                    <a:pt x="165354" y="6350"/>
                  </a:lnTo>
                  <a:lnTo>
                    <a:pt x="165354" y="12700"/>
                  </a:lnTo>
                  <a:cubicBezTo>
                    <a:pt x="81026" y="12700"/>
                    <a:pt x="12700" y="80899"/>
                    <a:pt x="12700" y="165100"/>
                  </a:cubicBezTo>
                  <a:close/>
                </a:path>
              </a:pathLst>
            </a:custGeom>
            <a:solidFill>
              <a:srgbClr val="E5B2B2"/>
            </a:solidFill>
          </p:spPr>
        </p:sp>
      </p:grpSp>
      <p:grpSp>
        <p:nvGrpSpPr>
          <p:cNvPr id="7" name="Group 7"/>
          <p:cNvGrpSpPr/>
          <p:nvPr/>
        </p:nvGrpSpPr>
        <p:grpSpPr>
          <a:xfrm>
            <a:off x="1001763" y="4317654"/>
            <a:ext cx="5428059" cy="3990527"/>
            <a:chOff x="0" y="0"/>
            <a:chExt cx="7237412" cy="5320703"/>
          </a:xfrm>
        </p:grpSpPr>
        <p:sp>
          <p:nvSpPr>
            <p:cNvPr id="8" name="Freeform 8"/>
            <p:cNvSpPr/>
            <p:nvPr/>
          </p:nvSpPr>
          <p:spPr>
            <a:xfrm>
              <a:off x="0" y="0"/>
              <a:ext cx="7237349" cy="5320665"/>
            </a:xfrm>
            <a:custGeom>
              <a:avLst/>
              <a:gdLst/>
              <a:ahLst/>
              <a:cxnLst/>
              <a:rect l="l" t="t" r="r" b="b"/>
              <a:pathLst>
                <a:path w="7237349" h="5320665">
                  <a:moveTo>
                    <a:pt x="0" y="158750"/>
                  </a:moveTo>
                  <a:cubicBezTo>
                    <a:pt x="0" y="71120"/>
                    <a:pt x="71120" y="0"/>
                    <a:pt x="158750" y="0"/>
                  </a:cubicBezTo>
                  <a:lnTo>
                    <a:pt x="7078599" y="0"/>
                  </a:lnTo>
                  <a:cubicBezTo>
                    <a:pt x="7166229" y="0"/>
                    <a:pt x="7237349" y="71120"/>
                    <a:pt x="7237349" y="158750"/>
                  </a:cubicBezTo>
                  <a:lnTo>
                    <a:pt x="7237349" y="5161915"/>
                  </a:lnTo>
                  <a:cubicBezTo>
                    <a:pt x="7237349" y="5249545"/>
                    <a:pt x="7166229" y="5320665"/>
                    <a:pt x="7078599" y="5320665"/>
                  </a:cubicBezTo>
                  <a:lnTo>
                    <a:pt x="158750" y="5320665"/>
                  </a:lnTo>
                  <a:cubicBezTo>
                    <a:pt x="71120" y="5320665"/>
                    <a:pt x="0" y="5249545"/>
                    <a:pt x="0" y="5161915"/>
                  </a:cubicBezTo>
                  <a:close/>
                </a:path>
              </a:pathLst>
            </a:custGeom>
            <a:solidFill>
              <a:srgbClr val="FFCCCC"/>
            </a:solidFill>
          </p:spPr>
        </p:sp>
      </p:grpSp>
      <p:sp>
        <p:nvSpPr>
          <p:cNvPr id="9" name="TextBox 9"/>
          <p:cNvSpPr txBox="1"/>
          <p:nvPr/>
        </p:nvSpPr>
        <p:spPr>
          <a:xfrm>
            <a:off x="1285284" y="4582116"/>
            <a:ext cx="4252912" cy="550659"/>
          </a:xfrm>
          <a:prstGeom prst="rect">
            <a:avLst/>
          </a:prstGeom>
        </p:spPr>
        <p:txBody>
          <a:bodyPr lIns="0" tIns="0" rIns="0" bIns="0" rtlCol="0" anchor="t">
            <a:spAutoFit/>
          </a:bodyPr>
          <a:lstStyle/>
          <a:p>
            <a:pPr algn="l">
              <a:lnSpc>
                <a:spcPts val="4125"/>
              </a:lnSpc>
            </a:pPr>
            <a:r>
              <a:rPr lang="en-US" sz="3312" b="1">
                <a:solidFill>
                  <a:srgbClr val="000099"/>
                </a:solidFill>
                <a:latin typeface="Open Sans 1 Bold"/>
                <a:ea typeface="Open Sans 1 Bold"/>
                <a:cs typeface="Open Sans 1 Bold"/>
                <a:sym typeface="Open Sans 1 Bold"/>
              </a:rPr>
              <a:t>EOFFICE &amp; HCM</a:t>
            </a:r>
          </a:p>
        </p:txBody>
      </p:sp>
      <p:sp>
        <p:nvSpPr>
          <p:cNvPr id="10" name="TextBox 10"/>
          <p:cNvSpPr txBox="1"/>
          <p:nvPr/>
        </p:nvSpPr>
        <p:spPr>
          <a:xfrm>
            <a:off x="1285284" y="5217166"/>
            <a:ext cx="4861027" cy="2807494"/>
          </a:xfrm>
          <a:prstGeom prst="rect">
            <a:avLst/>
          </a:prstGeom>
        </p:spPr>
        <p:txBody>
          <a:bodyPr lIns="0" tIns="0" rIns="0" bIns="0" rtlCol="0" anchor="t">
            <a:spAutoFit/>
          </a:bodyPr>
          <a:lstStyle/>
          <a:p>
            <a:pPr algn="l">
              <a:lnSpc>
                <a:spcPts val="3562"/>
              </a:lnSpc>
            </a:pPr>
            <a:r>
              <a:rPr lang="en-US" sz="2187">
                <a:solidFill>
                  <a:srgbClr val="000099"/>
                </a:solidFill>
                <a:latin typeface="Open Sans 1"/>
                <a:ea typeface="Open Sans 1"/>
                <a:cs typeface="Open Sans 1"/>
                <a:sym typeface="Open Sans 1"/>
              </a:rPr>
              <a:t>Đã thực hiện điều chỉnh phòng/ban và thay đổi chức danh trên hệ thống theo Cơ cấu tổ chức mới của Khối Sản Xuất và Phòng Quản lý kho, đảm bảo dữ liệu nhân sự đồng bộ và chính xác.</a:t>
            </a:r>
          </a:p>
        </p:txBody>
      </p:sp>
      <p:grpSp>
        <p:nvGrpSpPr>
          <p:cNvPr id="11" name="Group 11"/>
          <p:cNvGrpSpPr/>
          <p:nvPr/>
        </p:nvGrpSpPr>
        <p:grpSpPr>
          <a:xfrm>
            <a:off x="6429823" y="4317654"/>
            <a:ext cx="5428212" cy="3990527"/>
            <a:chOff x="0" y="0"/>
            <a:chExt cx="7237616" cy="5320703"/>
          </a:xfrm>
        </p:grpSpPr>
        <p:sp>
          <p:nvSpPr>
            <p:cNvPr id="12" name="Freeform 12"/>
            <p:cNvSpPr/>
            <p:nvPr/>
          </p:nvSpPr>
          <p:spPr>
            <a:xfrm>
              <a:off x="0" y="0"/>
              <a:ext cx="7237603" cy="5320665"/>
            </a:xfrm>
            <a:custGeom>
              <a:avLst/>
              <a:gdLst/>
              <a:ahLst/>
              <a:cxnLst/>
              <a:rect l="l" t="t" r="r" b="b"/>
              <a:pathLst>
                <a:path w="7237603" h="5320665">
                  <a:moveTo>
                    <a:pt x="0" y="0"/>
                  </a:moveTo>
                  <a:lnTo>
                    <a:pt x="7237603" y="0"/>
                  </a:lnTo>
                  <a:lnTo>
                    <a:pt x="7237603" y="5320665"/>
                  </a:lnTo>
                  <a:lnTo>
                    <a:pt x="0" y="5320665"/>
                  </a:lnTo>
                  <a:close/>
                </a:path>
              </a:pathLst>
            </a:custGeom>
            <a:solidFill>
              <a:srgbClr val="FFCCCC"/>
            </a:solidFill>
          </p:spPr>
        </p:sp>
      </p:grpSp>
      <p:grpSp>
        <p:nvGrpSpPr>
          <p:cNvPr id="13" name="Group 13"/>
          <p:cNvGrpSpPr/>
          <p:nvPr/>
        </p:nvGrpSpPr>
        <p:grpSpPr>
          <a:xfrm>
            <a:off x="6429823" y="4317654"/>
            <a:ext cx="38100" cy="3990527"/>
            <a:chOff x="0" y="0"/>
            <a:chExt cx="50800" cy="5320703"/>
          </a:xfrm>
        </p:grpSpPr>
        <p:sp>
          <p:nvSpPr>
            <p:cNvPr id="14" name="Freeform 14"/>
            <p:cNvSpPr/>
            <p:nvPr/>
          </p:nvSpPr>
          <p:spPr>
            <a:xfrm>
              <a:off x="0" y="0"/>
              <a:ext cx="50800" cy="5320665"/>
            </a:xfrm>
            <a:custGeom>
              <a:avLst/>
              <a:gdLst/>
              <a:ahLst/>
              <a:cxnLst/>
              <a:rect l="l" t="t" r="r" b="b"/>
              <a:pathLst>
                <a:path w="50800" h="5320665">
                  <a:moveTo>
                    <a:pt x="0" y="25400"/>
                  </a:moveTo>
                  <a:cubicBezTo>
                    <a:pt x="0" y="11430"/>
                    <a:pt x="11430" y="0"/>
                    <a:pt x="25400" y="0"/>
                  </a:cubicBezTo>
                  <a:cubicBezTo>
                    <a:pt x="39370" y="0"/>
                    <a:pt x="50800" y="11430"/>
                    <a:pt x="50800" y="25400"/>
                  </a:cubicBezTo>
                  <a:lnTo>
                    <a:pt x="50800" y="5295265"/>
                  </a:lnTo>
                  <a:cubicBezTo>
                    <a:pt x="50800" y="5309235"/>
                    <a:pt x="39370" y="5320665"/>
                    <a:pt x="25400" y="5320665"/>
                  </a:cubicBezTo>
                  <a:cubicBezTo>
                    <a:pt x="11430" y="5320665"/>
                    <a:pt x="0" y="5309235"/>
                    <a:pt x="0" y="5295265"/>
                  </a:cubicBezTo>
                  <a:close/>
                </a:path>
              </a:pathLst>
            </a:custGeom>
            <a:solidFill>
              <a:srgbClr val="E5B2B2"/>
            </a:solidFill>
          </p:spPr>
        </p:sp>
      </p:grpSp>
      <p:sp>
        <p:nvSpPr>
          <p:cNvPr id="15" name="TextBox 15"/>
          <p:cNvSpPr txBox="1"/>
          <p:nvPr/>
        </p:nvSpPr>
        <p:spPr>
          <a:xfrm>
            <a:off x="6713334" y="4582116"/>
            <a:ext cx="4861169" cy="1082278"/>
          </a:xfrm>
          <a:prstGeom prst="rect">
            <a:avLst/>
          </a:prstGeom>
        </p:spPr>
        <p:txBody>
          <a:bodyPr lIns="0" tIns="0" rIns="0" bIns="0" rtlCol="0" anchor="t">
            <a:spAutoFit/>
          </a:bodyPr>
          <a:lstStyle/>
          <a:p>
            <a:pPr algn="l">
              <a:lnSpc>
                <a:spcPts val="4125"/>
              </a:lnSpc>
            </a:pPr>
            <a:r>
              <a:rPr lang="en-US" sz="3312" b="1">
                <a:solidFill>
                  <a:srgbClr val="000099"/>
                </a:solidFill>
                <a:latin typeface="Open Sans 1 Bold"/>
                <a:ea typeface="Open Sans 1 Bold"/>
                <a:cs typeface="Open Sans 1 Bold"/>
                <a:sym typeface="Open Sans 1 Bold"/>
              </a:rPr>
              <a:t>Ngừng Kho Trung Chuyển (ERP)</a:t>
            </a:r>
          </a:p>
        </p:txBody>
      </p:sp>
      <p:sp>
        <p:nvSpPr>
          <p:cNvPr id="16" name="TextBox 16"/>
          <p:cNvSpPr txBox="1"/>
          <p:nvPr/>
        </p:nvSpPr>
        <p:spPr>
          <a:xfrm>
            <a:off x="6713334" y="5748785"/>
            <a:ext cx="4861169" cy="1900237"/>
          </a:xfrm>
          <a:prstGeom prst="rect">
            <a:avLst/>
          </a:prstGeom>
        </p:spPr>
        <p:txBody>
          <a:bodyPr lIns="0" tIns="0" rIns="0" bIns="0" rtlCol="0" anchor="t">
            <a:spAutoFit/>
          </a:bodyPr>
          <a:lstStyle/>
          <a:p>
            <a:pPr algn="l">
              <a:lnSpc>
                <a:spcPts val="3562"/>
              </a:lnSpc>
            </a:pPr>
            <a:r>
              <a:rPr lang="en-US" sz="2187">
                <a:solidFill>
                  <a:srgbClr val="000099"/>
                </a:solidFill>
                <a:latin typeface="Open Sans 1"/>
                <a:ea typeface="Open Sans 1"/>
                <a:cs typeface="Open Sans 1"/>
                <a:sym typeface="Open Sans 1"/>
              </a:rPr>
              <a:t>Thông báo </a:t>
            </a:r>
            <a:r>
              <a:rPr lang="en-US" sz="2187" b="1">
                <a:solidFill>
                  <a:srgbClr val="000099"/>
                </a:solidFill>
                <a:latin typeface="Open Sans 1 Bold"/>
                <a:ea typeface="Open Sans 1 Bold"/>
                <a:cs typeface="Open Sans 1 Bold"/>
                <a:sym typeface="Open Sans 1 Bold"/>
              </a:rPr>
              <a:t>ngưng sử dụng kho trung chuyển</a:t>
            </a:r>
            <a:r>
              <a:rPr lang="en-US" sz="2187">
                <a:solidFill>
                  <a:srgbClr val="000099"/>
                </a:solidFill>
                <a:latin typeface="Open Sans 1"/>
                <a:ea typeface="Open Sans 1"/>
                <a:cs typeface="Open Sans 1"/>
                <a:sym typeface="Open Sans 1"/>
              </a:rPr>
              <a:t> trên hệ thống ERP chính thức từ ngày </a:t>
            </a:r>
            <a:r>
              <a:rPr lang="en-US" sz="2187">
                <a:solidFill>
                  <a:srgbClr val="FF0101"/>
                </a:solidFill>
                <a:latin typeface="Open Sans 1"/>
                <a:ea typeface="Open Sans 1"/>
                <a:cs typeface="Open Sans 1"/>
                <a:sym typeface="Open Sans 1"/>
              </a:rPr>
              <a:t>01/11/2025</a:t>
            </a:r>
            <a:r>
              <a:rPr lang="en-US" sz="2187">
                <a:solidFill>
                  <a:srgbClr val="000099"/>
                </a:solidFill>
                <a:latin typeface="Open Sans 1"/>
                <a:ea typeface="Open Sans 1"/>
                <a:cs typeface="Open Sans 1"/>
                <a:sym typeface="Open Sans 1"/>
              </a:rPr>
              <a:t>, tối ưu hóa quy trình quản lý kho hàng.</a:t>
            </a:r>
          </a:p>
        </p:txBody>
      </p:sp>
      <p:grpSp>
        <p:nvGrpSpPr>
          <p:cNvPr id="17" name="Group 17"/>
          <p:cNvGrpSpPr/>
          <p:nvPr/>
        </p:nvGrpSpPr>
        <p:grpSpPr>
          <a:xfrm>
            <a:off x="11858034" y="4317654"/>
            <a:ext cx="5428212" cy="3990527"/>
            <a:chOff x="0" y="0"/>
            <a:chExt cx="7237616" cy="5320703"/>
          </a:xfrm>
        </p:grpSpPr>
        <p:sp>
          <p:nvSpPr>
            <p:cNvPr id="18" name="Freeform 18"/>
            <p:cNvSpPr/>
            <p:nvPr/>
          </p:nvSpPr>
          <p:spPr>
            <a:xfrm>
              <a:off x="0" y="0"/>
              <a:ext cx="7237603" cy="5320665"/>
            </a:xfrm>
            <a:custGeom>
              <a:avLst/>
              <a:gdLst/>
              <a:ahLst/>
              <a:cxnLst/>
              <a:rect l="l" t="t" r="r" b="b"/>
              <a:pathLst>
                <a:path w="7237603" h="5320665">
                  <a:moveTo>
                    <a:pt x="0" y="0"/>
                  </a:moveTo>
                  <a:lnTo>
                    <a:pt x="7237603" y="0"/>
                  </a:lnTo>
                  <a:lnTo>
                    <a:pt x="7237603" y="5320665"/>
                  </a:lnTo>
                  <a:lnTo>
                    <a:pt x="0" y="5320665"/>
                  </a:lnTo>
                  <a:close/>
                </a:path>
              </a:pathLst>
            </a:custGeom>
            <a:solidFill>
              <a:srgbClr val="FFCCCC"/>
            </a:solidFill>
          </p:spPr>
        </p:sp>
      </p:grpSp>
      <p:grpSp>
        <p:nvGrpSpPr>
          <p:cNvPr id="19" name="Group 19"/>
          <p:cNvGrpSpPr/>
          <p:nvPr/>
        </p:nvGrpSpPr>
        <p:grpSpPr>
          <a:xfrm>
            <a:off x="11858034" y="4317654"/>
            <a:ext cx="38100" cy="3990527"/>
            <a:chOff x="0" y="0"/>
            <a:chExt cx="50800" cy="5320703"/>
          </a:xfrm>
        </p:grpSpPr>
        <p:sp>
          <p:nvSpPr>
            <p:cNvPr id="20" name="Freeform 20"/>
            <p:cNvSpPr/>
            <p:nvPr/>
          </p:nvSpPr>
          <p:spPr>
            <a:xfrm>
              <a:off x="0" y="0"/>
              <a:ext cx="50800" cy="5320665"/>
            </a:xfrm>
            <a:custGeom>
              <a:avLst/>
              <a:gdLst/>
              <a:ahLst/>
              <a:cxnLst/>
              <a:rect l="l" t="t" r="r" b="b"/>
              <a:pathLst>
                <a:path w="50800" h="5320665">
                  <a:moveTo>
                    <a:pt x="0" y="25400"/>
                  </a:moveTo>
                  <a:cubicBezTo>
                    <a:pt x="0" y="11430"/>
                    <a:pt x="11430" y="0"/>
                    <a:pt x="25400" y="0"/>
                  </a:cubicBezTo>
                  <a:cubicBezTo>
                    <a:pt x="39370" y="0"/>
                    <a:pt x="50800" y="11430"/>
                    <a:pt x="50800" y="25400"/>
                  </a:cubicBezTo>
                  <a:lnTo>
                    <a:pt x="50800" y="5295265"/>
                  </a:lnTo>
                  <a:cubicBezTo>
                    <a:pt x="50800" y="5309235"/>
                    <a:pt x="39370" y="5320665"/>
                    <a:pt x="25400" y="5320665"/>
                  </a:cubicBezTo>
                  <a:cubicBezTo>
                    <a:pt x="11430" y="5320665"/>
                    <a:pt x="0" y="5309235"/>
                    <a:pt x="0" y="5295265"/>
                  </a:cubicBezTo>
                  <a:close/>
                </a:path>
              </a:pathLst>
            </a:custGeom>
            <a:solidFill>
              <a:srgbClr val="E5B2B2"/>
            </a:solidFill>
          </p:spPr>
        </p:sp>
      </p:grpSp>
      <p:sp>
        <p:nvSpPr>
          <p:cNvPr id="21" name="TextBox 21"/>
          <p:cNvSpPr txBox="1"/>
          <p:nvPr/>
        </p:nvSpPr>
        <p:spPr>
          <a:xfrm>
            <a:off x="12141546" y="4582116"/>
            <a:ext cx="4861169" cy="1082278"/>
          </a:xfrm>
          <a:prstGeom prst="rect">
            <a:avLst/>
          </a:prstGeom>
        </p:spPr>
        <p:txBody>
          <a:bodyPr lIns="0" tIns="0" rIns="0" bIns="0" rtlCol="0" anchor="t">
            <a:spAutoFit/>
          </a:bodyPr>
          <a:lstStyle/>
          <a:p>
            <a:pPr algn="l">
              <a:lnSpc>
                <a:spcPts val="4125"/>
              </a:lnSpc>
            </a:pPr>
            <a:r>
              <a:rPr lang="en-US" sz="3312" b="1">
                <a:solidFill>
                  <a:srgbClr val="000099"/>
                </a:solidFill>
                <a:latin typeface="Open Sans 1 Bold"/>
                <a:ea typeface="Open Sans 1 Bold"/>
                <a:cs typeface="Open Sans 1 Bold"/>
                <a:sym typeface="Open Sans 1 Bold"/>
              </a:rPr>
              <a:t>Chiết Khấu Bán Hàng (CKBH)</a:t>
            </a:r>
          </a:p>
        </p:txBody>
      </p:sp>
      <p:sp>
        <p:nvSpPr>
          <p:cNvPr id="22" name="TextBox 22"/>
          <p:cNvSpPr txBox="1"/>
          <p:nvPr/>
        </p:nvSpPr>
        <p:spPr>
          <a:xfrm>
            <a:off x="12141546" y="5748785"/>
            <a:ext cx="4861169" cy="1900237"/>
          </a:xfrm>
          <a:prstGeom prst="rect">
            <a:avLst/>
          </a:prstGeom>
        </p:spPr>
        <p:txBody>
          <a:bodyPr lIns="0" tIns="0" rIns="0" bIns="0" rtlCol="0" anchor="t">
            <a:spAutoFit/>
          </a:bodyPr>
          <a:lstStyle/>
          <a:p>
            <a:pPr algn="l">
              <a:lnSpc>
                <a:spcPts val="3562"/>
              </a:lnSpc>
            </a:pPr>
            <a:r>
              <a:rPr lang="en-US" sz="2187">
                <a:solidFill>
                  <a:srgbClr val="000099"/>
                </a:solidFill>
                <a:latin typeface="Open Sans 1"/>
                <a:ea typeface="Open Sans 1"/>
                <a:cs typeface="Open Sans 1"/>
                <a:sym typeface="Open Sans 1"/>
              </a:rPr>
              <a:t>Đã tổ chức họp trao đổi phạm vi phát sinh các Change Request (CR) sau Golive với đối tác iERP, chuẩn bị cho các đợt điều chỉnh tiếp theo.</a:t>
            </a: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806348"/>
            <a:ext cx="11394281" cy="667788"/>
          </a:xfrm>
          <a:prstGeom prst="rect">
            <a:avLst/>
          </a:prstGeom>
        </p:spPr>
        <p:txBody>
          <a:bodyPr lIns="0" tIns="0" rIns="0" bIns="0" rtlCol="0" anchor="t">
            <a:spAutoFit/>
          </a:bodyPr>
          <a:lstStyle/>
          <a:p>
            <a:pPr algn="l">
              <a:lnSpc>
                <a:spcPts val="4875"/>
              </a:lnSpc>
            </a:pPr>
            <a:r>
              <a:rPr lang="en-US" sz="3875" b="1">
                <a:solidFill>
                  <a:srgbClr val="FF0000"/>
                </a:solidFill>
                <a:latin typeface="Open Sans 1 Bold"/>
                <a:ea typeface="Open Sans 1 Bold"/>
                <a:cs typeface="Open Sans 1 Bold"/>
                <a:sym typeface="Open Sans 1 Bold"/>
              </a:rPr>
              <a:t>D. CHUYỂN ĐỔI SỐ (CĐS) &amp; SÁNG KIẾN VỀ AI </a:t>
            </a:r>
            <a:r>
              <a:rPr lang="en-US" sz="3875" b="1">
                <a:solidFill>
                  <a:srgbClr val="000000"/>
                </a:solidFill>
                <a:latin typeface="Open Sans 1 Bold"/>
                <a:ea typeface="Open Sans 1 Bold"/>
                <a:cs typeface="Open Sans 1 Bold"/>
                <a:sym typeface="Open Sans 1 Bold"/>
              </a:rPr>
              <a:t>💡</a:t>
            </a:r>
          </a:p>
        </p:txBody>
      </p:sp>
      <p:sp>
        <p:nvSpPr>
          <p:cNvPr id="4" name="TextBox 4"/>
          <p:cNvSpPr txBox="1"/>
          <p:nvPr/>
        </p:nvSpPr>
        <p:spPr>
          <a:xfrm>
            <a:off x="992238" y="1960664"/>
            <a:ext cx="4432402" cy="505568"/>
          </a:xfrm>
          <a:prstGeom prst="rect">
            <a:avLst/>
          </a:prstGeom>
        </p:spPr>
        <p:txBody>
          <a:bodyPr lIns="0" tIns="0" rIns="0" bIns="0" rtlCol="0" anchor="t">
            <a:spAutoFit/>
          </a:bodyPr>
          <a:lstStyle/>
          <a:p>
            <a:pPr algn="l">
              <a:lnSpc>
                <a:spcPts val="3875"/>
              </a:lnSpc>
            </a:pPr>
            <a:r>
              <a:rPr lang="en-US" sz="3125" b="1">
                <a:solidFill>
                  <a:srgbClr val="FF0000"/>
                </a:solidFill>
                <a:latin typeface="Open Sans 1 Bold"/>
                <a:ea typeface="Open Sans 1 Bold"/>
                <a:cs typeface="Open Sans 1 Bold"/>
                <a:sym typeface="Open Sans 1 Bold"/>
              </a:rPr>
              <a:t>Tiếp Cận Công Nghệ AI</a:t>
            </a:r>
          </a:p>
        </p:txBody>
      </p:sp>
      <p:sp>
        <p:nvSpPr>
          <p:cNvPr id="5" name="TextBox 5"/>
          <p:cNvSpPr txBox="1"/>
          <p:nvPr/>
        </p:nvSpPr>
        <p:spPr>
          <a:xfrm>
            <a:off x="992238" y="2607469"/>
            <a:ext cx="7909770" cy="374752"/>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Đã hoàn thành và trình duyệt </a:t>
            </a:r>
            <a:r>
              <a:rPr lang="en-US" sz="1562">
                <a:solidFill>
                  <a:srgbClr val="FF0101"/>
                </a:solidFill>
                <a:latin typeface="Open Sans 1"/>
                <a:ea typeface="Open Sans 1"/>
                <a:cs typeface="Open Sans 1"/>
                <a:sym typeface="Open Sans 1"/>
              </a:rPr>
              <a:t>Đề xuất lộ trình tiếp cận kiến thức và ứng dụng AI</a:t>
            </a:r>
          </a:p>
        </p:txBody>
      </p:sp>
      <p:grpSp>
        <p:nvGrpSpPr>
          <p:cNvPr id="6" name="Group 6"/>
          <p:cNvGrpSpPr/>
          <p:nvPr/>
        </p:nvGrpSpPr>
        <p:grpSpPr>
          <a:xfrm>
            <a:off x="992238" y="3701653"/>
            <a:ext cx="5536702" cy="5536702"/>
            <a:chOff x="0" y="0"/>
            <a:chExt cx="7382269" cy="7382269"/>
          </a:xfrm>
        </p:grpSpPr>
        <p:sp>
          <p:nvSpPr>
            <p:cNvPr id="7" name="Freeform 7" descr="preencoded.png"/>
            <p:cNvSpPr/>
            <p:nvPr/>
          </p:nvSpPr>
          <p:spPr>
            <a:xfrm>
              <a:off x="0" y="0"/>
              <a:ext cx="7382256" cy="7382256"/>
            </a:xfrm>
            <a:custGeom>
              <a:avLst/>
              <a:gdLst/>
              <a:ahLst/>
              <a:cxnLst/>
              <a:rect l="l" t="t" r="r" b="b"/>
              <a:pathLst>
                <a:path w="7382256" h="7382256">
                  <a:moveTo>
                    <a:pt x="0" y="0"/>
                  </a:moveTo>
                  <a:lnTo>
                    <a:pt x="7382256" y="0"/>
                  </a:lnTo>
                  <a:lnTo>
                    <a:pt x="7382256" y="7382256"/>
                  </a:lnTo>
                  <a:lnTo>
                    <a:pt x="0" y="7382256"/>
                  </a:lnTo>
                  <a:lnTo>
                    <a:pt x="0" y="0"/>
                  </a:lnTo>
                  <a:close/>
                </a:path>
              </a:pathLst>
            </a:custGeom>
            <a:blipFill>
              <a:blip r:embed="rId3"/>
              <a:stretch>
                <a:fillRect/>
              </a:stretch>
            </a:blipFill>
          </p:spPr>
        </p:sp>
      </p:grpSp>
      <p:sp>
        <p:nvSpPr>
          <p:cNvPr id="8" name="TextBox 8"/>
          <p:cNvSpPr txBox="1"/>
          <p:nvPr/>
        </p:nvSpPr>
        <p:spPr>
          <a:xfrm>
            <a:off x="9395517" y="1960664"/>
            <a:ext cx="4754461" cy="505568"/>
          </a:xfrm>
          <a:prstGeom prst="rect">
            <a:avLst/>
          </a:prstGeom>
        </p:spPr>
        <p:txBody>
          <a:bodyPr lIns="0" tIns="0" rIns="0" bIns="0" rtlCol="0" anchor="t">
            <a:spAutoFit/>
          </a:bodyPr>
          <a:lstStyle/>
          <a:p>
            <a:pPr algn="l">
              <a:lnSpc>
                <a:spcPts val="3875"/>
              </a:lnSpc>
            </a:pPr>
            <a:r>
              <a:rPr lang="en-US" sz="3125" b="1">
                <a:solidFill>
                  <a:srgbClr val="FF0000"/>
                </a:solidFill>
                <a:latin typeface="Open Sans 1 Bold"/>
                <a:ea typeface="Open Sans 1 Bold"/>
                <a:cs typeface="Open Sans 1 Bold"/>
                <a:sym typeface="Open Sans 1 Bold"/>
              </a:rPr>
              <a:t>Hoạt động CĐS Tổng thể</a:t>
            </a:r>
          </a:p>
        </p:txBody>
      </p:sp>
      <p:grpSp>
        <p:nvGrpSpPr>
          <p:cNvPr id="9" name="Group 9"/>
          <p:cNvGrpSpPr/>
          <p:nvPr/>
        </p:nvGrpSpPr>
        <p:grpSpPr>
          <a:xfrm>
            <a:off x="9381230" y="2675182"/>
            <a:ext cx="7938345" cy="1626098"/>
            <a:chOff x="0" y="0"/>
            <a:chExt cx="10584459" cy="2168131"/>
          </a:xfrm>
        </p:grpSpPr>
        <p:sp>
          <p:nvSpPr>
            <p:cNvPr id="10" name="Freeform 10"/>
            <p:cNvSpPr/>
            <p:nvPr/>
          </p:nvSpPr>
          <p:spPr>
            <a:xfrm>
              <a:off x="19050" y="19050"/>
              <a:ext cx="10546461" cy="2130044"/>
            </a:xfrm>
            <a:custGeom>
              <a:avLst/>
              <a:gdLst/>
              <a:ahLst/>
              <a:cxnLst/>
              <a:rect l="l" t="t" r="r" b="b"/>
              <a:pathLst>
                <a:path w="10546461" h="2130044">
                  <a:moveTo>
                    <a:pt x="0" y="182880"/>
                  </a:moveTo>
                  <a:cubicBezTo>
                    <a:pt x="0" y="81915"/>
                    <a:pt x="83058" y="0"/>
                    <a:pt x="185547" y="0"/>
                  </a:cubicBezTo>
                  <a:lnTo>
                    <a:pt x="10360914" y="0"/>
                  </a:lnTo>
                  <a:cubicBezTo>
                    <a:pt x="10463403" y="0"/>
                    <a:pt x="10546461" y="81915"/>
                    <a:pt x="10546461" y="182880"/>
                  </a:cubicBezTo>
                  <a:lnTo>
                    <a:pt x="10546461" y="1947164"/>
                  </a:lnTo>
                  <a:cubicBezTo>
                    <a:pt x="10546461" y="2048129"/>
                    <a:pt x="10463403" y="2130044"/>
                    <a:pt x="10360914" y="2130044"/>
                  </a:cubicBezTo>
                  <a:lnTo>
                    <a:pt x="185547" y="2130044"/>
                  </a:lnTo>
                  <a:cubicBezTo>
                    <a:pt x="83058" y="2130044"/>
                    <a:pt x="0" y="2048129"/>
                    <a:pt x="0" y="1947164"/>
                  </a:cubicBezTo>
                  <a:close/>
                </a:path>
              </a:pathLst>
            </a:custGeom>
            <a:solidFill>
              <a:srgbClr val="FFFFFF"/>
            </a:solidFill>
          </p:spPr>
        </p:sp>
        <p:sp>
          <p:nvSpPr>
            <p:cNvPr id="11" name="Freeform 11"/>
            <p:cNvSpPr/>
            <p:nvPr/>
          </p:nvSpPr>
          <p:spPr>
            <a:xfrm>
              <a:off x="0" y="0"/>
              <a:ext cx="10584561" cy="2168144"/>
            </a:xfrm>
            <a:custGeom>
              <a:avLst/>
              <a:gdLst/>
              <a:ahLst/>
              <a:cxnLst/>
              <a:rect l="l" t="t" r="r" b="b"/>
              <a:pathLst>
                <a:path w="10584561" h="2168144">
                  <a:moveTo>
                    <a:pt x="0" y="201930"/>
                  </a:moveTo>
                  <a:cubicBezTo>
                    <a:pt x="0" y="90170"/>
                    <a:pt x="91821" y="0"/>
                    <a:pt x="204597" y="0"/>
                  </a:cubicBezTo>
                  <a:lnTo>
                    <a:pt x="10379964" y="0"/>
                  </a:lnTo>
                  <a:lnTo>
                    <a:pt x="10379964" y="19050"/>
                  </a:lnTo>
                  <a:lnTo>
                    <a:pt x="10379964" y="0"/>
                  </a:lnTo>
                  <a:cubicBezTo>
                    <a:pt x="10492613" y="0"/>
                    <a:pt x="10584561" y="90170"/>
                    <a:pt x="10584561" y="201930"/>
                  </a:cubicBezTo>
                  <a:lnTo>
                    <a:pt x="10565511" y="201930"/>
                  </a:lnTo>
                  <a:lnTo>
                    <a:pt x="10584561" y="201930"/>
                  </a:lnTo>
                  <a:lnTo>
                    <a:pt x="10584561" y="1966214"/>
                  </a:lnTo>
                  <a:lnTo>
                    <a:pt x="10565511" y="1966214"/>
                  </a:lnTo>
                  <a:lnTo>
                    <a:pt x="10584561" y="1966214"/>
                  </a:lnTo>
                  <a:cubicBezTo>
                    <a:pt x="10584561" y="2077974"/>
                    <a:pt x="10492740" y="2168144"/>
                    <a:pt x="10379964" y="2168144"/>
                  </a:cubicBezTo>
                  <a:lnTo>
                    <a:pt x="10379964" y="2149094"/>
                  </a:lnTo>
                  <a:lnTo>
                    <a:pt x="10379964" y="2168144"/>
                  </a:lnTo>
                  <a:lnTo>
                    <a:pt x="204597" y="2168144"/>
                  </a:lnTo>
                  <a:lnTo>
                    <a:pt x="204597" y="2149094"/>
                  </a:lnTo>
                  <a:lnTo>
                    <a:pt x="204597" y="2168144"/>
                  </a:lnTo>
                  <a:cubicBezTo>
                    <a:pt x="91948" y="2168144"/>
                    <a:pt x="0" y="2077974"/>
                    <a:pt x="0" y="1966214"/>
                  </a:cubicBezTo>
                  <a:lnTo>
                    <a:pt x="0" y="201930"/>
                  </a:lnTo>
                  <a:lnTo>
                    <a:pt x="19050" y="201930"/>
                  </a:lnTo>
                  <a:lnTo>
                    <a:pt x="0" y="201930"/>
                  </a:lnTo>
                  <a:moveTo>
                    <a:pt x="38100" y="201930"/>
                  </a:moveTo>
                  <a:lnTo>
                    <a:pt x="38100" y="1966214"/>
                  </a:lnTo>
                  <a:lnTo>
                    <a:pt x="19050" y="1966214"/>
                  </a:lnTo>
                  <a:lnTo>
                    <a:pt x="38100" y="1966214"/>
                  </a:lnTo>
                  <a:cubicBezTo>
                    <a:pt x="38100" y="2056384"/>
                    <a:pt x="112395" y="2130044"/>
                    <a:pt x="204597" y="2130044"/>
                  </a:cubicBezTo>
                  <a:lnTo>
                    <a:pt x="10379964" y="2130044"/>
                  </a:lnTo>
                  <a:cubicBezTo>
                    <a:pt x="10472166" y="2130044"/>
                    <a:pt x="10546461" y="2056384"/>
                    <a:pt x="10546461" y="1966214"/>
                  </a:cubicBezTo>
                  <a:lnTo>
                    <a:pt x="10546461" y="201930"/>
                  </a:lnTo>
                  <a:cubicBezTo>
                    <a:pt x="10546461" y="111760"/>
                    <a:pt x="10472166" y="38100"/>
                    <a:pt x="10379964" y="38100"/>
                  </a:cubicBezTo>
                  <a:lnTo>
                    <a:pt x="204597" y="38100"/>
                  </a:lnTo>
                  <a:lnTo>
                    <a:pt x="204597" y="19050"/>
                  </a:lnTo>
                  <a:lnTo>
                    <a:pt x="204597" y="38100"/>
                  </a:lnTo>
                  <a:cubicBezTo>
                    <a:pt x="112395" y="38100"/>
                    <a:pt x="38100" y="111760"/>
                    <a:pt x="38100" y="201930"/>
                  </a:cubicBezTo>
                  <a:close/>
                </a:path>
              </a:pathLst>
            </a:custGeom>
            <a:solidFill>
              <a:srgbClr val="E5B2B2"/>
            </a:solidFill>
          </p:spPr>
        </p:sp>
      </p:grpSp>
      <p:grpSp>
        <p:nvGrpSpPr>
          <p:cNvPr id="12" name="Group 12"/>
          <p:cNvGrpSpPr/>
          <p:nvPr/>
        </p:nvGrpSpPr>
        <p:grpSpPr>
          <a:xfrm>
            <a:off x="9366942" y="2689469"/>
            <a:ext cx="114300" cy="1597523"/>
            <a:chOff x="0" y="0"/>
            <a:chExt cx="152400" cy="2130031"/>
          </a:xfrm>
        </p:grpSpPr>
        <p:sp>
          <p:nvSpPr>
            <p:cNvPr id="13" name="Freeform 13"/>
            <p:cNvSpPr/>
            <p:nvPr/>
          </p:nvSpPr>
          <p:spPr>
            <a:xfrm>
              <a:off x="0" y="0"/>
              <a:ext cx="152400" cy="2130044"/>
            </a:xfrm>
            <a:custGeom>
              <a:avLst/>
              <a:gdLst/>
              <a:ahLst/>
              <a:cxnLst/>
              <a:rect l="l" t="t" r="r" b="b"/>
              <a:pathLst>
                <a:path w="152400" h="2130044">
                  <a:moveTo>
                    <a:pt x="0" y="76200"/>
                  </a:moveTo>
                  <a:cubicBezTo>
                    <a:pt x="0" y="34163"/>
                    <a:pt x="34163" y="0"/>
                    <a:pt x="76200" y="0"/>
                  </a:cubicBezTo>
                  <a:cubicBezTo>
                    <a:pt x="118237" y="0"/>
                    <a:pt x="152400" y="34163"/>
                    <a:pt x="152400" y="76200"/>
                  </a:cubicBezTo>
                  <a:lnTo>
                    <a:pt x="152400" y="2053844"/>
                  </a:lnTo>
                  <a:cubicBezTo>
                    <a:pt x="152400" y="2095881"/>
                    <a:pt x="118237" y="2130044"/>
                    <a:pt x="76200" y="2130044"/>
                  </a:cubicBezTo>
                  <a:cubicBezTo>
                    <a:pt x="34163" y="2130044"/>
                    <a:pt x="0" y="2095881"/>
                    <a:pt x="0" y="2053844"/>
                  </a:cubicBezTo>
                  <a:close/>
                </a:path>
              </a:pathLst>
            </a:custGeom>
            <a:solidFill>
              <a:srgbClr val="FF0101"/>
            </a:solidFill>
          </p:spPr>
        </p:sp>
      </p:grpSp>
      <p:sp>
        <p:nvSpPr>
          <p:cNvPr id="14" name="TextBox 14"/>
          <p:cNvSpPr txBox="1"/>
          <p:nvPr/>
        </p:nvSpPr>
        <p:spPr>
          <a:xfrm>
            <a:off x="9708204" y="2897391"/>
            <a:ext cx="2989955"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Phối hợp Phòng Kế Toán</a:t>
            </a:r>
          </a:p>
        </p:txBody>
      </p:sp>
      <p:sp>
        <p:nvSpPr>
          <p:cNvPr id="15" name="TextBox 15"/>
          <p:cNvSpPr txBox="1"/>
          <p:nvPr/>
        </p:nvSpPr>
        <p:spPr>
          <a:xfrm>
            <a:off x="9708204" y="3367678"/>
            <a:ext cx="7370121" cy="692353"/>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Tổ chức họp đánh giá giải pháp cho </a:t>
            </a:r>
            <a:r>
              <a:rPr lang="en-US" sz="1562" b="1">
                <a:solidFill>
                  <a:srgbClr val="000099"/>
                </a:solidFill>
                <a:latin typeface="Open Sans 1 Bold"/>
                <a:ea typeface="Open Sans 1 Bold"/>
                <a:cs typeface="Open Sans 1 Bold"/>
                <a:sym typeface="Open Sans 1 Bold"/>
              </a:rPr>
              <a:t>11 issues</a:t>
            </a:r>
            <a:r>
              <a:rPr lang="en-US" sz="1562">
                <a:solidFill>
                  <a:srgbClr val="000099"/>
                </a:solidFill>
                <a:latin typeface="Open Sans 1"/>
                <a:ea typeface="Open Sans 1"/>
                <a:cs typeface="Open Sans 1"/>
                <a:sym typeface="Open Sans 1"/>
              </a:rPr>
              <a:t> phát sinh và đề xuất lựa chọn đơn vị thực hiện để giải quyết dứt điểm các vấn đề tồn đọng.</a:t>
            </a:r>
          </a:p>
        </p:txBody>
      </p:sp>
      <p:grpSp>
        <p:nvGrpSpPr>
          <p:cNvPr id="16" name="Group 16"/>
          <p:cNvGrpSpPr/>
          <p:nvPr/>
        </p:nvGrpSpPr>
        <p:grpSpPr>
          <a:xfrm>
            <a:off x="9381230" y="4471092"/>
            <a:ext cx="7938345" cy="1626098"/>
            <a:chOff x="0" y="0"/>
            <a:chExt cx="10584459" cy="2168131"/>
          </a:xfrm>
        </p:grpSpPr>
        <p:sp>
          <p:nvSpPr>
            <p:cNvPr id="17" name="Freeform 17"/>
            <p:cNvSpPr/>
            <p:nvPr/>
          </p:nvSpPr>
          <p:spPr>
            <a:xfrm>
              <a:off x="19050" y="19050"/>
              <a:ext cx="10546461" cy="2130044"/>
            </a:xfrm>
            <a:custGeom>
              <a:avLst/>
              <a:gdLst/>
              <a:ahLst/>
              <a:cxnLst/>
              <a:rect l="l" t="t" r="r" b="b"/>
              <a:pathLst>
                <a:path w="10546461" h="2130044">
                  <a:moveTo>
                    <a:pt x="0" y="182880"/>
                  </a:moveTo>
                  <a:cubicBezTo>
                    <a:pt x="0" y="81915"/>
                    <a:pt x="83058" y="0"/>
                    <a:pt x="185547" y="0"/>
                  </a:cubicBezTo>
                  <a:lnTo>
                    <a:pt x="10360914" y="0"/>
                  </a:lnTo>
                  <a:cubicBezTo>
                    <a:pt x="10463403" y="0"/>
                    <a:pt x="10546461" y="81915"/>
                    <a:pt x="10546461" y="182880"/>
                  </a:cubicBezTo>
                  <a:lnTo>
                    <a:pt x="10546461" y="1947164"/>
                  </a:lnTo>
                  <a:cubicBezTo>
                    <a:pt x="10546461" y="2048129"/>
                    <a:pt x="10463403" y="2130044"/>
                    <a:pt x="10360914" y="2130044"/>
                  </a:cubicBezTo>
                  <a:lnTo>
                    <a:pt x="185547" y="2130044"/>
                  </a:lnTo>
                  <a:cubicBezTo>
                    <a:pt x="83058" y="2130044"/>
                    <a:pt x="0" y="2048129"/>
                    <a:pt x="0" y="1947164"/>
                  </a:cubicBezTo>
                  <a:close/>
                </a:path>
              </a:pathLst>
            </a:custGeom>
            <a:solidFill>
              <a:srgbClr val="FFFFFF"/>
            </a:solidFill>
          </p:spPr>
        </p:sp>
        <p:sp>
          <p:nvSpPr>
            <p:cNvPr id="18" name="Freeform 18"/>
            <p:cNvSpPr/>
            <p:nvPr/>
          </p:nvSpPr>
          <p:spPr>
            <a:xfrm>
              <a:off x="0" y="0"/>
              <a:ext cx="10584561" cy="2168144"/>
            </a:xfrm>
            <a:custGeom>
              <a:avLst/>
              <a:gdLst/>
              <a:ahLst/>
              <a:cxnLst/>
              <a:rect l="l" t="t" r="r" b="b"/>
              <a:pathLst>
                <a:path w="10584561" h="2168144">
                  <a:moveTo>
                    <a:pt x="0" y="201930"/>
                  </a:moveTo>
                  <a:cubicBezTo>
                    <a:pt x="0" y="90170"/>
                    <a:pt x="91821" y="0"/>
                    <a:pt x="204597" y="0"/>
                  </a:cubicBezTo>
                  <a:lnTo>
                    <a:pt x="10379964" y="0"/>
                  </a:lnTo>
                  <a:lnTo>
                    <a:pt x="10379964" y="19050"/>
                  </a:lnTo>
                  <a:lnTo>
                    <a:pt x="10379964" y="0"/>
                  </a:lnTo>
                  <a:cubicBezTo>
                    <a:pt x="10492613" y="0"/>
                    <a:pt x="10584561" y="90170"/>
                    <a:pt x="10584561" y="201930"/>
                  </a:cubicBezTo>
                  <a:lnTo>
                    <a:pt x="10565511" y="201930"/>
                  </a:lnTo>
                  <a:lnTo>
                    <a:pt x="10584561" y="201930"/>
                  </a:lnTo>
                  <a:lnTo>
                    <a:pt x="10584561" y="1966214"/>
                  </a:lnTo>
                  <a:lnTo>
                    <a:pt x="10565511" y="1966214"/>
                  </a:lnTo>
                  <a:lnTo>
                    <a:pt x="10584561" y="1966214"/>
                  </a:lnTo>
                  <a:cubicBezTo>
                    <a:pt x="10584561" y="2077974"/>
                    <a:pt x="10492740" y="2168144"/>
                    <a:pt x="10379964" y="2168144"/>
                  </a:cubicBezTo>
                  <a:lnTo>
                    <a:pt x="10379964" y="2149094"/>
                  </a:lnTo>
                  <a:lnTo>
                    <a:pt x="10379964" y="2168144"/>
                  </a:lnTo>
                  <a:lnTo>
                    <a:pt x="204597" y="2168144"/>
                  </a:lnTo>
                  <a:lnTo>
                    <a:pt x="204597" y="2149094"/>
                  </a:lnTo>
                  <a:lnTo>
                    <a:pt x="204597" y="2168144"/>
                  </a:lnTo>
                  <a:cubicBezTo>
                    <a:pt x="91948" y="2168144"/>
                    <a:pt x="0" y="2077974"/>
                    <a:pt x="0" y="1966214"/>
                  </a:cubicBezTo>
                  <a:lnTo>
                    <a:pt x="0" y="201930"/>
                  </a:lnTo>
                  <a:lnTo>
                    <a:pt x="19050" y="201930"/>
                  </a:lnTo>
                  <a:lnTo>
                    <a:pt x="0" y="201930"/>
                  </a:lnTo>
                  <a:moveTo>
                    <a:pt x="38100" y="201930"/>
                  </a:moveTo>
                  <a:lnTo>
                    <a:pt x="38100" y="1966214"/>
                  </a:lnTo>
                  <a:lnTo>
                    <a:pt x="19050" y="1966214"/>
                  </a:lnTo>
                  <a:lnTo>
                    <a:pt x="38100" y="1966214"/>
                  </a:lnTo>
                  <a:cubicBezTo>
                    <a:pt x="38100" y="2056384"/>
                    <a:pt x="112395" y="2130044"/>
                    <a:pt x="204597" y="2130044"/>
                  </a:cubicBezTo>
                  <a:lnTo>
                    <a:pt x="10379964" y="2130044"/>
                  </a:lnTo>
                  <a:cubicBezTo>
                    <a:pt x="10472166" y="2130044"/>
                    <a:pt x="10546461" y="2056384"/>
                    <a:pt x="10546461" y="1966214"/>
                  </a:cubicBezTo>
                  <a:lnTo>
                    <a:pt x="10546461" y="201930"/>
                  </a:lnTo>
                  <a:cubicBezTo>
                    <a:pt x="10546461" y="111760"/>
                    <a:pt x="10472166" y="38100"/>
                    <a:pt x="10379964" y="38100"/>
                  </a:cubicBezTo>
                  <a:lnTo>
                    <a:pt x="204597" y="38100"/>
                  </a:lnTo>
                  <a:lnTo>
                    <a:pt x="204597" y="19050"/>
                  </a:lnTo>
                  <a:lnTo>
                    <a:pt x="204597" y="38100"/>
                  </a:lnTo>
                  <a:cubicBezTo>
                    <a:pt x="112395" y="38100"/>
                    <a:pt x="38100" y="111760"/>
                    <a:pt x="38100" y="201930"/>
                  </a:cubicBezTo>
                  <a:close/>
                </a:path>
              </a:pathLst>
            </a:custGeom>
            <a:solidFill>
              <a:srgbClr val="E5B2B2"/>
            </a:solidFill>
          </p:spPr>
        </p:sp>
      </p:grpSp>
      <p:grpSp>
        <p:nvGrpSpPr>
          <p:cNvPr id="19" name="Group 19"/>
          <p:cNvGrpSpPr/>
          <p:nvPr/>
        </p:nvGrpSpPr>
        <p:grpSpPr>
          <a:xfrm>
            <a:off x="9366942" y="4485380"/>
            <a:ext cx="114300" cy="1597523"/>
            <a:chOff x="0" y="0"/>
            <a:chExt cx="152400" cy="2130031"/>
          </a:xfrm>
        </p:grpSpPr>
        <p:sp>
          <p:nvSpPr>
            <p:cNvPr id="20" name="Freeform 20"/>
            <p:cNvSpPr/>
            <p:nvPr/>
          </p:nvSpPr>
          <p:spPr>
            <a:xfrm>
              <a:off x="0" y="0"/>
              <a:ext cx="152400" cy="2130044"/>
            </a:xfrm>
            <a:custGeom>
              <a:avLst/>
              <a:gdLst/>
              <a:ahLst/>
              <a:cxnLst/>
              <a:rect l="l" t="t" r="r" b="b"/>
              <a:pathLst>
                <a:path w="152400" h="2130044">
                  <a:moveTo>
                    <a:pt x="0" y="76200"/>
                  </a:moveTo>
                  <a:cubicBezTo>
                    <a:pt x="0" y="34163"/>
                    <a:pt x="34163" y="0"/>
                    <a:pt x="76200" y="0"/>
                  </a:cubicBezTo>
                  <a:cubicBezTo>
                    <a:pt x="118237" y="0"/>
                    <a:pt x="152400" y="34163"/>
                    <a:pt x="152400" y="76200"/>
                  </a:cubicBezTo>
                  <a:lnTo>
                    <a:pt x="152400" y="2053844"/>
                  </a:lnTo>
                  <a:cubicBezTo>
                    <a:pt x="152400" y="2095881"/>
                    <a:pt x="118237" y="2130044"/>
                    <a:pt x="76200" y="2130044"/>
                  </a:cubicBezTo>
                  <a:cubicBezTo>
                    <a:pt x="34163" y="2130044"/>
                    <a:pt x="0" y="2095881"/>
                    <a:pt x="0" y="2053844"/>
                  </a:cubicBezTo>
                  <a:close/>
                </a:path>
              </a:pathLst>
            </a:custGeom>
            <a:solidFill>
              <a:srgbClr val="FF0101"/>
            </a:solidFill>
          </p:spPr>
        </p:sp>
      </p:grpSp>
      <p:sp>
        <p:nvSpPr>
          <p:cNvPr id="21" name="TextBox 21"/>
          <p:cNvSpPr txBox="1"/>
          <p:nvPr/>
        </p:nvSpPr>
        <p:spPr>
          <a:xfrm>
            <a:off x="9708204" y="4693291"/>
            <a:ext cx="2480815" cy="329060"/>
          </a:xfrm>
          <a:prstGeom prst="rect">
            <a:avLst/>
          </a:prstGeom>
        </p:spPr>
        <p:txBody>
          <a:bodyPr lIns="0" tIns="0" rIns="0" bIns="0" rtlCol="0" anchor="t">
            <a:spAutoFit/>
          </a:bodyPr>
          <a:lstStyle/>
          <a:p>
            <a:pPr algn="l">
              <a:lnSpc>
                <a:spcPts val="2437"/>
              </a:lnSpc>
            </a:pPr>
            <a:r>
              <a:rPr lang="en-US" sz="1937" b="1">
                <a:solidFill>
                  <a:srgbClr val="000099"/>
                </a:solidFill>
                <a:latin typeface="Open Sans 1 Bold"/>
                <a:ea typeface="Open Sans 1 Bold"/>
                <a:cs typeface="Open Sans 1 Bold"/>
                <a:sym typeface="Open Sans 1 Bold"/>
              </a:rPr>
              <a:t>Họp Về CĐS Nội Bộ</a:t>
            </a:r>
          </a:p>
        </p:txBody>
      </p:sp>
      <p:sp>
        <p:nvSpPr>
          <p:cNvPr id="22" name="TextBox 22"/>
          <p:cNvSpPr txBox="1"/>
          <p:nvPr/>
        </p:nvSpPr>
        <p:spPr>
          <a:xfrm>
            <a:off x="9708204" y="5163588"/>
            <a:ext cx="7370121" cy="692353"/>
          </a:xfrm>
          <a:prstGeom prst="rect">
            <a:avLst/>
          </a:prstGeom>
        </p:spPr>
        <p:txBody>
          <a:bodyPr lIns="0" tIns="0" rIns="0" bIns="0" rtlCol="0" anchor="t">
            <a:spAutoFit/>
          </a:bodyPr>
          <a:lstStyle/>
          <a:p>
            <a:pPr algn="l">
              <a:lnSpc>
                <a:spcPts val="2499"/>
              </a:lnSpc>
            </a:pPr>
            <a:r>
              <a:rPr lang="en-US" sz="1562">
                <a:solidFill>
                  <a:srgbClr val="000099"/>
                </a:solidFill>
                <a:latin typeface="Open Sans 1"/>
                <a:ea typeface="Open Sans 1"/>
                <a:cs typeface="Open Sans 1"/>
                <a:sym typeface="Open Sans 1"/>
              </a:rPr>
              <a:t>Tổ chức họp với Phòng Kỹ Thuật (P.KT) để thống nhất các vấn đề liên quan đến chiến lược và các dự án </a:t>
            </a:r>
            <a:r>
              <a:rPr lang="en-US" sz="1562" b="1">
                <a:solidFill>
                  <a:srgbClr val="000099"/>
                </a:solidFill>
                <a:latin typeface="Open Sans 1 Bold"/>
                <a:ea typeface="Open Sans 1 Bold"/>
                <a:cs typeface="Open Sans 1 Bold"/>
                <a:sym typeface="Open Sans 1 Bold"/>
              </a:rPr>
              <a:t>Chuyển đổi số</a:t>
            </a:r>
            <a:r>
              <a:rPr lang="en-US" sz="1562">
                <a:solidFill>
                  <a:srgbClr val="000099"/>
                </a:solidFill>
                <a:latin typeface="Open Sans 1"/>
                <a:ea typeface="Open Sans 1"/>
                <a:cs typeface="Open Sans 1"/>
                <a:sym typeface="Open Sans 1"/>
              </a:rPr>
              <a:t> đang triển khai.</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2458936"/>
            <a:ext cx="15246772" cy="871537"/>
          </a:xfrm>
          <a:prstGeom prst="rect">
            <a:avLst/>
          </a:prstGeom>
        </p:spPr>
        <p:txBody>
          <a:bodyPr lIns="0" tIns="0" rIns="0" bIns="0" rtlCol="0" anchor="t">
            <a:spAutoFit/>
          </a:bodyPr>
          <a:lstStyle/>
          <a:p>
            <a:pPr algn="l">
              <a:lnSpc>
                <a:spcPts val="6937"/>
              </a:lnSpc>
            </a:pPr>
            <a:r>
              <a:rPr lang="en-US" sz="5562" b="1">
                <a:solidFill>
                  <a:srgbClr val="FF0000"/>
                </a:solidFill>
                <a:latin typeface="Open Sans 1 Bold"/>
                <a:ea typeface="Open Sans 1 Bold"/>
                <a:cs typeface="Open Sans 1 Bold"/>
                <a:sym typeface="Open Sans 1 Bold"/>
              </a:rPr>
              <a:t>E. TỔNG HỢP CÁC CÔNG VIỆC HOÀN THÀNH</a:t>
            </a:r>
          </a:p>
        </p:txBody>
      </p:sp>
      <p:sp>
        <p:nvSpPr>
          <p:cNvPr id="4" name="TextBox 4"/>
          <p:cNvSpPr txBox="1"/>
          <p:nvPr/>
        </p:nvSpPr>
        <p:spPr>
          <a:xfrm>
            <a:off x="992238" y="4225080"/>
            <a:ext cx="3810000" cy="792661"/>
          </a:xfrm>
          <a:prstGeom prst="rect">
            <a:avLst/>
          </a:prstGeom>
        </p:spPr>
        <p:txBody>
          <a:bodyPr lIns="0" tIns="0" rIns="0" bIns="0" rtlCol="0" anchor="t">
            <a:spAutoFit/>
          </a:bodyPr>
          <a:lstStyle/>
          <a:p>
            <a:pPr algn="ctr">
              <a:lnSpc>
                <a:spcPts val="7312"/>
              </a:lnSpc>
            </a:pPr>
            <a:r>
              <a:rPr lang="en-US" sz="7312" b="1">
                <a:solidFill>
                  <a:srgbClr val="000099"/>
                </a:solidFill>
                <a:latin typeface="Open Sans 1 Bold"/>
                <a:ea typeface="Open Sans 1 Bold"/>
                <a:cs typeface="Open Sans 1 Bold"/>
                <a:sym typeface="Open Sans 1 Bold"/>
              </a:rPr>
              <a:t>—</a:t>
            </a:r>
          </a:p>
        </p:txBody>
      </p:sp>
      <p:sp>
        <p:nvSpPr>
          <p:cNvPr id="5" name="TextBox 5"/>
          <p:cNvSpPr txBox="1"/>
          <p:nvPr/>
        </p:nvSpPr>
        <p:spPr>
          <a:xfrm>
            <a:off x="1125141" y="5362423"/>
            <a:ext cx="3544043" cy="452437"/>
          </a:xfrm>
          <a:prstGeom prst="rect">
            <a:avLst/>
          </a:prstGeom>
        </p:spPr>
        <p:txBody>
          <a:bodyPr lIns="0" tIns="0" rIns="0" bIns="0" rtlCol="0" anchor="t">
            <a:spAutoFit/>
          </a:bodyPr>
          <a:lstStyle/>
          <a:p>
            <a:pPr algn="ctr">
              <a:lnSpc>
                <a:spcPts val="3437"/>
              </a:lnSpc>
            </a:pPr>
            <a:r>
              <a:rPr lang="en-US" sz="2750" b="1">
                <a:solidFill>
                  <a:srgbClr val="000099"/>
                </a:solidFill>
                <a:latin typeface="Open Sans 1 Bold"/>
                <a:ea typeface="Open Sans 1 Bold"/>
                <a:cs typeface="Open Sans 1 Bold"/>
                <a:sym typeface="Open Sans 1 Bold"/>
              </a:rPr>
              <a:t>Hợp Đồng Bảo Trì</a:t>
            </a:r>
          </a:p>
        </p:txBody>
      </p:sp>
      <p:sp>
        <p:nvSpPr>
          <p:cNvPr id="6" name="TextBox 6"/>
          <p:cNvSpPr txBox="1"/>
          <p:nvPr/>
        </p:nvSpPr>
        <p:spPr>
          <a:xfrm>
            <a:off x="992238" y="5899252"/>
            <a:ext cx="3810000" cy="1446609"/>
          </a:xfrm>
          <a:prstGeom prst="rect">
            <a:avLst/>
          </a:prstGeom>
        </p:spPr>
        <p:txBody>
          <a:bodyPr lIns="0" tIns="0" rIns="0" bIns="0" rtlCol="0" anchor="t">
            <a:spAutoFit/>
          </a:bodyPr>
          <a:lstStyle/>
          <a:p>
            <a:pPr algn="ctr">
              <a:lnSpc>
                <a:spcPts val="3562"/>
              </a:lnSpc>
            </a:pPr>
            <a:r>
              <a:rPr lang="en-US" sz="2187">
                <a:solidFill>
                  <a:srgbClr val="000099"/>
                </a:solidFill>
                <a:latin typeface="Open Sans 1"/>
                <a:ea typeface="Open Sans 1"/>
                <a:cs typeface="Open Sans 1"/>
                <a:sym typeface="Open Sans 1"/>
              </a:rPr>
              <a:t>Hoàn thành ký duyệt Hợp đồng bảo trì 06 tháng Database + DRSite.</a:t>
            </a:r>
          </a:p>
        </p:txBody>
      </p:sp>
      <p:sp>
        <p:nvSpPr>
          <p:cNvPr id="7" name="TextBox 7"/>
          <p:cNvSpPr txBox="1"/>
          <p:nvPr/>
        </p:nvSpPr>
        <p:spPr>
          <a:xfrm>
            <a:off x="5156597" y="4225080"/>
            <a:ext cx="3810152" cy="792661"/>
          </a:xfrm>
          <a:prstGeom prst="rect">
            <a:avLst/>
          </a:prstGeom>
        </p:spPr>
        <p:txBody>
          <a:bodyPr lIns="0" tIns="0" rIns="0" bIns="0" rtlCol="0" anchor="t">
            <a:spAutoFit/>
          </a:bodyPr>
          <a:lstStyle/>
          <a:p>
            <a:pPr algn="ctr">
              <a:lnSpc>
                <a:spcPts val="7312"/>
              </a:lnSpc>
            </a:pPr>
            <a:r>
              <a:rPr lang="en-US" sz="7312" b="1">
                <a:solidFill>
                  <a:srgbClr val="000099"/>
                </a:solidFill>
                <a:latin typeface="Open Sans 1 Bold"/>
                <a:ea typeface="Open Sans 1 Bold"/>
                <a:cs typeface="Open Sans 1 Bold"/>
                <a:sym typeface="Open Sans 1 Bold"/>
              </a:rPr>
              <a:t>—</a:t>
            </a:r>
          </a:p>
        </p:txBody>
      </p:sp>
      <p:sp>
        <p:nvSpPr>
          <p:cNvPr id="8" name="TextBox 8"/>
          <p:cNvSpPr txBox="1"/>
          <p:nvPr/>
        </p:nvSpPr>
        <p:spPr>
          <a:xfrm>
            <a:off x="5289652" y="5362423"/>
            <a:ext cx="3544043" cy="452437"/>
          </a:xfrm>
          <a:prstGeom prst="rect">
            <a:avLst/>
          </a:prstGeom>
        </p:spPr>
        <p:txBody>
          <a:bodyPr lIns="0" tIns="0" rIns="0" bIns="0" rtlCol="0" anchor="t">
            <a:spAutoFit/>
          </a:bodyPr>
          <a:lstStyle/>
          <a:p>
            <a:pPr algn="ctr">
              <a:lnSpc>
                <a:spcPts val="3437"/>
              </a:lnSpc>
            </a:pPr>
            <a:r>
              <a:rPr lang="en-US" sz="2750" b="1">
                <a:solidFill>
                  <a:srgbClr val="000099"/>
                </a:solidFill>
                <a:latin typeface="Open Sans 1 Bold"/>
                <a:ea typeface="Open Sans 1 Bold"/>
                <a:cs typeface="Open Sans 1 Bold"/>
                <a:sym typeface="Open Sans 1 Bold"/>
              </a:rPr>
              <a:t>Camera Hoạt Động</a:t>
            </a:r>
          </a:p>
        </p:txBody>
      </p:sp>
      <p:sp>
        <p:nvSpPr>
          <p:cNvPr id="9" name="TextBox 9"/>
          <p:cNvSpPr txBox="1"/>
          <p:nvPr/>
        </p:nvSpPr>
        <p:spPr>
          <a:xfrm>
            <a:off x="5156597" y="5899252"/>
            <a:ext cx="3810152" cy="1900237"/>
          </a:xfrm>
          <a:prstGeom prst="rect">
            <a:avLst/>
          </a:prstGeom>
        </p:spPr>
        <p:txBody>
          <a:bodyPr lIns="0" tIns="0" rIns="0" bIns="0" rtlCol="0" anchor="t">
            <a:spAutoFit/>
          </a:bodyPr>
          <a:lstStyle/>
          <a:p>
            <a:pPr algn="ctr">
              <a:lnSpc>
                <a:spcPts val="3562"/>
              </a:lnSpc>
            </a:pPr>
            <a:r>
              <a:rPr lang="en-US" sz="2187">
                <a:solidFill>
                  <a:srgbClr val="000099"/>
                </a:solidFill>
                <a:latin typeface="Open Sans 1"/>
                <a:ea typeface="Open Sans 1"/>
                <a:cs typeface="Open Sans 1"/>
                <a:sym typeface="Open Sans 1"/>
              </a:rPr>
              <a:t>Số kênh camera đã kiểm tra và xác nhận hoạt động ổn định tại TDM (trong tổng 205).</a:t>
            </a:r>
          </a:p>
        </p:txBody>
      </p:sp>
      <p:sp>
        <p:nvSpPr>
          <p:cNvPr id="10" name="TextBox 10"/>
          <p:cNvSpPr txBox="1"/>
          <p:nvPr/>
        </p:nvSpPr>
        <p:spPr>
          <a:xfrm>
            <a:off x="9321108" y="4225080"/>
            <a:ext cx="3810152" cy="792661"/>
          </a:xfrm>
          <a:prstGeom prst="rect">
            <a:avLst/>
          </a:prstGeom>
        </p:spPr>
        <p:txBody>
          <a:bodyPr lIns="0" tIns="0" rIns="0" bIns="0" rtlCol="0" anchor="t">
            <a:spAutoFit/>
          </a:bodyPr>
          <a:lstStyle/>
          <a:p>
            <a:pPr algn="ctr">
              <a:lnSpc>
                <a:spcPts val="7312"/>
              </a:lnSpc>
            </a:pPr>
            <a:r>
              <a:rPr lang="en-US" sz="7312" b="1">
                <a:solidFill>
                  <a:srgbClr val="000099"/>
                </a:solidFill>
                <a:latin typeface="Open Sans 1 Bold"/>
                <a:ea typeface="Open Sans 1 Bold"/>
                <a:cs typeface="Open Sans 1 Bold"/>
                <a:sym typeface="Open Sans 1 Bold"/>
              </a:rPr>
              <a:t>—</a:t>
            </a:r>
          </a:p>
        </p:txBody>
      </p:sp>
      <p:sp>
        <p:nvSpPr>
          <p:cNvPr id="11" name="TextBox 11"/>
          <p:cNvSpPr txBox="1"/>
          <p:nvPr/>
        </p:nvSpPr>
        <p:spPr>
          <a:xfrm>
            <a:off x="9454153" y="5362423"/>
            <a:ext cx="3544043" cy="452437"/>
          </a:xfrm>
          <a:prstGeom prst="rect">
            <a:avLst/>
          </a:prstGeom>
        </p:spPr>
        <p:txBody>
          <a:bodyPr lIns="0" tIns="0" rIns="0" bIns="0" rtlCol="0" anchor="t">
            <a:spAutoFit/>
          </a:bodyPr>
          <a:lstStyle/>
          <a:p>
            <a:pPr algn="ctr">
              <a:lnSpc>
                <a:spcPts val="3437"/>
              </a:lnSpc>
            </a:pPr>
            <a:r>
              <a:rPr lang="en-US" sz="2750" b="1">
                <a:solidFill>
                  <a:srgbClr val="000099"/>
                </a:solidFill>
                <a:latin typeface="Open Sans 1 Bold"/>
                <a:ea typeface="Open Sans 1 Bold"/>
                <a:cs typeface="Open Sans 1 Bold"/>
                <a:sym typeface="Open Sans 1 Bold"/>
              </a:rPr>
              <a:t>HĐĐT Nghiệm Thu</a:t>
            </a:r>
          </a:p>
        </p:txBody>
      </p:sp>
      <p:sp>
        <p:nvSpPr>
          <p:cNvPr id="12" name="TextBox 12"/>
          <p:cNvSpPr txBox="1"/>
          <p:nvPr/>
        </p:nvSpPr>
        <p:spPr>
          <a:xfrm>
            <a:off x="9321108" y="5899252"/>
            <a:ext cx="3810152" cy="1900237"/>
          </a:xfrm>
          <a:prstGeom prst="rect">
            <a:avLst/>
          </a:prstGeom>
        </p:spPr>
        <p:txBody>
          <a:bodyPr lIns="0" tIns="0" rIns="0" bIns="0" rtlCol="0" anchor="t">
            <a:spAutoFit/>
          </a:bodyPr>
          <a:lstStyle/>
          <a:p>
            <a:pPr algn="ctr">
              <a:lnSpc>
                <a:spcPts val="3562"/>
              </a:lnSpc>
            </a:pPr>
            <a:r>
              <a:rPr lang="en-US" sz="2187">
                <a:solidFill>
                  <a:srgbClr val="000099"/>
                </a:solidFill>
                <a:latin typeface="Open Sans 1"/>
                <a:ea typeface="Open Sans 1"/>
                <a:cs typeface="Open Sans 1"/>
                <a:sym typeface="Open Sans 1"/>
              </a:rPr>
              <a:t>Hoàn thành tất cả các Biên bản Nghiệm thu liên quan đến Hóa đơn Điện tử cải tiến ND70.</a:t>
            </a:r>
          </a:p>
        </p:txBody>
      </p:sp>
      <p:sp>
        <p:nvSpPr>
          <p:cNvPr id="13" name="TextBox 13"/>
          <p:cNvSpPr txBox="1"/>
          <p:nvPr/>
        </p:nvSpPr>
        <p:spPr>
          <a:xfrm>
            <a:off x="13485609" y="4225080"/>
            <a:ext cx="3810152" cy="792661"/>
          </a:xfrm>
          <a:prstGeom prst="rect">
            <a:avLst/>
          </a:prstGeom>
        </p:spPr>
        <p:txBody>
          <a:bodyPr lIns="0" tIns="0" rIns="0" bIns="0" rtlCol="0" anchor="t">
            <a:spAutoFit/>
          </a:bodyPr>
          <a:lstStyle/>
          <a:p>
            <a:pPr algn="ctr">
              <a:lnSpc>
                <a:spcPts val="7312"/>
              </a:lnSpc>
            </a:pPr>
            <a:r>
              <a:rPr lang="en-US" sz="7312" b="1">
                <a:solidFill>
                  <a:srgbClr val="000099"/>
                </a:solidFill>
                <a:latin typeface="Open Sans 1 Bold"/>
                <a:ea typeface="Open Sans 1 Bold"/>
                <a:cs typeface="Open Sans 1 Bold"/>
                <a:sym typeface="Open Sans 1 Bold"/>
              </a:rPr>
              <a:t>—</a:t>
            </a:r>
          </a:p>
        </p:txBody>
      </p:sp>
      <p:sp>
        <p:nvSpPr>
          <p:cNvPr id="14" name="TextBox 14"/>
          <p:cNvSpPr txBox="1"/>
          <p:nvPr/>
        </p:nvSpPr>
        <p:spPr>
          <a:xfrm>
            <a:off x="13618664" y="5362423"/>
            <a:ext cx="3544043" cy="452437"/>
          </a:xfrm>
          <a:prstGeom prst="rect">
            <a:avLst/>
          </a:prstGeom>
        </p:spPr>
        <p:txBody>
          <a:bodyPr lIns="0" tIns="0" rIns="0" bIns="0" rtlCol="0" anchor="t">
            <a:spAutoFit/>
          </a:bodyPr>
          <a:lstStyle/>
          <a:p>
            <a:pPr algn="ctr">
              <a:lnSpc>
                <a:spcPts val="3437"/>
              </a:lnSpc>
            </a:pPr>
            <a:r>
              <a:rPr lang="en-US" sz="2750" b="1">
                <a:solidFill>
                  <a:srgbClr val="000099"/>
                </a:solidFill>
                <a:latin typeface="Open Sans 1 Bold"/>
                <a:ea typeface="Open Sans 1 Bold"/>
                <a:cs typeface="Open Sans 1 Bold"/>
                <a:sym typeface="Open Sans 1 Bold"/>
              </a:rPr>
              <a:t>Đề Xuất AI</a:t>
            </a:r>
          </a:p>
        </p:txBody>
      </p:sp>
      <p:sp>
        <p:nvSpPr>
          <p:cNvPr id="15" name="TextBox 15"/>
          <p:cNvSpPr txBox="1"/>
          <p:nvPr/>
        </p:nvSpPr>
        <p:spPr>
          <a:xfrm>
            <a:off x="13485609" y="5899252"/>
            <a:ext cx="3810152" cy="1446609"/>
          </a:xfrm>
          <a:prstGeom prst="rect">
            <a:avLst/>
          </a:prstGeom>
        </p:spPr>
        <p:txBody>
          <a:bodyPr lIns="0" tIns="0" rIns="0" bIns="0" rtlCol="0" anchor="t">
            <a:spAutoFit/>
          </a:bodyPr>
          <a:lstStyle/>
          <a:p>
            <a:pPr algn="ctr">
              <a:lnSpc>
                <a:spcPts val="3562"/>
              </a:lnSpc>
            </a:pPr>
            <a:r>
              <a:rPr lang="en-US" sz="2187">
                <a:solidFill>
                  <a:srgbClr val="000099"/>
                </a:solidFill>
                <a:latin typeface="Open Sans 1"/>
                <a:ea typeface="Open Sans 1"/>
                <a:cs typeface="Open Sans 1"/>
                <a:sym typeface="Open Sans 1"/>
              </a:rPr>
              <a:t>Hoàn thành Tờ trình Đề xuất lộ trình tiếp cận kiến thức và ứng dụng AI của TDA.</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1028700" y="3973948"/>
            <a:ext cx="4834338" cy="3590014"/>
            <a:chOff x="0" y="0"/>
            <a:chExt cx="1094522" cy="812800"/>
          </a:xfrm>
        </p:grpSpPr>
        <p:sp>
          <p:nvSpPr>
            <p:cNvPr id="4" name="Freeform 4"/>
            <p:cNvSpPr/>
            <p:nvPr/>
          </p:nvSpPr>
          <p:spPr>
            <a:xfrm>
              <a:off x="0" y="0"/>
              <a:ext cx="1094522" cy="812800"/>
            </a:xfrm>
            <a:custGeom>
              <a:avLst/>
              <a:gdLst/>
              <a:ahLst/>
              <a:cxnLst/>
              <a:rect l="l" t="t" r="r" b="b"/>
              <a:pathLst>
                <a:path w="1094522" h="812800">
                  <a:moveTo>
                    <a:pt x="0" y="0"/>
                  </a:moveTo>
                  <a:lnTo>
                    <a:pt x="1094522" y="0"/>
                  </a:lnTo>
                  <a:lnTo>
                    <a:pt x="1094522" y="812800"/>
                  </a:lnTo>
                  <a:lnTo>
                    <a:pt x="0" y="812800"/>
                  </a:lnTo>
                  <a:close/>
                </a:path>
              </a:pathLst>
            </a:custGeom>
            <a:blipFill>
              <a:blip r:embed="rId2"/>
              <a:stretch>
                <a:fillRect l="-9863" r="-9863"/>
              </a:stretch>
            </a:blipFill>
          </p:spPr>
        </p:sp>
      </p:grpSp>
      <p:grpSp>
        <p:nvGrpSpPr>
          <p:cNvPr id="5" name="Group 5"/>
          <p:cNvGrpSpPr/>
          <p:nvPr/>
        </p:nvGrpSpPr>
        <p:grpSpPr>
          <a:xfrm>
            <a:off x="6526803" y="3973948"/>
            <a:ext cx="4834338" cy="3590014"/>
            <a:chOff x="0" y="0"/>
            <a:chExt cx="1094522" cy="812800"/>
          </a:xfrm>
        </p:grpSpPr>
        <p:sp>
          <p:nvSpPr>
            <p:cNvPr id="6" name="Freeform 6"/>
            <p:cNvSpPr/>
            <p:nvPr/>
          </p:nvSpPr>
          <p:spPr>
            <a:xfrm>
              <a:off x="0" y="0"/>
              <a:ext cx="1094522" cy="812800"/>
            </a:xfrm>
            <a:custGeom>
              <a:avLst/>
              <a:gdLst/>
              <a:ahLst/>
              <a:cxnLst/>
              <a:rect l="l" t="t" r="r" b="b"/>
              <a:pathLst>
                <a:path w="1094522" h="812800">
                  <a:moveTo>
                    <a:pt x="0" y="0"/>
                  </a:moveTo>
                  <a:lnTo>
                    <a:pt x="1094522" y="0"/>
                  </a:lnTo>
                  <a:lnTo>
                    <a:pt x="1094522" y="812800"/>
                  </a:lnTo>
                  <a:lnTo>
                    <a:pt x="0" y="812800"/>
                  </a:lnTo>
                  <a:close/>
                </a:path>
              </a:pathLst>
            </a:custGeom>
            <a:blipFill>
              <a:blip r:embed="rId3"/>
              <a:stretch>
                <a:fillRect l="-10014" r="-10014"/>
              </a:stretch>
            </a:blipFill>
          </p:spPr>
        </p:sp>
      </p:grpSp>
      <p:grpSp>
        <p:nvGrpSpPr>
          <p:cNvPr id="7" name="Group 7"/>
          <p:cNvGrpSpPr/>
          <p:nvPr/>
        </p:nvGrpSpPr>
        <p:grpSpPr>
          <a:xfrm>
            <a:off x="12424962" y="3973948"/>
            <a:ext cx="4834338" cy="3590014"/>
            <a:chOff x="0" y="0"/>
            <a:chExt cx="1094522" cy="812800"/>
          </a:xfrm>
        </p:grpSpPr>
        <p:sp>
          <p:nvSpPr>
            <p:cNvPr id="8" name="Freeform 8"/>
            <p:cNvSpPr/>
            <p:nvPr/>
          </p:nvSpPr>
          <p:spPr>
            <a:xfrm>
              <a:off x="0" y="0"/>
              <a:ext cx="1094522" cy="812800"/>
            </a:xfrm>
            <a:custGeom>
              <a:avLst/>
              <a:gdLst/>
              <a:ahLst/>
              <a:cxnLst/>
              <a:rect l="l" t="t" r="r" b="b"/>
              <a:pathLst>
                <a:path w="1094522" h="812800">
                  <a:moveTo>
                    <a:pt x="0" y="0"/>
                  </a:moveTo>
                  <a:lnTo>
                    <a:pt x="1094522" y="0"/>
                  </a:lnTo>
                  <a:lnTo>
                    <a:pt x="1094522" y="812800"/>
                  </a:lnTo>
                  <a:lnTo>
                    <a:pt x="0" y="812800"/>
                  </a:lnTo>
                  <a:close/>
                </a:path>
              </a:pathLst>
            </a:custGeom>
            <a:blipFill>
              <a:blip r:embed="rId4"/>
              <a:stretch>
                <a:fillRect l="-10014" r="-10014"/>
              </a:stretch>
            </a:blipFill>
          </p:spPr>
        </p:sp>
      </p:grpSp>
      <p:sp>
        <p:nvSpPr>
          <p:cNvPr id="9" name="TextBox 9"/>
          <p:cNvSpPr txBox="1"/>
          <p:nvPr/>
        </p:nvSpPr>
        <p:spPr>
          <a:xfrm>
            <a:off x="1028700" y="1575770"/>
            <a:ext cx="10996207" cy="828675"/>
          </a:xfrm>
          <a:prstGeom prst="rect">
            <a:avLst/>
          </a:prstGeom>
        </p:spPr>
        <p:txBody>
          <a:bodyPr lIns="0" tIns="0" rIns="0" bIns="0" rtlCol="0" anchor="t">
            <a:spAutoFit/>
          </a:bodyPr>
          <a:lstStyle/>
          <a:p>
            <a:pPr marL="0" lvl="0" indent="0" algn="l">
              <a:lnSpc>
                <a:spcPts val="6671"/>
              </a:lnSpc>
              <a:spcBef>
                <a:spcPct val="0"/>
              </a:spcBef>
            </a:pPr>
            <a:r>
              <a:rPr lang="vi-VN" sz="5559" b="1" dirty="0" smtClean="0">
                <a:solidFill>
                  <a:srgbClr val="FF0000"/>
                </a:solidFill>
                <a:latin typeface="Open Sans 1 Bold"/>
                <a:ea typeface="Open Sans 1 Bold"/>
                <a:cs typeface="Open Sans 1 Bold"/>
                <a:sym typeface="Open Sans 1 Bold"/>
              </a:rPr>
              <a:t>PAGE HEADING</a:t>
            </a:r>
            <a:endParaRPr lang="en-US" sz="5559" b="1" dirty="0">
              <a:solidFill>
                <a:srgbClr val="FF0000"/>
              </a:solidFill>
              <a:latin typeface="Open Sans 1 Bold"/>
              <a:ea typeface="Open Sans 1 Bold"/>
              <a:cs typeface="Open Sans 1 Bold"/>
              <a:sym typeface="Open Sans 1 Bold"/>
            </a:endParaRPr>
          </a:p>
        </p:txBody>
      </p:sp>
      <p:sp>
        <p:nvSpPr>
          <p:cNvPr id="10" name="TextBox 10"/>
          <p:cNvSpPr txBox="1"/>
          <p:nvPr/>
        </p:nvSpPr>
        <p:spPr>
          <a:xfrm>
            <a:off x="1028700" y="7994748"/>
            <a:ext cx="4834338" cy="511810"/>
          </a:xfrm>
          <a:prstGeom prst="rect">
            <a:avLst/>
          </a:prstGeom>
        </p:spPr>
        <p:txBody>
          <a:bodyPr lIns="0" tIns="0" rIns="0" bIns="0" rtlCol="0" anchor="t">
            <a:spAutoFit/>
          </a:bodyPr>
          <a:lstStyle/>
          <a:p>
            <a:pPr marL="0" lvl="0" indent="0" algn="ctr">
              <a:lnSpc>
                <a:spcPts val="4159"/>
              </a:lnSpc>
              <a:spcBef>
                <a:spcPct val="0"/>
              </a:spcBef>
            </a:pPr>
            <a:r>
              <a:rPr lang="en-US" sz="3199" b="1">
                <a:solidFill>
                  <a:srgbClr val="000099"/>
                </a:solidFill>
                <a:latin typeface="Open Sans 1 Bold"/>
                <a:ea typeface="Open Sans 1 Bold"/>
                <a:cs typeface="Open Sans 1 Bold"/>
                <a:sym typeface="Open Sans 1 Bold"/>
              </a:rPr>
              <a:t>Project 1</a:t>
            </a:r>
          </a:p>
        </p:txBody>
      </p:sp>
      <p:sp>
        <p:nvSpPr>
          <p:cNvPr id="11" name="TextBox 11"/>
          <p:cNvSpPr txBox="1"/>
          <p:nvPr/>
        </p:nvSpPr>
        <p:spPr>
          <a:xfrm>
            <a:off x="6726831" y="7994748"/>
            <a:ext cx="4834338" cy="450215"/>
          </a:xfrm>
          <a:prstGeom prst="rect">
            <a:avLst/>
          </a:prstGeom>
        </p:spPr>
        <p:txBody>
          <a:bodyPr lIns="0" tIns="0" rIns="0" bIns="0" rtlCol="0" anchor="t">
            <a:spAutoFit/>
          </a:bodyPr>
          <a:lstStyle/>
          <a:p>
            <a:pPr marL="0" lvl="0" indent="0" algn="ctr">
              <a:lnSpc>
                <a:spcPts val="3640"/>
              </a:lnSpc>
              <a:spcBef>
                <a:spcPct val="0"/>
              </a:spcBef>
            </a:pPr>
            <a:r>
              <a:rPr lang="en-US" sz="2800" b="1">
                <a:solidFill>
                  <a:srgbClr val="000099"/>
                </a:solidFill>
                <a:latin typeface="Open Sans 1 Bold"/>
                <a:ea typeface="Open Sans 1 Bold"/>
                <a:cs typeface="Open Sans 1 Bold"/>
                <a:sym typeface="Open Sans 1 Bold"/>
              </a:rPr>
              <a:t>Project 2</a:t>
            </a:r>
          </a:p>
        </p:txBody>
      </p:sp>
      <p:sp>
        <p:nvSpPr>
          <p:cNvPr id="12" name="TextBox 12"/>
          <p:cNvSpPr txBox="1"/>
          <p:nvPr/>
        </p:nvSpPr>
        <p:spPr>
          <a:xfrm>
            <a:off x="12424962" y="7994748"/>
            <a:ext cx="4834338" cy="450215"/>
          </a:xfrm>
          <a:prstGeom prst="rect">
            <a:avLst/>
          </a:prstGeom>
        </p:spPr>
        <p:txBody>
          <a:bodyPr lIns="0" tIns="0" rIns="0" bIns="0" rtlCol="0" anchor="t">
            <a:spAutoFit/>
          </a:bodyPr>
          <a:lstStyle/>
          <a:p>
            <a:pPr marL="0" lvl="0" indent="0" algn="ctr">
              <a:lnSpc>
                <a:spcPts val="3640"/>
              </a:lnSpc>
              <a:spcBef>
                <a:spcPct val="0"/>
              </a:spcBef>
            </a:pPr>
            <a:r>
              <a:rPr lang="en-US" sz="2800" b="1">
                <a:solidFill>
                  <a:srgbClr val="000099"/>
                </a:solidFill>
                <a:latin typeface="Open Sans 1 Bold"/>
                <a:ea typeface="Open Sans 1 Bold"/>
                <a:cs typeface="Open Sans 1 Bold"/>
                <a:sym typeface="Open Sans 1 Bold"/>
              </a:rPr>
              <a:t>Project 3</a:t>
            </a:r>
          </a:p>
        </p:txBody>
      </p:sp>
      <p:sp>
        <p:nvSpPr>
          <p:cNvPr id="13" name="TextBox 13"/>
          <p:cNvSpPr txBox="1"/>
          <p:nvPr/>
        </p:nvSpPr>
        <p:spPr>
          <a:xfrm>
            <a:off x="1417837" y="8961318"/>
            <a:ext cx="4425479" cy="464820"/>
          </a:xfrm>
          <a:prstGeom prst="rect">
            <a:avLst/>
          </a:prstGeom>
        </p:spPr>
        <p:txBody>
          <a:bodyPr lIns="0" tIns="0" rIns="0" bIns="0" rtlCol="0" anchor="t">
            <a:spAutoFit/>
          </a:bodyPr>
          <a:lstStyle/>
          <a:p>
            <a:pPr algn="ctr">
              <a:lnSpc>
                <a:spcPts val="3779"/>
              </a:lnSpc>
            </a:pPr>
            <a:r>
              <a:rPr lang="en-US" sz="2699" dirty="0">
                <a:solidFill>
                  <a:srgbClr val="000000"/>
                </a:solidFill>
                <a:latin typeface="Canva Sans"/>
                <a:ea typeface="Canva Sans"/>
                <a:cs typeface="Canva Sans"/>
                <a:sym typeface="Canva Sans"/>
              </a:rPr>
              <a:t>Add a little bit of body text</a:t>
            </a:r>
          </a:p>
        </p:txBody>
      </p:sp>
      <p:sp>
        <p:nvSpPr>
          <p:cNvPr id="14" name="TextBox 14"/>
          <p:cNvSpPr txBox="1"/>
          <p:nvPr/>
        </p:nvSpPr>
        <p:spPr>
          <a:xfrm>
            <a:off x="7115670" y="8961318"/>
            <a:ext cx="4426074" cy="464820"/>
          </a:xfrm>
          <a:prstGeom prst="rect">
            <a:avLst/>
          </a:prstGeom>
        </p:spPr>
        <p:txBody>
          <a:bodyPr lIns="0" tIns="0" rIns="0" bIns="0" rtlCol="0" anchor="t">
            <a:spAutoFit/>
          </a:bodyPr>
          <a:lstStyle/>
          <a:p>
            <a:pPr algn="ctr">
              <a:lnSpc>
                <a:spcPts val="3779"/>
              </a:lnSpc>
            </a:pPr>
            <a:r>
              <a:rPr lang="en-US" sz="2700">
                <a:solidFill>
                  <a:srgbClr val="000000"/>
                </a:solidFill>
                <a:latin typeface="Canva Sans"/>
                <a:ea typeface="Canva Sans"/>
                <a:cs typeface="Canva Sans"/>
                <a:sym typeface="Canva Sans"/>
              </a:rPr>
              <a:t>Add a little bit of body text</a:t>
            </a:r>
          </a:p>
        </p:txBody>
      </p:sp>
      <p:sp>
        <p:nvSpPr>
          <p:cNvPr id="15" name="TextBox 15"/>
          <p:cNvSpPr txBox="1"/>
          <p:nvPr/>
        </p:nvSpPr>
        <p:spPr>
          <a:xfrm>
            <a:off x="12629094" y="8961318"/>
            <a:ext cx="4426074" cy="464820"/>
          </a:xfrm>
          <a:prstGeom prst="rect">
            <a:avLst/>
          </a:prstGeom>
        </p:spPr>
        <p:txBody>
          <a:bodyPr lIns="0" tIns="0" rIns="0" bIns="0" rtlCol="0" anchor="t">
            <a:spAutoFit/>
          </a:bodyPr>
          <a:lstStyle/>
          <a:p>
            <a:pPr algn="ctr">
              <a:lnSpc>
                <a:spcPts val="3779"/>
              </a:lnSpc>
            </a:pPr>
            <a:r>
              <a:rPr lang="en-US" sz="2700">
                <a:solidFill>
                  <a:srgbClr val="000000"/>
                </a:solidFill>
                <a:latin typeface="Canva Sans"/>
                <a:ea typeface="Canva Sans"/>
                <a:cs typeface="Canva Sans"/>
                <a:sym typeface="Canva Sans"/>
              </a:rPr>
              <a:t>Add a little bit of body text</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1094337"/>
            <a:ext cx="13983891" cy="870347"/>
          </a:xfrm>
          <a:prstGeom prst="rect">
            <a:avLst/>
          </a:prstGeom>
        </p:spPr>
        <p:txBody>
          <a:bodyPr lIns="0" tIns="0" rIns="0" bIns="0" rtlCol="0" anchor="t">
            <a:spAutoFit/>
          </a:bodyPr>
          <a:lstStyle/>
          <a:p>
            <a:pPr algn="l">
              <a:lnSpc>
                <a:spcPts val="6625"/>
              </a:lnSpc>
            </a:pPr>
            <a:r>
              <a:rPr lang="en-US" sz="5250" b="1">
                <a:solidFill>
                  <a:srgbClr val="FF0000"/>
                </a:solidFill>
                <a:latin typeface="Open Sans 1 Bold"/>
                <a:ea typeface="Open Sans 1 Bold"/>
                <a:cs typeface="Open Sans 1 Bold"/>
                <a:sym typeface="Open Sans 1 Bold"/>
              </a:rPr>
              <a:t>TỒN ĐỌNG &amp; TRỌNG TÂM THÁNG 11/2025</a:t>
            </a:r>
          </a:p>
        </p:txBody>
      </p:sp>
      <p:sp>
        <p:nvSpPr>
          <p:cNvPr id="4" name="TextBox 4"/>
          <p:cNvSpPr txBox="1"/>
          <p:nvPr/>
        </p:nvSpPr>
        <p:spPr>
          <a:xfrm>
            <a:off x="992238" y="2427084"/>
            <a:ext cx="16303523" cy="507206"/>
          </a:xfrm>
          <a:prstGeom prst="rect">
            <a:avLst/>
          </a:prstGeom>
        </p:spPr>
        <p:txBody>
          <a:bodyPr lIns="0" tIns="0" rIns="0" bIns="0" rtlCol="0" anchor="t">
            <a:spAutoFit/>
          </a:bodyPr>
          <a:lstStyle/>
          <a:p>
            <a:pPr algn="l">
              <a:lnSpc>
                <a:spcPts val="3374"/>
              </a:lnSpc>
            </a:pPr>
            <a:r>
              <a:rPr lang="en-US" sz="2062">
                <a:solidFill>
                  <a:srgbClr val="000099"/>
                </a:solidFill>
                <a:latin typeface="Open Sans 1"/>
                <a:ea typeface="Open Sans 1"/>
                <a:cs typeface="Open Sans 1"/>
                <a:sym typeface="Open Sans 1"/>
              </a:rPr>
              <a:t>Các hạng mục ưu tiên và đang được giám sát chặt chẽ trong tháng tới.</a:t>
            </a:r>
          </a:p>
        </p:txBody>
      </p:sp>
      <p:grpSp>
        <p:nvGrpSpPr>
          <p:cNvPr id="5" name="Group 5"/>
          <p:cNvGrpSpPr/>
          <p:nvPr/>
        </p:nvGrpSpPr>
        <p:grpSpPr>
          <a:xfrm>
            <a:off x="992238" y="3641227"/>
            <a:ext cx="8017078" cy="2424855"/>
            <a:chOff x="0" y="0"/>
            <a:chExt cx="10689438" cy="3233141"/>
          </a:xfrm>
        </p:grpSpPr>
        <p:sp>
          <p:nvSpPr>
            <p:cNvPr id="6" name="Freeform 6"/>
            <p:cNvSpPr/>
            <p:nvPr/>
          </p:nvSpPr>
          <p:spPr>
            <a:xfrm>
              <a:off x="0" y="0"/>
              <a:ext cx="10689463" cy="3233166"/>
            </a:xfrm>
            <a:custGeom>
              <a:avLst/>
              <a:gdLst/>
              <a:ahLst/>
              <a:cxnLst/>
              <a:rect l="l" t="t" r="r" b="b"/>
              <a:pathLst>
                <a:path w="10689463" h="3233166">
                  <a:moveTo>
                    <a:pt x="0" y="243840"/>
                  </a:moveTo>
                  <a:cubicBezTo>
                    <a:pt x="0" y="109220"/>
                    <a:pt x="109220" y="0"/>
                    <a:pt x="243840" y="0"/>
                  </a:cubicBezTo>
                  <a:lnTo>
                    <a:pt x="10445623" y="0"/>
                  </a:lnTo>
                  <a:cubicBezTo>
                    <a:pt x="10580243" y="0"/>
                    <a:pt x="10689463" y="109220"/>
                    <a:pt x="10689463" y="243840"/>
                  </a:cubicBezTo>
                  <a:lnTo>
                    <a:pt x="10689463" y="2989326"/>
                  </a:lnTo>
                  <a:cubicBezTo>
                    <a:pt x="10689463" y="3123946"/>
                    <a:pt x="10580243" y="3233166"/>
                    <a:pt x="10445623" y="3233166"/>
                  </a:cubicBezTo>
                  <a:lnTo>
                    <a:pt x="243840" y="3233166"/>
                  </a:lnTo>
                  <a:cubicBezTo>
                    <a:pt x="109220" y="3233166"/>
                    <a:pt x="0" y="3123946"/>
                    <a:pt x="0" y="2989326"/>
                  </a:cubicBezTo>
                  <a:close/>
                </a:path>
              </a:pathLst>
            </a:custGeom>
            <a:solidFill>
              <a:srgbClr val="FFFFFF"/>
            </a:solidFill>
          </p:spPr>
        </p:sp>
      </p:grpSp>
      <p:grpSp>
        <p:nvGrpSpPr>
          <p:cNvPr id="7" name="Group 7"/>
          <p:cNvGrpSpPr/>
          <p:nvPr/>
        </p:nvGrpSpPr>
        <p:grpSpPr>
          <a:xfrm>
            <a:off x="992238" y="3603127"/>
            <a:ext cx="8017078" cy="152400"/>
            <a:chOff x="0" y="0"/>
            <a:chExt cx="10689438" cy="203200"/>
          </a:xfrm>
        </p:grpSpPr>
        <p:sp>
          <p:nvSpPr>
            <p:cNvPr id="8" name="Freeform 8"/>
            <p:cNvSpPr/>
            <p:nvPr/>
          </p:nvSpPr>
          <p:spPr>
            <a:xfrm>
              <a:off x="0" y="0"/>
              <a:ext cx="10689463" cy="203200"/>
            </a:xfrm>
            <a:custGeom>
              <a:avLst/>
              <a:gdLst/>
              <a:ahLst/>
              <a:cxnLst/>
              <a:rect l="l" t="t" r="r" b="b"/>
              <a:pathLst>
                <a:path w="10689463" h="203200">
                  <a:moveTo>
                    <a:pt x="0" y="101600"/>
                  </a:moveTo>
                  <a:cubicBezTo>
                    <a:pt x="0" y="45466"/>
                    <a:pt x="45466" y="0"/>
                    <a:pt x="101600" y="0"/>
                  </a:cubicBezTo>
                  <a:lnTo>
                    <a:pt x="10587863" y="0"/>
                  </a:lnTo>
                  <a:cubicBezTo>
                    <a:pt x="10643997" y="0"/>
                    <a:pt x="10689463" y="45466"/>
                    <a:pt x="10689463" y="101600"/>
                  </a:cubicBezTo>
                  <a:cubicBezTo>
                    <a:pt x="10689463" y="157734"/>
                    <a:pt x="10643997" y="203200"/>
                    <a:pt x="10587863" y="203200"/>
                  </a:cubicBezTo>
                  <a:lnTo>
                    <a:pt x="101600" y="203200"/>
                  </a:lnTo>
                  <a:cubicBezTo>
                    <a:pt x="45466" y="203200"/>
                    <a:pt x="0" y="157734"/>
                    <a:pt x="0" y="101600"/>
                  </a:cubicBezTo>
                  <a:close/>
                </a:path>
              </a:pathLst>
            </a:custGeom>
            <a:solidFill>
              <a:srgbClr val="FF0101"/>
            </a:solidFill>
          </p:spPr>
        </p:sp>
      </p:grpSp>
      <p:grpSp>
        <p:nvGrpSpPr>
          <p:cNvPr id="9" name="Group 9"/>
          <p:cNvGrpSpPr/>
          <p:nvPr/>
        </p:nvGrpSpPr>
        <p:grpSpPr>
          <a:xfrm>
            <a:off x="4596784" y="3237309"/>
            <a:ext cx="807987" cy="807987"/>
            <a:chOff x="0" y="0"/>
            <a:chExt cx="1077316" cy="1077316"/>
          </a:xfrm>
        </p:grpSpPr>
        <p:sp>
          <p:nvSpPr>
            <p:cNvPr id="10" name="Freeform 10"/>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FF0101"/>
            </a:solidFill>
          </p:spPr>
        </p:sp>
      </p:grpSp>
      <p:sp>
        <p:nvSpPr>
          <p:cNvPr id="11" name="TextBox 11"/>
          <p:cNvSpPr txBox="1"/>
          <p:nvPr/>
        </p:nvSpPr>
        <p:spPr>
          <a:xfrm>
            <a:off x="4839224" y="3334493"/>
            <a:ext cx="323107" cy="508692"/>
          </a:xfrm>
          <a:prstGeom prst="rect">
            <a:avLst/>
          </a:prstGeom>
        </p:spPr>
        <p:txBody>
          <a:bodyPr lIns="0" tIns="0" rIns="0" bIns="0" rtlCol="0" anchor="t">
            <a:spAutoFit/>
          </a:bodyPr>
          <a:lstStyle/>
          <a:p>
            <a:pPr algn="l">
              <a:lnSpc>
                <a:spcPts val="4062"/>
              </a:lnSpc>
            </a:pPr>
            <a:r>
              <a:rPr lang="en-US" sz="2499" b="1">
                <a:solidFill>
                  <a:srgbClr val="FFFFFF"/>
                </a:solidFill>
                <a:latin typeface="Open Sans 1 Bold"/>
                <a:ea typeface="Open Sans 1 Bold"/>
                <a:cs typeface="Open Sans 1 Bold"/>
                <a:sym typeface="Open Sans 1 Bold"/>
              </a:rPr>
              <a:t>1</a:t>
            </a:r>
          </a:p>
        </p:txBody>
      </p:sp>
      <p:sp>
        <p:nvSpPr>
          <p:cNvPr id="12" name="TextBox 12"/>
          <p:cNvSpPr txBox="1"/>
          <p:nvPr/>
        </p:nvSpPr>
        <p:spPr>
          <a:xfrm>
            <a:off x="1299572" y="4295480"/>
            <a:ext cx="3966267" cy="439788"/>
          </a:xfrm>
          <a:prstGeom prst="rect">
            <a:avLst/>
          </a:prstGeom>
        </p:spPr>
        <p:txBody>
          <a:bodyPr lIns="0" tIns="0" rIns="0" bIns="0" rtlCol="0" anchor="t">
            <a:spAutoFit/>
          </a:bodyPr>
          <a:lstStyle/>
          <a:p>
            <a:pPr algn="l">
              <a:lnSpc>
                <a:spcPts val="3312"/>
              </a:lnSpc>
            </a:pPr>
            <a:r>
              <a:rPr lang="en-US" sz="2625" b="1">
                <a:solidFill>
                  <a:srgbClr val="000099"/>
                </a:solidFill>
                <a:latin typeface="Open Sans 1 Bold"/>
                <a:ea typeface="Open Sans 1 Bold"/>
                <a:cs typeface="Open Sans 1 Bold"/>
                <a:sym typeface="Open Sans 1 Bold"/>
              </a:rPr>
              <a:t>Giám Sát Hạ Tầng Mạng</a:t>
            </a:r>
          </a:p>
        </p:txBody>
      </p:sp>
      <p:sp>
        <p:nvSpPr>
          <p:cNvPr id="13" name="TextBox 13"/>
          <p:cNvSpPr txBox="1"/>
          <p:nvPr/>
        </p:nvSpPr>
        <p:spPr>
          <a:xfrm>
            <a:off x="1299572" y="4820545"/>
            <a:ext cx="7402411" cy="938212"/>
          </a:xfrm>
          <a:prstGeom prst="rect">
            <a:avLst/>
          </a:prstGeom>
        </p:spPr>
        <p:txBody>
          <a:bodyPr lIns="0" tIns="0" rIns="0" bIns="0" rtlCol="0" anchor="t">
            <a:spAutoFit/>
          </a:bodyPr>
          <a:lstStyle/>
          <a:p>
            <a:pPr algn="l">
              <a:lnSpc>
                <a:spcPts val="3374"/>
              </a:lnSpc>
            </a:pPr>
            <a:r>
              <a:rPr lang="en-US" sz="2062">
                <a:solidFill>
                  <a:srgbClr val="000099"/>
                </a:solidFill>
                <a:latin typeface="Open Sans 1"/>
                <a:ea typeface="Open Sans 1"/>
                <a:cs typeface="Open Sans 1"/>
                <a:sym typeface="Open Sans 1"/>
              </a:rPr>
              <a:t>Tiếp tục giám sát tiến độ thi công mạng tại TDA.LA và ĐA.PM1, đảm bảo chất lượng và đúng tiến độ.</a:t>
            </a:r>
          </a:p>
        </p:txBody>
      </p:sp>
      <p:grpSp>
        <p:nvGrpSpPr>
          <p:cNvPr id="14" name="Group 14"/>
          <p:cNvGrpSpPr/>
          <p:nvPr/>
        </p:nvGrpSpPr>
        <p:grpSpPr>
          <a:xfrm>
            <a:off x="9278541" y="3641227"/>
            <a:ext cx="8017221" cy="2424855"/>
            <a:chOff x="0" y="0"/>
            <a:chExt cx="10689628" cy="3233141"/>
          </a:xfrm>
        </p:grpSpPr>
        <p:sp>
          <p:nvSpPr>
            <p:cNvPr id="15" name="Freeform 15"/>
            <p:cNvSpPr/>
            <p:nvPr/>
          </p:nvSpPr>
          <p:spPr>
            <a:xfrm>
              <a:off x="0" y="0"/>
              <a:ext cx="10689590" cy="3233166"/>
            </a:xfrm>
            <a:custGeom>
              <a:avLst/>
              <a:gdLst/>
              <a:ahLst/>
              <a:cxnLst/>
              <a:rect l="l" t="t" r="r" b="b"/>
              <a:pathLst>
                <a:path w="10689590" h="3233166">
                  <a:moveTo>
                    <a:pt x="0" y="243840"/>
                  </a:moveTo>
                  <a:cubicBezTo>
                    <a:pt x="0" y="109220"/>
                    <a:pt x="109220" y="0"/>
                    <a:pt x="243840" y="0"/>
                  </a:cubicBezTo>
                  <a:lnTo>
                    <a:pt x="10445750" y="0"/>
                  </a:lnTo>
                  <a:cubicBezTo>
                    <a:pt x="10580370" y="0"/>
                    <a:pt x="10689590" y="109220"/>
                    <a:pt x="10689590" y="243840"/>
                  </a:cubicBezTo>
                  <a:lnTo>
                    <a:pt x="10689590" y="2989326"/>
                  </a:lnTo>
                  <a:cubicBezTo>
                    <a:pt x="10689590" y="3123946"/>
                    <a:pt x="10580370" y="3233166"/>
                    <a:pt x="10445750" y="3233166"/>
                  </a:cubicBezTo>
                  <a:lnTo>
                    <a:pt x="243840" y="3233166"/>
                  </a:lnTo>
                  <a:cubicBezTo>
                    <a:pt x="109220" y="3233166"/>
                    <a:pt x="0" y="3123946"/>
                    <a:pt x="0" y="2989326"/>
                  </a:cubicBezTo>
                  <a:close/>
                </a:path>
              </a:pathLst>
            </a:custGeom>
            <a:solidFill>
              <a:srgbClr val="FFFFFF"/>
            </a:solidFill>
          </p:spPr>
        </p:sp>
      </p:grpSp>
      <p:grpSp>
        <p:nvGrpSpPr>
          <p:cNvPr id="16" name="Group 16"/>
          <p:cNvGrpSpPr/>
          <p:nvPr/>
        </p:nvGrpSpPr>
        <p:grpSpPr>
          <a:xfrm>
            <a:off x="9278541" y="3603127"/>
            <a:ext cx="8017221" cy="152400"/>
            <a:chOff x="0" y="0"/>
            <a:chExt cx="10689628" cy="203200"/>
          </a:xfrm>
        </p:grpSpPr>
        <p:sp>
          <p:nvSpPr>
            <p:cNvPr id="17" name="Freeform 17"/>
            <p:cNvSpPr/>
            <p:nvPr/>
          </p:nvSpPr>
          <p:spPr>
            <a:xfrm>
              <a:off x="0" y="0"/>
              <a:ext cx="10689590" cy="203200"/>
            </a:xfrm>
            <a:custGeom>
              <a:avLst/>
              <a:gdLst/>
              <a:ahLst/>
              <a:cxnLst/>
              <a:rect l="l" t="t" r="r" b="b"/>
              <a:pathLst>
                <a:path w="10689590" h="203200">
                  <a:moveTo>
                    <a:pt x="0" y="101600"/>
                  </a:moveTo>
                  <a:cubicBezTo>
                    <a:pt x="0" y="45466"/>
                    <a:pt x="45466" y="0"/>
                    <a:pt x="101600" y="0"/>
                  </a:cubicBezTo>
                  <a:lnTo>
                    <a:pt x="10587990" y="0"/>
                  </a:lnTo>
                  <a:cubicBezTo>
                    <a:pt x="10644124" y="0"/>
                    <a:pt x="10689590" y="45466"/>
                    <a:pt x="10689590" y="101600"/>
                  </a:cubicBezTo>
                  <a:cubicBezTo>
                    <a:pt x="10689590" y="157734"/>
                    <a:pt x="10644124" y="203200"/>
                    <a:pt x="10587990" y="203200"/>
                  </a:cubicBezTo>
                  <a:lnTo>
                    <a:pt x="101600" y="203200"/>
                  </a:lnTo>
                  <a:cubicBezTo>
                    <a:pt x="45466" y="203200"/>
                    <a:pt x="0" y="157734"/>
                    <a:pt x="0" y="101600"/>
                  </a:cubicBezTo>
                  <a:close/>
                </a:path>
              </a:pathLst>
            </a:custGeom>
            <a:solidFill>
              <a:srgbClr val="FF0101"/>
            </a:solidFill>
          </p:spPr>
        </p:sp>
      </p:grpSp>
      <p:grpSp>
        <p:nvGrpSpPr>
          <p:cNvPr id="18" name="Group 18"/>
          <p:cNvGrpSpPr/>
          <p:nvPr/>
        </p:nvGrpSpPr>
        <p:grpSpPr>
          <a:xfrm>
            <a:off x="12883086" y="3237309"/>
            <a:ext cx="807987" cy="807987"/>
            <a:chOff x="0" y="0"/>
            <a:chExt cx="1077316" cy="1077316"/>
          </a:xfrm>
        </p:grpSpPr>
        <p:sp>
          <p:nvSpPr>
            <p:cNvPr id="19" name="Freeform 19"/>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FF0101"/>
            </a:solidFill>
          </p:spPr>
        </p:sp>
      </p:grpSp>
      <p:sp>
        <p:nvSpPr>
          <p:cNvPr id="20" name="TextBox 20"/>
          <p:cNvSpPr txBox="1"/>
          <p:nvPr/>
        </p:nvSpPr>
        <p:spPr>
          <a:xfrm>
            <a:off x="13125526" y="3334493"/>
            <a:ext cx="323107" cy="508692"/>
          </a:xfrm>
          <a:prstGeom prst="rect">
            <a:avLst/>
          </a:prstGeom>
        </p:spPr>
        <p:txBody>
          <a:bodyPr lIns="0" tIns="0" rIns="0" bIns="0" rtlCol="0" anchor="t">
            <a:spAutoFit/>
          </a:bodyPr>
          <a:lstStyle/>
          <a:p>
            <a:pPr algn="l">
              <a:lnSpc>
                <a:spcPts val="4062"/>
              </a:lnSpc>
            </a:pPr>
            <a:r>
              <a:rPr lang="en-US" sz="2499" b="1">
                <a:solidFill>
                  <a:srgbClr val="FFFFFF"/>
                </a:solidFill>
                <a:latin typeface="Open Sans 1 Bold"/>
                <a:ea typeface="Open Sans 1 Bold"/>
                <a:cs typeface="Open Sans 1 Bold"/>
                <a:sym typeface="Open Sans 1 Bold"/>
              </a:rPr>
              <a:t>2</a:t>
            </a:r>
          </a:p>
        </p:txBody>
      </p:sp>
      <p:sp>
        <p:nvSpPr>
          <p:cNvPr id="21" name="TextBox 21"/>
          <p:cNvSpPr txBox="1"/>
          <p:nvPr/>
        </p:nvSpPr>
        <p:spPr>
          <a:xfrm>
            <a:off x="9585874" y="4295480"/>
            <a:ext cx="4217784" cy="439788"/>
          </a:xfrm>
          <a:prstGeom prst="rect">
            <a:avLst/>
          </a:prstGeom>
        </p:spPr>
        <p:txBody>
          <a:bodyPr lIns="0" tIns="0" rIns="0" bIns="0" rtlCol="0" anchor="t">
            <a:spAutoFit/>
          </a:bodyPr>
          <a:lstStyle/>
          <a:p>
            <a:pPr algn="l">
              <a:lnSpc>
                <a:spcPts val="3312"/>
              </a:lnSpc>
            </a:pPr>
            <a:r>
              <a:rPr lang="en-US" sz="2625" b="1">
                <a:solidFill>
                  <a:srgbClr val="000099"/>
                </a:solidFill>
                <a:latin typeface="Open Sans 1 Bold"/>
                <a:ea typeface="Open Sans 1 Bold"/>
                <a:cs typeface="Open Sans 1 Bold"/>
                <a:sym typeface="Open Sans 1 Bold"/>
              </a:rPr>
              <a:t>Quản Lý Lưu Trữ Camera</a:t>
            </a:r>
          </a:p>
        </p:txBody>
      </p:sp>
      <p:sp>
        <p:nvSpPr>
          <p:cNvPr id="22" name="TextBox 22"/>
          <p:cNvSpPr txBox="1"/>
          <p:nvPr/>
        </p:nvSpPr>
        <p:spPr>
          <a:xfrm>
            <a:off x="9585874" y="4820545"/>
            <a:ext cx="7402563" cy="938212"/>
          </a:xfrm>
          <a:prstGeom prst="rect">
            <a:avLst/>
          </a:prstGeom>
        </p:spPr>
        <p:txBody>
          <a:bodyPr lIns="0" tIns="0" rIns="0" bIns="0" rtlCol="0" anchor="t">
            <a:spAutoFit/>
          </a:bodyPr>
          <a:lstStyle/>
          <a:p>
            <a:pPr algn="l">
              <a:lnSpc>
                <a:spcPts val="3374"/>
              </a:lnSpc>
            </a:pPr>
            <a:r>
              <a:rPr lang="en-US" sz="2062">
                <a:solidFill>
                  <a:srgbClr val="000099"/>
                </a:solidFill>
                <a:latin typeface="Open Sans 1"/>
                <a:ea typeface="Open Sans 1"/>
                <a:cs typeface="Open Sans 1"/>
                <a:sym typeface="Open Sans 1"/>
              </a:rPr>
              <a:t>Trình phương án quản lý và mở rộng thời gian lưu trữ camera theo quy định của </a:t>
            </a:r>
            <a:r>
              <a:rPr lang="en-US" sz="2062" b="1">
                <a:solidFill>
                  <a:srgbClr val="000099"/>
                </a:solidFill>
                <a:latin typeface="Open Sans 1 Bold"/>
                <a:ea typeface="Open Sans 1 Bold"/>
                <a:cs typeface="Open Sans 1 Bold"/>
                <a:sym typeface="Open Sans 1 Bold"/>
              </a:rPr>
              <a:t>Nghị định 167</a:t>
            </a:r>
            <a:r>
              <a:rPr lang="en-US" sz="2062">
                <a:solidFill>
                  <a:srgbClr val="000099"/>
                </a:solidFill>
                <a:latin typeface="Open Sans 1"/>
                <a:ea typeface="Open Sans 1"/>
                <a:cs typeface="Open Sans 1"/>
                <a:sym typeface="Open Sans 1"/>
              </a:rPr>
              <a:t>.</a:t>
            </a:r>
          </a:p>
        </p:txBody>
      </p:sp>
      <p:grpSp>
        <p:nvGrpSpPr>
          <p:cNvPr id="23" name="Group 23"/>
          <p:cNvGrpSpPr/>
          <p:nvPr/>
        </p:nvGrpSpPr>
        <p:grpSpPr>
          <a:xfrm>
            <a:off x="992238" y="6739233"/>
            <a:ext cx="8017078" cy="2424855"/>
            <a:chOff x="0" y="0"/>
            <a:chExt cx="10689438" cy="3233141"/>
          </a:xfrm>
        </p:grpSpPr>
        <p:sp>
          <p:nvSpPr>
            <p:cNvPr id="24" name="Freeform 24"/>
            <p:cNvSpPr/>
            <p:nvPr/>
          </p:nvSpPr>
          <p:spPr>
            <a:xfrm>
              <a:off x="0" y="0"/>
              <a:ext cx="10689463" cy="3233166"/>
            </a:xfrm>
            <a:custGeom>
              <a:avLst/>
              <a:gdLst/>
              <a:ahLst/>
              <a:cxnLst/>
              <a:rect l="l" t="t" r="r" b="b"/>
              <a:pathLst>
                <a:path w="10689463" h="3233166">
                  <a:moveTo>
                    <a:pt x="0" y="243840"/>
                  </a:moveTo>
                  <a:cubicBezTo>
                    <a:pt x="0" y="109220"/>
                    <a:pt x="109220" y="0"/>
                    <a:pt x="243840" y="0"/>
                  </a:cubicBezTo>
                  <a:lnTo>
                    <a:pt x="10445623" y="0"/>
                  </a:lnTo>
                  <a:cubicBezTo>
                    <a:pt x="10580243" y="0"/>
                    <a:pt x="10689463" y="109220"/>
                    <a:pt x="10689463" y="243840"/>
                  </a:cubicBezTo>
                  <a:lnTo>
                    <a:pt x="10689463" y="2989326"/>
                  </a:lnTo>
                  <a:cubicBezTo>
                    <a:pt x="10689463" y="3123946"/>
                    <a:pt x="10580243" y="3233166"/>
                    <a:pt x="10445623" y="3233166"/>
                  </a:cubicBezTo>
                  <a:lnTo>
                    <a:pt x="243840" y="3233166"/>
                  </a:lnTo>
                  <a:cubicBezTo>
                    <a:pt x="109220" y="3233166"/>
                    <a:pt x="0" y="3123946"/>
                    <a:pt x="0" y="2989326"/>
                  </a:cubicBezTo>
                  <a:close/>
                </a:path>
              </a:pathLst>
            </a:custGeom>
            <a:solidFill>
              <a:srgbClr val="FFFFFF"/>
            </a:solidFill>
          </p:spPr>
        </p:sp>
      </p:grpSp>
      <p:grpSp>
        <p:nvGrpSpPr>
          <p:cNvPr id="25" name="Group 25"/>
          <p:cNvGrpSpPr/>
          <p:nvPr/>
        </p:nvGrpSpPr>
        <p:grpSpPr>
          <a:xfrm>
            <a:off x="992238" y="6701133"/>
            <a:ext cx="8017078" cy="152400"/>
            <a:chOff x="0" y="0"/>
            <a:chExt cx="10689438" cy="203200"/>
          </a:xfrm>
        </p:grpSpPr>
        <p:sp>
          <p:nvSpPr>
            <p:cNvPr id="26" name="Freeform 26"/>
            <p:cNvSpPr/>
            <p:nvPr/>
          </p:nvSpPr>
          <p:spPr>
            <a:xfrm>
              <a:off x="0" y="0"/>
              <a:ext cx="10689463" cy="203200"/>
            </a:xfrm>
            <a:custGeom>
              <a:avLst/>
              <a:gdLst/>
              <a:ahLst/>
              <a:cxnLst/>
              <a:rect l="l" t="t" r="r" b="b"/>
              <a:pathLst>
                <a:path w="10689463" h="203200">
                  <a:moveTo>
                    <a:pt x="0" y="101600"/>
                  </a:moveTo>
                  <a:cubicBezTo>
                    <a:pt x="0" y="45466"/>
                    <a:pt x="45466" y="0"/>
                    <a:pt x="101600" y="0"/>
                  </a:cubicBezTo>
                  <a:lnTo>
                    <a:pt x="10587863" y="0"/>
                  </a:lnTo>
                  <a:cubicBezTo>
                    <a:pt x="10643997" y="0"/>
                    <a:pt x="10689463" y="45466"/>
                    <a:pt x="10689463" y="101600"/>
                  </a:cubicBezTo>
                  <a:cubicBezTo>
                    <a:pt x="10689463" y="157734"/>
                    <a:pt x="10643997" y="203200"/>
                    <a:pt x="10587863" y="203200"/>
                  </a:cubicBezTo>
                  <a:lnTo>
                    <a:pt x="101600" y="203200"/>
                  </a:lnTo>
                  <a:cubicBezTo>
                    <a:pt x="45466" y="203200"/>
                    <a:pt x="0" y="157734"/>
                    <a:pt x="0" y="101600"/>
                  </a:cubicBezTo>
                  <a:close/>
                </a:path>
              </a:pathLst>
            </a:custGeom>
            <a:solidFill>
              <a:srgbClr val="FF0101"/>
            </a:solidFill>
          </p:spPr>
        </p:sp>
      </p:grpSp>
      <p:grpSp>
        <p:nvGrpSpPr>
          <p:cNvPr id="27" name="Group 27"/>
          <p:cNvGrpSpPr/>
          <p:nvPr/>
        </p:nvGrpSpPr>
        <p:grpSpPr>
          <a:xfrm>
            <a:off x="4596784" y="6335316"/>
            <a:ext cx="807987" cy="807987"/>
            <a:chOff x="0" y="0"/>
            <a:chExt cx="1077316" cy="1077316"/>
          </a:xfrm>
        </p:grpSpPr>
        <p:sp>
          <p:nvSpPr>
            <p:cNvPr id="28" name="Freeform 28"/>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FF0101"/>
            </a:solidFill>
          </p:spPr>
        </p:sp>
      </p:grpSp>
      <p:sp>
        <p:nvSpPr>
          <p:cNvPr id="29" name="TextBox 29"/>
          <p:cNvSpPr txBox="1"/>
          <p:nvPr/>
        </p:nvSpPr>
        <p:spPr>
          <a:xfrm>
            <a:off x="4839224" y="6432499"/>
            <a:ext cx="323107" cy="508692"/>
          </a:xfrm>
          <a:prstGeom prst="rect">
            <a:avLst/>
          </a:prstGeom>
        </p:spPr>
        <p:txBody>
          <a:bodyPr lIns="0" tIns="0" rIns="0" bIns="0" rtlCol="0" anchor="t">
            <a:spAutoFit/>
          </a:bodyPr>
          <a:lstStyle/>
          <a:p>
            <a:pPr algn="l">
              <a:lnSpc>
                <a:spcPts val="4062"/>
              </a:lnSpc>
            </a:pPr>
            <a:r>
              <a:rPr lang="en-US" sz="2499" b="1">
                <a:solidFill>
                  <a:srgbClr val="FFFFFF"/>
                </a:solidFill>
                <a:latin typeface="Open Sans 1 Bold"/>
                <a:ea typeface="Open Sans 1 Bold"/>
                <a:cs typeface="Open Sans 1 Bold"/>
                <a:sym typeface="Open Sans 1 Bold"/>
              </a:rPr>
              <a:t>3</a:t>
            </a:r>
          </a:p>
        </p:txBody>
      </p:sp>
      <p:sp>
        <p:nvSpPr>
          <p:cNvPr id="30" name="TextBox 30"/>
          <p:cNvSpPr txBox="1"/>
          <p:nvPr/>
        </p:nvSpPr>
        <p:spPr>
          <a:xfrm>
            <a:off x="1299572" y="7393486"/>
            <a:ext cx="4007196" cy="439788"/>
          </a:xfrm>
          <a:prstGeom prst="rect">
            <a:avLst/>
          </a:prstGeom>
        </p:spPr>
        <p:txBody>
          <a:bodyPr lIns="0" tIns="0" rIns="0" bIns="0" rtlCol="0" anchor="t">
            <a:spAutoFit/>
          </a:bodyPr>
          <a:lstStyle/>
          <a:p>
            <a:pPr algn="l">
              <a:lnSpc>
                <a:spcPts val="3312"/>
              </a:lnSpc>
            </a:pPr>
            <a:r>
              <a:rPr lang="en-US" sz="2625" b="1">
                <a:solidFill>
                  <a:srgbClr val="000099"/>
                </a:solidFill>
                <a:latin typeface="Open Sans 1 Bold"/>
                <a:ea typeface="Open Sans 1 Bold"/>
                <a:cs typeface="Open Sans 1 Bold"/>
                <a:sym typeface="Open Sans 1 Bold"/>
              </a:rPr>
              <a:t>Cập Nhật Bảo Mật (DLP)</a:t>
            </a:r>
          </a:p>
        </p:txBody>
      </p:sp>
      <p:sp>
        <p:nvSpPr>
          <p:cNvPr id="31" name="TextBox 31"/>
          <p:cNvSpPr txBox="1"/>
          <p:nvPr/>
        </p:nvSpPr>
        <p:spPr>
          <a:xfrm>
            <a:off x="1299572" y="7918552"/>
            <a:ext cx="7402411" cy="938212"/>
          </a:xfrm>
          <a:prstGeom prst="rect">
            <a:avLst/>
          </a:prstGeom>
        </p:spPr>
        <p:txBody>
          <a:bodyPr lIns="0" tIns="0" rIns="0" bIns="0" rtlCol="0" anchor="t">
            <a:spAutoFit/>
          </a:bodyPr>
          <a:lstStyle/>
          <a:p>
            <a:pPr algn="l">
              <a:lnSpc>
                <a:spcPts val="3374"/>
              </a:lnSpc>
            </a:pPr>
            <a:r>
              <a:rPr lang="en-US" sz="2062">
                <a:solidFill>
                  <a:srgbClr val="000099"/>
                </a:solidFill>
                <a:latin typeface="Open Sans 1"/>
                <a:ea typeface="Open Sans 1"/>
                <a:cs typeface="Open Sans 1"/>
                <a:sym typeface="Open Sans 1"/>
              </a:rPr>
              <a:t>Đánh giá và cập nhật giải pháp Data Loss Prevention (DLP) với các nền tảng như ManageEngine/MS 365/Trellix.</a:t>
            </a:r>
          </a:p>
        </p:txBody>
      </p:sp>
      <p:grpSp>
        <p:nvGrpSpPr>
          <p:cNvPr id="32" name="Group 32"/>
          <p:cNvGrpSpPr/>
          <p:nvPr/>
        </p:nvGrpSpPr>
        <p:grpSpPr>
          <a:xfrm>
            <a:off x="9316641" y="6739233"/>
            <a:ext cx="8017221" cy="2424855"/>
            <a:chOff x="0" y="0"/>
            <a:chExt cx="10689628" cy="3233141"/>
          </a:xfrm>
        </p:grpSpPr>
        <p:sp>
          <p:nvSpPr>
            <p:cNvPr id="33" name="Freeform 33"/>
            <p:cNvSpPr/>
            <p:nvPr/>
          </p:nvSpPr>
          <p:spPr>
            <a:xfrm>
              <a:off x="0" y="0"/>
              <a:ext cx="10689590" cy="3233166"/>
            </a:xfrm>
            <a:custGeom>
              <a:avLst/>
              <a:gdLst/>
              <a:ahLst/>
              <a:cxnLst/>
              <a:rect l="l" t="t" r="r" b="b"/>
              <a:pathLst>
                <a:path w="10689590" h="3233166">
                  <a:moveTo>
                    <a:pt x="0" y="243840"/>
                  </a:moveTo>
                  <a:cubicBezTo>
                    <a:pt x="0" y="109220"/>
                    <a:pt x="109220" y="0"/>
                    <a:pt x="243840" y="0"/>
                  </a:cubicBezTo>
                  <a:lnTo>
                    <a:pt x="10445750" y="0"/>
                  </a:lnTo>
                  <a:cubicBezTo>
                    <a:pt x="10580370" y="0"/>
                    <a:pt x="10689590" y="109220"/>
                    <a:pt x="10689590" y="243840"/>
                  </a:cubicBezTo>
                  <a:lnTo>
                    <a:pt x="10689590" y="2989326"/>
                  </a:lnTo>
                  <a:cubicBezTo>
                    <a:pt x="10689590" y="3123946"/>
                    <a:pt x="10580370" y="3233166"/>
                    <a:pt x="10445750" y="3233166"/>
                  </a:cubicBezTo>
                  <a:lnTo>
                    <a:pt x="243840" y="3233166"/>
                  </a:lnTo>
                  <a:cubicBezTo>
                    <a:pt x="109220" y="3233166"/>
                    <a:pt x="0" y="3123946"/>
                    <a:pt x="0" y="2989326"/>
                  </a:cubicBezTo>
                  <a:close/>
                </a:path>
              </a:pathLst>
            </a:custGeom>
            <a:solidFill>
              <a:srgbClr val="FFFFFF"/>
            </a:solidFill>
          </p:spPr>
        </p:sp>
      </p:grpSp>
      <p:grpSp>
        <p:nvGrpSpPr>
          <p:cNvPr id="34" name="Group 34"/>
          <p:cNvGrpSpPr/>
          <p:nvPr/>
        </p:nvGrpSpPr>
        <p:grpSpPr>
          <a:xfrm>
            <a:off x="9278541" y="6701133"/>
            <a:ext cx="8017221" cy="152400"/>
            <a:chOff x="0" y="0"/>
            <a:chExt cx="10689628" cy="203200"/>
          </a:xfrm>
        </p:grpSpPr>
        <p:sp>
          <p:nvSpPr>
            <p:cNvPr id="35" name="Freeform 35"/>
            <p:cNvSpPr/>
            <p:nvPr/>
          </p:nvSpPr>
          <p:spPr>
            <a:xfrm>
              <a:off x="0" y="0"/>
              <a:ext cx="10689590" cy="203200"/>
            </a:xfrm>
            <a:custGeom>
              <a:avLst/>
              <a:gdLst/>
              <a:ahLst/>
              <a:cxnLst/>
              <a:rect l="l" t="t" r="r" b="b"/>
              <a:pathLst>
                <a:path w="10689590" h="203200">
                  <a:moveTo>
                    <a:pt x="0" y="101600"/>
                  </a:moveTo>
                  <a:cubicBezTo>
                    <a:pt x="0" y="45466"/>
                    <a:pt x="45466" y="0"/>
                    <a:pt x="101600" y="0"/>
                  </a:cubicBezTo>
                  <a:lnTo>
                    <a:pt x="10587990" y="0"/>
                  </a:lnTo>
                  <a:cubicBezTo>
                    <a:pt x="10644124" y="0"/>
                    <a:pt x="10689590" y="45466"/>
                    <a:pt x="10689590" y="101600"/>
                  </a:cubicBezTo>
                  <a:cubicBezTo>
                    <a:pt x="10689590" y="157734"/>
                    <a:pt x="10644124" y="203200"/>
                    <a:pt x="10587990" y="203200"/>
                  </a:cubicBezTo>
                  <a:lnTo>
                    <a:pt x="101600" y="203200"/>
                  </a:lnTo>
                  <a:cubicBezTo>
                    <a:pt x="45466" y="203200"/>
                    <a:pt x="0" y="157734"/>
                    <a:pt x="0" y="101600"/>
                  </a:cubicBezTo>
                  <a:close/>
                </a:path>
              </a:pathLst>
            </a:custGeom>
            <a:solidFill>
              <a:srgbClr val="FF0101"/>
            </a:solidFill>
          </p:spPr>
        </p:sp>
      </p:grpSp>
      <p:grpSp>
        <p:nvGrpSpPr>
          <p:cNvPr id="36" name="Group 36"/>
          <p:cNvGrpSpPr/>
          <p:nvPr/>
        </p:nvGrpSpPr>
        <p:grpSpPr>
          <a:xfrm>
            <a:off x="12883086" y="6335316"/>
            <a:ext cx="807987" cy="807987"/>
            <a:chOff x="0" y="0"/>
            <a:chExt cx="1077316" cy="1077316"/>
          </a:xfrm>
        </p:grpSpPr>
        <p:sp>
          <p:nvSpPr>
            <p:cNvPr id="37" name="Freeform 37"/>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FF0101"/>
            </a:solidFill>
          </p:spPr>
        </p:sp>
      </p:grpSp>
      <p:sp>
        <p:nvSpPr>
          <p:cNvPr id="38" name="TextBox 38"/>
          <p:cNvSpPr txBox="1"/>
          <p:nvPr/>
        </p:nvSpPr>
        <p:spPr>
          <a:xfrm>
            <a:off x="13125526" y="6432499"/>
            <a:ext cx="323107" cy="508692"/>
          </a:xfrm>
          <a:prstGeom prst="rect">
            <a:avLst/>
          </a:prstGeom>
        </p:spPr>
        <p:txBody>
          <a:bodyPr lIns="0" tIns="0" rIns="0" bIns="0" rtlCol="0" anchor="t">
            <a:spAutoFit/>
          </a:bodyPr>
          <a:lstStyle/>
          <a:p>
            <a:pPr algn="l">
              <a:lnSpc>
                <a:spcPts val="4062"/>
              </a:lnSpc>
            </a:pPr>
            <a:r>
              <a:rPr lang="en-US" sz="2499" b="1">
                <a:solidFill>
                  <a:srgbClr val="FFFFFF"/>
                </a:solidFill>
                <a:latin typeface="Open Sans 1 Bold"/>
                <a:ea typeface="Open Sans 1 Bold"/>
                <a:cs typeface="Open Sans 1 Bold"/>
                <a:sym typeface="Open Sans 1 Bold"/>
              </a:rPr>
              <a:t>4</a:t>
            </a:r>
          </a:p>
        </p:txBody>
      </p:sp>
      <p:sp>
        <p:nvSpPr>
          <p:cNvPr id="39" name="TextBox 39"/>
          <p:cNvSpPr txBox="1"/>
          <p:nvPr/>
        </p:nvSpPr>
        <p:spPr>
          <a:xfrm>
            <a:off x="9585874" y="7393486"/>
            <a:ext cx="4091140" cy="439788"/>
          </a:xfrm>
          <a:prstGeom prst="rect">
            <a:avLst/>
          </a:prstGeom>
        </p:spPr>
        <p:txBody>
          <a:bodyPr lIns="0" tIns="0" rIns="0" bIns="0" rtlCol="0" anchor="t">
            <a:spAutoFit/>
          </a:bodyPr>
          <a:lstStyle/>
          <a:p>
            <a:pPr algn="l">
              <a:lnSpc>
                <a:spcPts val="3312"/>
              </a:lnSpc>
            </a:pPr>
            <a:r>
              <a:rPr lang="en-US" sz="2625" b="1">
                <a:solidFill>
                  <a:srgbClr val="000099"/>
                </a:solidFill>
                <a:latin typeface="Open Sans 1 Bold"/>
                <a:ea typeface="Open Sans 1 Bold"/>
                <a:cs typeface="Open Sans 1 Bold"/>
                <a:sym typeface="Open Sans 1 Bold"/>
              </a:rPr>
              <a:t>Nâng Cấp ERP</a:t>
            </a:r>
          </a:p>
        </p:txBody>
      </p:sp>
      <p:sp>
        <p:nvSpPr>
          <p:cNvPr id="40" name="TextBox 40"/>
          <p:cNvSpPr txBox="1"/>
          <p:nvPr/>
        </p:nvSpPr>
        <p:spPr>
          <a:xfrm>
            <a:off x="9585874" y="7918552"/>
            <a:ext cx="7402563" cy="938212"/>
          </a:xfrm>
          <a:prstGeom prst="rect">
            <a:avLst/>
          </a:prstGeom>
        </p:spPr>
        <p:txBody>
          <a:bodyPr lIns="0" tIns="0" rIns="0" bIns="0" rtlCol="0" anchor="t">
            <a:spAutoFit/>
          </a:bodyPr>
          <a:lstStyle/>
          <a:p>
            <a:pPr algn="l">
              <a:lnSpc>
                <a:spcPts val="3374"/>
              </a:lnSpc>
            </a:pPr>
            <a:r>
              <a:rPr lang="en-US" sz="2062">
                <a:solidFill>
                  <a:srgbClr val="000099"/>
                </a:solidFill>
                <a:latin typeface="Open Sans 1"/>
                <a:ea typeface="Open Sans 1"/>
                <a:cs typeface="Open Sans 1"/>
                <a:sym typeface="Open Sans 1"/>
              </a:rPr>
              <a:t>Hoàn thành test các nghiệp vụ ERP/APP TDA/QRCODE/DMS</a:t>
            </a: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5548312" y="927890"/>
            <a:ext cx="3748087" cy="895350"/>
            <a:chOff x="0" y="0"/>
            <a:chExt cx="706044" cy="168656"/>
          </a:xfrm>
        </p:grpSpPr>
        <p:sp>
          <p:nvSpPr>
            <p:cNvPr id="4" name="Freeform 4"/>
            <p:cNvSpPr/>
            <p:nvPr/>
          </p:nvSpPr>
          <p:spPr>
            <a:xfrm>
              <a:off x="0" y="0"/>
              <a:ext cx="706044" cy="168656"/>
            </a:xfrm>
            <a:custGeom>
              <a:avLst/>
              <a:gdLst/>
              <a:ahLst/>
              <a:cxnLst/>
              <a:rect l="l" t="t" r="r" b="b"/>
              <a:pathLst>
                <a:path w="706044" h="168656">
                  <a:moveTo>
                    <a:pt x="706044" y="41311"/>
                  </a:moveTo>
                  <a:lnTo>
                    <a:pt x="706044" y="127345"/>
                  </a:lnTo>
                  <a:cubicBezTo>
                    <a:pt x="706044" y="150160"/>
                    <a:pt x="687548" y="168656"/>
                    <a:pt x="664733" y="168656"/>
                  </a:cubicBezTo>
                  <a:lnTo>
                    <a:pt x="41311" y="168656"/>
                  </a:lnTo>
                  <a:cubicBezTo>
                    <a:pt x="30355" y="168656"/>
                    <a:pt x="19847" y="164304"/>
                    <a:pt x="12100" y="156556"/>
                  </a:cubicBezTo>
                  <a:cubicBezTo>
                    <a:pt x="4352" y="148809"/>
                    <a:pt x="0" y="138301"/>
                    <a:pt x="0" y="127345"/>
                  </a:cubicBezTo>
                  <a:lnTo>
                    <a:pt x="0" y="41311"/>
                  </a:lnTo>
                  <a:cubicBezTo>
                    <a:pt x="0" y="18496"/>
                    <a:pt x="18496" y="0"/>
                    <a:pt x="41311" y="0"/>
                  </a:cubicBezTo>
                  <a:lnTo>
                    <a:pt x="664733" y="0"/>
                  </a:lnTo>
                  <a:cubicBezTo>
                    <a:pt x="675689" y="0"/>
                    <a:pt x="686197" y="4352"/>
                    <a:pt x="693944" y="12100"/>
                  </a:cubicBezTo>
                  <a:cubicBezTo>
                    <a:pt x="701692" y="19847"/>
                    <a:pt x="706044" y="30355"/>
                    <a:pt x="706044" y="41311"/>
                  </a:cubicBezTo>
                  <a:close/>
                </a:path>
              </a:pathLst>
            </a:custGeom>
            <a:solidFill>
              <a:srgbClr val="FFFFFF"/>
            </a:solidFill>
          </p:spPr>
        </p:sp>
        <p:sp>
          <p:nvSpPr>
            <p:cNvPr id="5" name="TextBox 5"/>
            <p:cNvSpPr txBox="1"/>
            <p:nvPr/>
          </p:nvSpPr>
          <p:spPr>
            <a:xfrm>
              <a:off x="0" y="-28575"/>
              <a:ext cx="706044" cy="197231"/>
            </a:xfrm>
            <a:prstGeom prst="rect">
              <a:avLst/>
            </a:prstGeom>
          </p:spPr>
          <p:txBody>
            <a:bodyPr lIns="50800" tIns="50800" rIns="50800" bIns="50800" rtlCol="0" anchor="ctr"/>
            <a:lstStyle/>
            <a:p>
              <a:pPr algn="ctr">
                <a:lnSpc>
                  <a:spcPts val="2519"/>
                </a:lnSpc>
              </a:pPr>
              <a:endParaRPr/>
            </a:p>
          </p:txBody>
        </p:sp>
      </p:grpSp>
      <p:grpSp>
        <p:nvGrpSpPr>
          <p:cNvPr id="6" name="Group 6"/>
          <p:cNvGrpSpPr/>
          <p:nvPr/>
        </p:nvGrpSpPr>
        <p:grpSpPr>
          <a:xfrm>
            <a:off x="7553325" y="3145631"/>
            <a:ext cx="3181350" cy="895350"/>
            <a:chOff x="0" y="0"/>
            <a:chExt cx="599285" cy="168656"/>
          </a:xfrm>
        </p:grpSpPr>
        <p:sp>
          <p:nvSpPr>
            <p:cNvPr id="7" name="Freeform 7"/>
            <p:cNvSpPr/>
            <p:nvPr/>
          </p:nvSpPr>
          <p:spPr>
            <a:xfrm>
              <a:off x="0" y="0"/>
              <a:ext cx="599285" cy="168656"/>
            </a:xfrm>
            <a:custGeom>
              <a:avLst/>
              <a:gdLst/>
              <a:ahLst/>
              <a:cxnLst/>
              <a:rect l="l" t="t" r="r" b="b"/>
              <a:pathLst>
                <a:path w="599285" h="168656">
                  <a:moveTo>
                    <a:pt x="599285" y="48671"/>
                  </a:moveTo>
                  <a:lnTo>
                    <a:pt x="599285" y="119985"/>
                  </a:lnTo>
                  <a:cubicBezTo>
                    <a:pt x="599285" y="146865"/>
                    <a:pt x="577495" y="168656"/>
                    <a:pt x="550615" y="168656"/>
                  </a:cubicBezTo>
                  <a:lnTo>
                    <a:pt x="48671" y="168656"/>
                  </a:lnTo>
                  <a:cubicBezTo>
                    <a:pt x="35762" y="168656"/>
                    <a:pt x="23383" y="163528"/>
                    <a:pt x="14255" y="154401"/>
                  </a:cubicBezTo>
                  <a:cubicBezTo>
                    <a:pt x="5128" y="145273"/>
                    <a:pt x="0" y="132894"/>
                    <a:pt x="0" y="119985"/>
                  </a:cubicBezTo>
                  <a:lnTo>
                    <a:pt x="0" y="48671"/>
                  </a:lnTo>
                  <a:cubicBezTo>
                    <a:pt x="0" y="21791"/>
                    <a:pt x="21791" y="0"/>
                    <a:pt x="48671" y="0"/>
                  </a:cubicBezTo>
                  <a:lnTo>
                    <a:pt x="550615" y="0"/>
                  </a:lnTo>
                  <a:cubicBezTo>
                    <a:pt x="577495" y="0"/>
                    <a:pt x="599285" y="21791"/>
                    <a:pt x="599285" y="48671"/>
                  </a:cubicBezTo>
                  <a:close/>
                </a:path>
              </a:pathLst>
            </a:custGeom>
            <a:solidFill>
              <a:srgbClr val="FFFFFF"/>
            </a:solidFill>
          </p:spPr>
        </p:sp>
        <p:sp>
          <p:nvSpPr>
            <p:cNvPr id="8" name="TextBox 8"/>
            <p:cNvSpPr txBox="1"/>
            <p:nvPr/>
          </p:nvSpPr>
          <p:spPr>
            <a:xfrm>
              <a:off x="0" y="-28575"/>
              <a:ext cx="599285" cy="197231"/>
            </a:xfrm>
            <a:prstGeom prst="rect">
              <a:avLst/>
            </a:prstGeom>
          </p:spPr>
          <p:txBody>
            <a:bodyPr lIns="50800" tIns="50800" rIns="50800" bIns="50800" rtlCol="0" anchor="ctr"/>
            <a:lstStyle/>
            <a:p>
              <a:pPr algn="ctr">
                <a:lnSpc>
                  <a:spcPts val="2519"/>
                </a:lnSpc>
              </a:pPr>
              <a:endParaRPr/>
            </a:p>
          </p:txBody>
        </p:sp>
      </p:grpSp>
      <p:grpSp>
        <p:nvGrpSpPr>
          <p:cNvPr id="9" name="Group 9"/>
          <p:cNvGrpSpPr/>
          <p:nvPr/>
        </p:nvGrpSpPr>
        <p:grpSpPr>
          <a:xfrm>
            <a:off x="7553325" y="5919788"/>
            <a:ext cx="3181350" cy="895350"/>
            <a:chOff x="0" y="0"/>
            <a:chExt cx="599285" cy="168656"/>
          </a:xfrm>
        </p:grpSpPr>
        <p:sp>
          <p:nvSpPr>
            <p:cNvPr id="10" name="Freeform 10"/>
            <p:cNvSpPr/>
            <p:nvPr/>
          </p:nvSpPr>
          <p:spPr>
            <a:xfrm>
              <a:off x="0" y="0"/>
              <a:ext cx="599285" cy="168656"/>
            </a:xfrm>
            <a:custGeom>
              <a:avLst/>
              <a:gdLst/>
              <a:ahLst/>
              <a:cxnLst/>
              <a:rect l="l" t="t" r="r" b="b"/>
              <a:pathLst>
                <a:path w="599285" h="168656">
                  <a:moveTo>
                    <a:pt x="599285" y="48671"/>
                  </a:moveTo>
                  <a:lnTo>
                    <a:pt x="599285" y="119985"/>
                  </a:lnTo>
                  <a:cubicBezTo>
                    <a:pt x="599285" y="146865"/>
                    <a:pt x="577495" y="168656"/>
                    <a:pt x="550615" y="168656"/>
                  </a:cubicBezTo>
                  <a:lnTo>
                    <a:pt x="48671" y="168656"/>
                  </a:lnTo>
                  <a:cubicBezTo>
                    <a:pt x="35762" y="168656"/>
                    <a:pt x="23383" y="163528"/>
                    <a:pt x="14255" y="154401"/>
                  </a:cubicBezTo>
                  <a:cubicBezTo>
                    <a:pt x="5128" y="145273"/>
                    <a:pt x="0" y="132894"/>
                    <a:pt x="0" y="119985"/>
                  </a:cubicBezTo>
                  <a:lnTo>
                    <a:pt x="0" y="48671"/>
                  </a:lnTo>
                  <a:cubicBezTo>
                    <a:pt x="0" y="21791"/>
                    <a:pt x="21791" y="0"/>
                    <a:pt x="48671" y="0"/>
                  </a:cubicBezTo>
                  <a:lnTo>
                    <a:pt x="550615" y="0"/>
                  </a:lnTo>
                  <a:cubicBezTo>
                    <a:pt x="577495" y="0"/>
                    <a:pt x="599285" y="21791"/>
                    <a:pt x="599285" y="48671"/>
                  </a:cubicBezTo>
                  <a:close/>
                </a:path>
              </a:pathLst>
            </a:custGeom>
            <a:solidFill>
              <a:srgbClr val="FFFFFF"/>
            </a:solidFill>
          </p:spPr>
        </p:sp>
        <p:sp>
          <p:nvSpPr>
            <p:cNvPr id="11" name="TextBox 11"/>
            <p:cNvSpPr txBox="1"/>
            <p:nvPr/>
          </p:nvSpPr>
          <p:spPr>
            <a:xfrm>
              <a:off x="0" y="-28575"/>
              <a:ext cx="599285" cy="197231"/>
            </a:xfrm>
            <a:prstGeom prst="rect">
              <a:avLst/>
            </a:prstGeom>
          </p:spPr>
          <p:txBody>
            <a:bodyPr lIns="50800" tIns="50800" rIns="50800" bIns="50800" rtlCol="0" anchor="ctr"/>
            <a:lstStyle/>
            <a:p>
              <a:pPr algn="ctr">
                <a:lnSpc>
                  <a:spcPts val="2519"/>
                </a:lnSpc>
              </a:pPr>
              <a:endParaRPr/>
            </a:p>
          </p:txBody>
        </p:sp>
      </p:grpSp>
      <p:grpSp>
        <p:nvGrpSpPr>
          <p:cNvPr id="12" name="Group 12"/>
          <p:cNvGrpSpPr/>
          <p:nvPr/>
        </p:nvGrpSpPr>
        <p:grpSpPr>
          <a:xfrm>
            <a:off x="5548312" y="8463760"/>
            <a:ext cx="3748087" cy="895350"/>
            <a:chOff x="0" y="0"/>
            <a:chExt cx="706044" cy="168656"/>
          </a:xfrm>
        </p:grpSpPr>
        <p:sp>
          <p:nvSpPr>
            <p:cNvPr id="13" name="Freeform 13"/>
            <p:cNvSpPr/>
            <p:nvPr/>
          </p:nvSpPr>
          <p:spPr>
            <a:xfrm>
              <a:off x="0" y="0"/>
              <a:ext cx="706044" cy="168656"/>
            </a:xfrm>
            <a:custGeom>
              <a:avLst/>
              <a:gdLst/>
              <a:ahLst/>
              <a:cxnLst/>
              <a:rect l="l" t="t" r="r" b="b"/>
              <a:pathLst>
                <a:path w="706044" h="168656">
                  <a:moveTo>
                    <a:pt x="706044" y="41311"/>
                  </a:moveTo>
                  <a:lnTo>
                    <a:pt x="706044" y="127345"/>
                  </a:lnTo>
                  <a:cubicBezTo>
                    <a:pt x="706044" y="150160"/>
                    <a:pt x="687548" y="168656"/>
                    <a:pt x="664733" y="168656"/>
                  </a:cubicBezTo>
                  <a:lnTo>
                    <a:pt x="41311" y="168656"/>
                  </a:lnTo>
                  <a:cubicBezTo>
                    <a:pt x="30355" y="168656"/>
                    <a:pt x="19847" y="164304"/>
                    <a:pt x="12100" y="156556"/>
                  </a:cubicBezTo>
                  <a:cubicBezTo>
                    <a:pt x="4352" y="148809"/>
                    <a:pt x="0" y="138301"/>
                    <a:pt x="0" y="127345"/>
                  </a:cubicBezTo>
                  <a:lnTo>
                    <a:pt x="0" y="41311"/>
                  </a:lnTo>
                  <a:cubicBezTo>
                    <a:pt x="0" y="18496"/>
                    <a:pt x="18496" y="0"/>
                    <a:pt x="41311" y="0"/>
                  </a:cubicBezTo>
                  <a:lnTo>
                    <a:pt x="664733" y="0"/>
                  </a:lnTo>
                  <a:cubicBezTo>
                    <a:pt x="675689" y="0"/>
                    <a:pt x="686197" y="4352"/>
                    <a:pt x="693944" y="12100"/>
                  </a:cubicBezTo>
                  <a:cubicBezTo>
                    <a:pt x="701692" y="19847"/>
                    <a:pt x="706044" y="30355"/>
                    <a:pt x="706044" y="41311"/>
                  </a:cubicBezTo>
                  <a:close/>
                </a:path>
              </a:pathLst>
            </a:custGeom>
            <a:solidFill>
              <a:srgbClr val="FFFFFF"/>
            </a:solidFill>
          </p:spPr>
        </p:sp>
        <p:sp>
          <p:nvSpPr>
            <p:cNvPr id="14" name="TextBox 14"/>
            <p:cNvSpPr txBox="1"/>
            <p:nvPr/>
          </p:nvSpPr>
          <p:spPr>
            <a:xfrm>
              <a:off x="0" y="-28575"/>
              <a:ext cx="706044" cy="197231"/>
            </a:xfrm>
            <a:prstGeom prst="rect">
              <a:avLst/>
            </a:prstGeom>
          </p:spPr>
          <p:txBody>
            <a:bodyPr lIns="50800" tIns="50800" rIns="50800" bIns="50800" rtlCol="0" anchor="ctr"/>
            <a:lstStyle/>
            <a:p>
              <a:pPr algn="ctr">
                <a:lnSpc>
                  <a:spcPts val="2519"/>
                </a:lnSpc>
              </a:pPr>
              <a:endParaRPr/>
            </a:p>
          </p:txBody>
        </p:sp>
      </p:grpSp>
      <p:grpSp>
        <p:nvGrpSpPr>
          <p:cNvPr id="15" name="Group 15"/>
          <p:cNvGrpSpPr/>
          <p:nvPr/>
        </p:nvGrpSpPr>
        <p:grpSpPr>
          <a:xfrm>
            <a:off x="4981575" y="808827"/>
            <a:ext cx="1133475" cy="1133475"/>
            <a:chOff x="0" y="0"/>
            <a:chExt cx="1511300" cy="1511300"/>
          </a:xfrm>
        </p:grpSpPr>
        <p:grpSp>
          <p:nvGrpSpPr>
            <p:cNvPr id="16" name="Group 16"/>
            <p:cNvGrpSpPr/>
            <p:nvPr/>
          </p:nvGrpSpPr>
          <p:grpSpPr>
            <a:xfrm>
              <a:off x="0" y="0"/>
              <a:ext cx="1511300" cy="1511300"/>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0101"/>
              </a:solidFill>
              <a:ln w="19050" cap="sq">
                <a:solidFill>
                  <a:srgbClr val="FFFFFF"/>
                </a:solidFill>
                <a:prstDash val="solid"/>
                <a:miter/>
              </a:ln>
            </p:spPr>
          </p:sp>
          <p:sp>
            <p:nvSpPr>
              <p:cNvPr id="18" name="TextBox 18"/>
              <p:cNvSpPr txBox="1"/>
              <p:nvPr/>
            </p:nvSpPr>
            <p:spPr>
              <a:xfrm>
                <a:off x="76200" y="47625"/>
                <a:ext cx="660400" cy="688975"/>
              </a:xfrm>
              <a:prstGeom prst="rect">
                <a:avLst/>
              </a:prstGeom>
            </p:spPr>
            <p:txBody>
              <a:bodyPr lIns="50800" tIns="50800" rIns="50800" bIns="50800" rtlCol="0" anchor="ctr"/>
              <a:lstStyle/>
              <a:p>
                <a:pPr marL="0" lvl="0" indent="0" algn="ctr">
                  <a:lnSpc>
                    <a:spcPts val="2519"/>
                  </a:lnSpc>
                  <a:spcBef>
                    <a:spcPct val="0"/>
                  </a:spcBef>
                </a:pPr>
                <a:endParaRPr/>
              </a:p>
            </p:txBody>
          </p:sp>
        </p:grpSp>
        <p:sp>
          <p:nvSpPr>
            <p:cNvPr id="19" name="Freeform 19"/>
            <p:cNvSpPr/>
            <p:nvPr/>
          </p:nvSpPr>
          <p:spPr>
            <a:xfrm>
              <a:off x="459118" y="397205"/>
              <a:ext cx="593063" cy="716890"/>
            </a:xfrm>
            <a:custGeom>
              <a:avLst/>
              <a:gdLst/>
              <a:ahLst/>
              <a:cxnLst/>
              <a:rect l="l" t="t" r="r" b="b"/>
              <a:pathLst>
                <a:path w="593063" h="716890">
                  <a:moveTo>
                    <a:pt x="0" y="0"/>
                  </a:moveTo>
                  <a:lnTo>
                    <a:pt x="593064" y="0"/>
                  </a:lnTo>
                  <a:lnTo>
                    <a:pt x="593064" y="716890"/>
                  </a:lnTo>
                  <a:lnTo>
                    <a:pt x="0" y="716890"/>
                  </a:lnTo>
                  <a:lnTo>
                    <a:pt x="0" y="0"/>
                  </a:lnTo>
                  <a:close/>
                </a:path>
              </a:pathLst>
            </a:custGeom>
            <a:blipFill>
              <a:blip r:embed="rId2">
                <a:extLst>
                  <a:ext uri="{96DAC541-7B7A-43D3-8B79-37D633B846F1}">
                    <asvg:svgBlip xmlns:asvg="http://schemas.microsoft.com/office/drawing/2016/SVG/main" xmlns="" r:embed="rId4"/>
                  </a:ext>
                </a:extLst>
              </a:blip>
              <a:stretch>
                <a:fillRect/>
              </a:stretch>
            </a:blipFill>
          </p:spPr>
        </p:sp>
      </p:grpSp>
      <p:grpSp>
        <p:nvGrpSpPr>
          <p:cNvPr id="20" name="Group 20"/>
          <p:cNvGrpSpPr/>
          <p:nvPr/>
        </p:nvGrpSpPr>
        <p:grpSpPr>
          <a:xfrm>
            <a:off x="6986587" y="3026569"/>
            <a:ext cx="1133475" cy="1133475"/>
            <a:chOff x="0" y="0"/>
            <a:chExt cx="1511300" cy="1511300"/>
          </a:xfrm>
        </p:grpSpPr>
        <p:grpSp>
          <p:nvGrpSpPr>
            <p:cNvPr id="21" name="Group 21"/>
            <p:cNvGrpSpPr/>
            <p:nvPr/>
          </p:nvGrpSpPr>
          <p:grpSpPr>
            <a:xfrm>
              <a:off x="0" y="0"/>
              <a:ext cx="1511300" cy="1511300"/>
              <a:chOff x="0" y="0"/>
              <a:chExt cx="812800" cy="812800"/>
            </a:xfrm>
          </p:grpSpPr>
          <p:sp>
            <p:nvSpPr>
              <p:cNvPr id="22" name="Freeform 2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0101"/>
              </a:solidFill>
              <a:ln w="19050" cap="sq">
                <a:solidFill>
                  <a:srgbClr val="FFFFFF"/>
                </a:solidFill>
                <a:prstDash val="solid"/>
                <a:miter/>
              </a:ln>
            </p:spPr>
          </p:sp>
          <p:sp>
            <p:nvSpPr>
              <p:cNvPr id="23" name="TextBox 23"/>
              <p:cNvSpPr txBox="1"/>
              <p:nvPr/>
            </p:nvSpPr>
            <p:spPr>
              <a:xfrm>
                <a:off x="76200" y="47625"/>
                <a:ext cx="660400" cy="688975"/>
              </a:xfrm>
              <a:prstGeom prst="rect">
                <a:avLst/>
              </a:prstGeom>
            </p:spPr>
            <p:txBody>
              <a:bodyPr lIns="50800" tIns="50800" rIns="50800" bIns="50800" rtlCol="0" anchor="ctr"/>
              <a:lstStyle/>
              <a:p>
                <a:pPr marL="0" lvl="0" indent="0" algn="ctr">
                  <a:lnSpc>
                    <a:spcPts val="2519"/>
                  </a:lnSpc>
                  <a:spcBef>
                    <a:spcPct val="0"/>
                  </a:spcBef>
                </a:pPr>
                <a:endParaRPr/>
              </a:p>
            </p:txBody>
          </p:sp>
        </p:grpSp>
        <p:sp>
          <p:nvSpPr>
            <p:cNvPr id="24" name="Freeform 24"/>
            <p:cNvSpPr/>
            <p:nvPr/>
          </p:nvSpPr>
          <p:spPr>
            <a:xfrm>
              <a:off x="396538" y="489257"/>
              <a:ext cx="718224" cy="578497"/>
            </a:xfrm>
            <a:custGeom>
              <a:avLst/>
              <a:gdLst/>
              <a:ahLst/>
              <a:cxnLst/>
              <a:rect l="l" t="t" r="r" b="b"/>
              <a:pathLst>
                <a:path w="718224" h="578497">
                  <a:moveTo>
                    <a:pt x="0" y="0"/>
                  </a:moveTo>
                  <a:lnTo>
                    <a:pt x="718224" y="0"/>
                  </a:lnTo>
                  <a:lnTo>
                    <a:pt x="718224" y="578496"/>
                  </a:lnTo>
                  <a:lnTo>
                    <a:pt x="0" y="578496"/>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grpSp>
      <p:grpSp>
        <p:nvGrpSpPr>
          <p:cNvPr id="25" name="Group 25"/>
          <p:cNvGrpSpPr/>
          <p:nvPr/>
        </p:nvGrpSpPr>
        <p:grpSpPr>
          <a:xfrm>
            <a:off x="6986587" y="5800725"/>
            <a:ext cx="1133475" cy="1133475"/>
            <a:chOff x="0" y="0"/>
            <a:chExt cx="1511300" cy="1511300"/>
          </a:xfrm>
        </p:grpSpPr>
        <p:grpSp>
          <p:nvGrpSpPr>
            <p:cNvPr id="26" name="Group 26"/>
            <p:cNvGrpSpPr/>
            <p:nvPr/>
          </p:nvGrpSpPr>
          <p:grpSpPr>
            <a:xfrm>
              <a:off x="0" y="0"/>
              <a:ext cx="1511300" cy="1511300"/>
              <a:chOff x="0" y="0"/>
              <a:chExt cx="812800" cy="812800"/>
            </a:xfrm>
          </p:grpSpPr>
          <p:sp>
            <p:nvSpPr>
              <p:cNvPr id="27" name="Freeform 2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0101"/>
              </a:solidFill>
              <a:ln w="19050" cap="sq">
                <a:solidFill>
                  <a:srgbClr val="FFFFFF"/>
                </a:solidFill>
                <a:prstDash val="solid"/>
                <a:miter/>
              </a:ln>
            </p:spPr>
          </p:sp>
          <p:sp>
            <p:nvSpPr>
              <p:cNvPr id="28" name="TextBox 28"/>
              <p:cNvSpPr txBox="1"/>
              <p:nvPr/>
            </p:nvSpPr>
            <p:spPr>
              <a:xfrm>
                <a:off x="76200" y="47625"/>
                <a:ext cx="660400" cy="688975"/>
              </a:xfrm>
              <a:prstGeom prst="rect">
                <a:avLst/>
              </a:prstGeom>
            </p:spPr>
            <p:txBody>
              <a:bodyPr lIns="50800" tIns="50800" rIns="50800" bIns="50800" rtlCol="0" anchor="ctr"/>
              <a:lstStyle/>
              <a:p>
                <a:pPr marL="0" lvl="0" indent="0" algn="ctr">
                  <a:lnSpc>
                    <a:spcPts val="2519"/>
                  </a:lnSpc>
                  <a:spcBef>
                    <a:spcPct val="0"/>
                  </a:spcBef>
                </a:pPr>
                <a:endParaRPr/>
              </a:p>
            </p:txBody>
          </p:sp>
        </p:grpSp>
        <p:sp>
          <p:nvSpPr>
            <p:cNvPr id="29" name="Freeform 29"/>
            <p:cNvSpPr/>
            <p:nvPr/>
          </p:nvSpPr>
          <p:spPr>
            <a:xfrm>
              <a:off x="430968" y="441594"/>
              <a:ext cx="649364" cy="628112"/>
            </a:xfrm>
            <a:custGeom>
              <a:avLst/>
              <a:gdLst/>
              <a:ahLst/>
              <a:cxnLst/>
              <a:rect l="l" t="t" r="r" b="b"/>
              <a:pathLst>
                <a:path w="649364" h="628112">
                  <a:moveTo>
                    <a:pt x="0" y="0"/>
                  </a:moveTo>
                  <a:lnTo>
                    <a:pt x="649364" y="0"/>
                  </a:lnTo>
                  <a:lnTo>
                    <a:pt x="649364" y="628112"/>
                  </a:lnTo>
                  <a:lnTo>
                    <a:pt x="0" y="628112"/>
                  </a:lnTo>
                  <a:lnTo>
                    <a:pt x="0" y="0"/>
                  </a:lnTo>
                  <a:close/>
                </a:path>
              </a:pathLst>
            </a:custGeom>
            <a:blipFill>
              <a:blip r:embed="rId7">
                <a:extLst>
                  <a:ext uri="{96DAC541-7B7A-43D3-8B79-37D633B846F1}">
                    <asvg:svgBlip xmlns:asvg="http://schemas.microsoft.com/office/drawing/2016/SVG/main" xmlns="" r:embed="rId8"/>
                  </a:ext>
                </a:extLst>
              </a:blip>
              <a:stretch>
                <a:fillRect/>
              </a:stretch>
            </a:blipFill>
          </p:spPr>
        </p:sp>
      </p:grpSp>
      <p:grpSp>
        <p:nvGrpSpPr>
          <p:cNvPr id="30" name="Group 30"/>
          <p:cNvGrpSpPr/>
          <p:nvPr/>
        </p:nvGrpSpPr>
        <p:grpSpPr>
          <a:xfrm>
            <a:off x="4981575" y="8344698"/>
            <a:ext cx="1133475" cy="1133475"/>
            <a:chOff x="0" y="0"/>
            <a:chExt cx="1511300" cy="1511300"/>
          </a:xfrm>
        </p:grpSpPr>
        <p:grpSp>
          <p:nvGrpSpPr>
            <p:cNvPr id="31" name="Group 31"/>
            <p:cNvGrpSpPr/>
            <p:nvPr/>
          </p:nvGrpSpPr>
          <p:grpSpPr>
            <a:xfrm>
              <a:off x="0" y="0"/>
              <a:ext cx="1511300" cy="1511300"/>
              <a:chOff x="0" y="0"/>
              <a:chExt cx="812800" cy="812800"/>
            </a:xfrm>
          </p:grpSpPr>
          <p:sp>
            <p:nvSpPr>
              <p:cNvPr id="32" name="Freeform 3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0101"/>
              </a:solidFill>
              <a:ln w="19050" cap="sq">
                <a:solidFill>
                  <a:srgbClr val="FFFFFF"/>
                </a:solidFill>
                <a:prstDash val="solid"/>
                <a:miter/>
              </a:ln>
            </p:spPr>
          </p:sp>
          <p:sp>
            <p:nvSpPr>
              <p:cNvPr id="33" name="TextBox 33"/>
              <p:cNvSpPr txBox="1"/>
              <p:nvPr/>
            </p:nvSpPr>
            <p:spPr>
              <a:xfrm>
                <a:off x="76200" y="47625"/>
                <a:ext cx="660400" cy="688975"/>
              </a:xfrm>
              <a:prstGeom prst="rect">
                <a:avLst/>
              </a:prstGeom>
            </p:spPr>
            <p:txBody>
              <a:bodyPr lIns="50800" tIns="50800" rIns="50800" bIns="50800" rtlCol="0" anchor="ctr"/>
              <a:lstStyle/>
              <a:p>
                <a:pPr marL="0" lvl="0" indent="0" algn="ctr">
                  <a:lnSpc>
                    <a:spcPts val="2519"/>
                  </a:lnSpc>
                  <a:spcBef>
                    <a:spcPct val="0"/>
                  </a:spcBef>
                </a:pPr>
                <a:endParaRPr/>
              </a:p>
            </p:txBody>
          </p:sp>
        </p:grpSp>
        <p:sp>
          <p:nvSpPr>
            <p:cNvPr id="34" name="Freeform 34"/>
            <p:cNvSpPr/>
            <p:nvPr/>
          </p:nvSpPr>
          <p:spPr>
            <a:xfrm>
              <a:off x="331695" y="346649"/>
              <a:ext cx="783311" cy="753403"/>
            </a:xfrm>
            <a:custGeom>
              <a:avLst/>
              <a:gdLst/>
              <a:ahLst/>
              <a:cxnLst/>
              <a:rect l="l" t="t" r="r" b="b"/>
              <a:pathLst>
                <a:path w="783311" h="753403">
                  <a:moveTo>
                    <a:pt x="0" y="0"/>
                  </a:moveTo>
                  <a:lnTo>
                    <a:pt x="783312" y="0"/>
                  </a:lnTo>
                  <a:lnTo>
                    <a:pt x="783312" y="753403"/>
                  </a:lnTo>
                  <a:lnTo>
                    <a:pt x="0" y="753403"/>
                  </a:lnTo>
                  <a:lnTo>
                    <a:pt x="0" y="0"/>
                  </a:lnTo>
                  <a:close/>
                </a:path>
              </a:pathLst>
            </a:custGeom>
            <a:blipFill>
              <a:blip r:embed="rId9">
                <a:extLst>
                  <a:ext uri="{96DAC541-7B7A-43D3-8B79-37D633B846F1}">
                    <asvg:svgBlip xmlns:asvg="http://schemas.microsoft.com/office/drawing/2016/SVG/main" xmlns="" r:embed="rId10"/>
                  </a:ext>
                </a:extLst>
              </a:blip>
              <a:stretch>
                <a:fillRect/>
              </a:stretch>
            </a:blipFill>
          </p:spPr>
        </p:sp>
      </p:grpSp>
      <p:sp>
        <p:nvSpPr>
          <p:cNvPr id="35" name="AutoShape 35"/>
          <p:cNvSpPr/>
          <p:nvPr/>
        </p:nvSpPr>
        <p:spPr>
          <a:xfrm flipV="1">
            <a:off x="9296400" y="1375565"/>
            <a:ext cx="1133475" cy="0"/>
          </a:xfrm>
          <a:prstGeom prst="line">
            <a:avLst/>
          </a:prstGeom>
          <a:ln w="28575" cap="flat">
            <a:solidFill>
              <a:srgbClr val="FF0101"/>
            </a:solidFill>
            <a:prstDash val="lgDash"/>
            <a:headEnd type="none" w="sm" len="sm"/>
            <a:tailEnd type="oval" w="lg" len="lg"/>
          </a:ln>
        </p:spPr>
      </p:sp>
      <p:sp>
        <p:nvSpPr>
          <p:cNvPr id="36" name="AutoShape 36"/>
          <p:cNvSpPr/>
          <p:nvPr/>
        </p:nvSpPr>
        <p:spPr>
          <a:xfrm>
            <a:off x="10734675" y="3575209"/>
            <a:ext cx="1133475" cy="0"/>
          </a:xfrm>
          <a:prstGeom prst="line">
            <a:avLst/>
          </a:prstGeom>
          <a:ln w="28575" cap="flat">
            <a:solidFill>
              <a:srgbClr val="FF0101"/>
            </a:solidFill>
            <a:prstDash val="lgDash"/>
            <a:headEnd type="none" w="sm" len="sm"/>
            <a:tailEnd type="oval" w="lg" len="lg"/>
          </a:ln>
        </p:spPr>
      </p:sp>
      <p:sp>
        <p:nvSpPr>
          <p:cNvPr id="37" name="AutoShape 37"/>
          <p:cNvSpPr/>
          <p:nvPr/>
        </p:nvSpPr>
        <p:spPr>
          <a:xfrm>
            <a:off x="10734675" y="6349365"/>
            <a:ext cx="1133475" cy="0"/>
          </a:xfrm>
          <a:prstGeom prst="line">
            <a:avLst/>
          </a:prstGeom>
          <a:ln w="28575" cap="flat">
            <a:solidFill>
              <a:srgbClr val="FF0101"/>
            </a:solidFill>
            <a:prstDash val="lgDash"/>
            <a:headEnd type="none" w="sm" len="sm"/>
            <a:tailEnd type="oval" w="lg" len="lg"/>
          </a:ln>
        </p:spPr>
      </p:sp>
      <p:sp>
        <p:nvSpPr>
          <p:cNvPr id="38" name="AutoShape 38"/>
          <p:cNvSpPr/>
          <p:nvPr/>
        </p:nvSpPr>
        <p:spPr>
          <a:xfrm>
            <a:off x="9296400" y="8897148"/>
            <a:ext cx="1133475" cy="0"/>
          </a:xfrm>
          <a:prstGeom prst="line">
            <a:avLst/>
          </a:prstGeom>
          <a:ln w="28575" cap="flat">
            <a:solidFill>
              <a:srgbClr val="FF0101"/>
            </a:solidFill>
            <a:prstDash val="lgDash"/>
            <a:headEnd type="none" w="sm" len="sm"/>
            <a:tailEnd type="oval" w="lg" len="lg"/>
          </a:ln>
        </p:spPr>
      </p:sp>
      <p:sp>
        <p:nvSpPr>
          <p:cNvPr id="39" name="TextBox 39"/>
          <p:cNvSpPr txBox="1"/>
          <p:nvPr/>
        </p:nvSpPr>
        <p:spPr>
          <a:xfrm>
            <a:off x="666750" y="4248150"/>
            <a:ext cx="5448300" cy="1943100"/>
          </a:xfrm>
          <a:prstGeom prst="rect">
            <a:avLst/>
          </a:prstGeom>
        </p:spPr>
        <p:txBody>
          <a:bodyPr lIns="0" tIns="0" rIns="0" bIns="0" rtlCol="0" anchor="t">
            <a:spAutoFit/>
          </a:bodyPr>
          <a:lstStyle/>
          <a:p>
            <a:pPr algn="l">
              <a:lnSpc>
                <a:spcPts val="7679"/>
              </a:lnSpc>
            </a:pPr>
            <a:r>
              <a:rPr lang="en-US" sz="6399" b="1" dirty="0">
                <a:solidFill>
                  <a:srgbClr val="000099"/>
                </a:solidFill>
                <a:latin typeface="Open Sans 2 Bold"/>
                <a:ea typeface="Open Sans 2 Bold"/>
                <a:cs typeface="Open Sans 2 Bold"/>
                <a:sym typeface="Open Sans 2 Bold"/>
              </a:rPr>
              <a:t>Timeline page heading</a:t>
            </a:r>
          </a:p>
        </p:txBody>
      </p:sp>
      <p:sp>
        <p:nvSpPr>
          <p:cNvPr id="40" name="TextBox 40"/>
          <p:cNvSpPr txBox="1"/>
          <p:nvPr/>
        </p:nvSpPr>
        <p:spPr>
          <a:xfrm>
            <a:off x="6419850" y="1014202"/>
            <a:ext cx="2431997" cy="646525"/>
          </a:xfrm>
          <a:prstGeom prst="rect">
            <a:avLst/>
          </a:prstGeom>
        </p:spPr>
        <p:txBody>
          <a:bodyPr lIns="0" tIns="0" rIns="0" bIns="0" rtlCol="0" anchor="t">
            <a:spAutoFit/>
          </a:bodyPr>
          <a:lstStyle/>
          <a:p>
            <a:pPr algn="l">
              <a:lnSpc>
                <a:spcPts val="5314"/>
              </a:lnSpc>
              <a:spcBef>
                <a:spcPct val="0"/>
              </a:spcBef>
            </a:pPr>
            <a:r>
              <a:rPr lang="en-US" sz="3796" b="1">
                <a:solidFill>
                  <a:srgbClr val="000099"/>
                </a:solidFill>
                <a:latin typeface="Open Sans 2 Bold"/>
                <a:ea typeface="Open Sans 2 Bold"/>
                <a:cs typeface="Open Sans 2 Bold"/>
                <a:sym typeface="Open Sans 2 Bold"/>
              </a:rPr>
              <a:t>Year 01</a:t>
            </a:r>
          </a:p>
        </p:txBody>
      </p:sp>
      <p:sp>
        <p:nvSpPr>
          <p:cNvPr id="41" name="TextBox 41"/>
          <p:cNvSpPr txBox="1"/>
          <p:nvPr/>
        </p:nvSpPr>
        <p:spPr>
          <a:xfrm>
            <a:off x="8443293" y="3231944"/>
            <a:ext cx="1986582" cy="646525"/>
          </a:xfrm>
          <a:prstGeom prst="rect">
            <a:avLst/>
          </a:prstGeom>
        </p:spPr>
        <p:txBody>
          <a:bodyPr lIns="0" tIns="0" rIns="0" bIns="0" rtlCol="0" anchor="t">
            <a:spAutoFit/>
          </a:bodyPr>
          <a:lstStyle/>
          <a:p>
            <a:pPr algn="l">
              <a:lnSpc>
                <a:spcPts val="5314"/>
              </a:lnSpc>
              <a:spcBef>
                <a:spcPct val="0"/>
              </a:spcBef>
            </a:pPr>
            <a:r>
              <a:rPr lang="en-US" sz="3796" b="1" dirty="0">
                <a:solidFill>
                  <a:srgbClr val="000099"/>
                </a:solidFill>
                <a:latin typeface="Open Sans 2 Bold"/>
                <a:ea typeface="Open Sans 2 Bold"/>
                <a:cs typeface="Open Sans 2 Bold"/>
                <a:sym typeface="Open Sans 2 Bold"/>
              </a:rPr>
              <a:t>Year 02</a:t>
            </a:r>
          </a:p>
        </p:txBody>
      </p:sp>
      <p:sp>
        <p:nvSpPr>
          <p:cNvPr id="42" name="TextBox 42"/>
          <p:cNvSpPr txBox="1"/>
          <p:nvPr/>
        </p:nvSpPr>
        <p:spPr>
          <a:xfrm>
            <a:off x="8443293" y="6015625"/>
            <a:ext cx="1986582" cy="646525"/>
          </a:xfrm>
          <a:prstGeom prst="rect">
            <a:avLst/>
          </a:prstGeom>
        </p:spPr>
        <p:txBody>
          <a:bodyPr lIns="0" tIns="0" rIns="0" bIns="0" rtlCol="0" anchor="t">
            <a:spAutoFit/>
          </a:bodyPr>
          <a:lstStyle/>
          <a:p>
            <a:pPr algn="l">
              <a:lnSpc>
                <a:spcPts val="5314"/>
              </a:lnSpc>
              <a:spcBef>
                <a:spcPct val="0"/>
              </a:spcBef>
            </a:pPr>
            <a:r>
              <a:rPr lang="en-US" sz="3796" b="1">
                <a:solidFill>
                  <a:srgbClr val="000099"/>
                </a:solidFill>
                <a:latin typeface="Open Sans 2 Bold"/>
                <a:ea typeface="Open Sans 2 Bold"/>
                <a:cs typeface="Open Sans 2 Bold"/>
                <a:sym typeface="Open Sans 2 Bold"/>
              </a:rPr>
              <a:t>Year 03</a:t>
            </a:r>
          </a:p>
        </p:txBody>
      </p:sp>
      <p:sp>
        <p:nvSpPr>
          <p:cNvPr id="43" name="TextBox 43"/>
          <p:cNvSpPr txBox="1"/>
          <p:nvPr/>
        </p:nvSpPr>
        <p:spPr>
          <a:xfrm>
            <a:off x="6419850" y="8559598"/>
            <a:ext cx="2431997" cy="646525"/>
          </a:xfrm>
          <a:prstGeom prst="rect">
            <a:avLst/>
          </a:prstGeom>
        </p:spPr>
        <p:txBody>
          <a:bodyPr lIns="0" tIns="0" rIns="0" bIns="0" rtlCol="0" anchor="t">
            <a:spAutoFit/>
          </a:bodyPr>
          <a:lstStyle/>
          <a:p>
            <a:pPr algn="l">
              <a:lnSpc>
                <a:spcPts val="5314"/>
              </a:lnSpc>
              <a:spcBef>
                <a:spcPct val="0"/>
              </a:spcBef>
            </a:pPr>
            <a:r>
              <a:rPr lang="en-US" sz="3796" b="1">
                <a:solidFill>
                  <a:srgbClr val="000099"/>
                </a:solidFill>
                <a:latin typeface="Open Sans 2 Bold"/>
                <a:ea typeface="Open Sans 2 Bold"/>
                <a:cs typeface="Open Sans 2 Bold"/>
                <a:sym typeface="Open Sans 2 Bold"/>
              </a:rPr>
              <a:t>Year 04</a:t>
            </a:r>
          </a:p>
        </p:txBody>
      </p:sp>
      <p:grpSp>
        <p:nvGrpSpPr>
          <p:cNvPr id="44" name="Group 44"/>
          <p:cNvGrpSpPr/>
          <p:nvPr/>
        </p:nvGrpSpPr>
        <p:grpSpPr>
          <a:xfrm>
            <a:off x="10734675" y="927890"/>
            <a:ext cx="5448300" cy="888302"/>
            <a:chOff x="0" y="0"/>
            <a:chExt cx="7264400" cy="1184402"/>
          </a:xfrm>
        </p:grpSpPr>
        <p:sp>
          <p:nvSpPr>
            <p:cNvPr id="45" name="TextBox 45"/>
            <p:cNvSpPr txBox="1"/>
            <p:nvPr/>
          </p:nvSpPr>
          <p:spPr>
            <a:xfrm>
              <a:off x="0" y="-28575"/>
              <a:ext cx="7264400" cy="387477"/>
            </a:xfrm>
            <a:prstGeom prst="rect">
              <a:avLst/>
            </a:prstGeom>
          </p:spPr>
          <p:txBody>
            <a:bodyPr lIns="0" tIns="0" rIns="0" bIns="0" rtlCol="0" anchor="t">
              <a:spAutoFit/>
            </a:bodyPr>
            <a:lstStyle/>
            <a:p>
              <a:pPr algn="l">
                <a:lnSpc>
                  <a:spcPts val="2488"/>
                </a:lnSpc>
                <a:spcBef>
                  <a:spcPct val="0"/>
                </a:spcBef>
              </a:pPr>
              <a:r>
                <a:rPr lang="en-US" sz="1777">
                  <a:solidFill>
                    <a:srgbClr val="000099"/>
                  </a:solidFill>
                  <a:latin typeface="Open Sans 2"/>
                  <a:ea typeface="Open Sans 2"/>
                  <a:cs typeface="Open Sans 2"/>
                  <a:sym typeface="Open Sans 2"/>
                </a:rPr>
                <a:t>Event 1</a:t>
              </a:r>
            </a:p>
          </p:txBody>
        </p:sp>
        <p:sp>
          <p:nvSpPr>
            <p:cNvPr id="46" name="TextBox 46"/>
            <p:cNvSpPr txBox="1"/>
            <p:nvPr/>
          </p:nvSpPr>
          <p:spPr>
            <a:xfrm>
              <a:off x="0" y="473414"/>
              <a:ext cx="7264400" cy="710988"/>
            </a:xfrm>
            <a:prstGeom prst="rect">
              <a:avLst/>
            </a:prstGeom>
          </p:spPr>
          <p:txBody>
            <a:bodyPr lIns="0" tIns="0" rIns="0" bIns="0" rtlCol="0" anchor="t">
              <a:spAutoFit/>
            </a:bodyPr>
            <a:lstStyle/>
            <a:p>
              <a:pPr algn="l">
                <a:lnSpc>
                  <a:spcPts val="2239"/>
                </a:lnSpc>
                <a:spcBef>
                  <a:spcPct val="0"/>
                </a:spcBef>
              </a:pPr>
              <a:r>
                <a:rPr lang="en-US" sz="1599">
                  <a:solidFill>
                    <a:srgbClr val="000099"/>
                  </a:solidFill>
                  <a:latin typeface="Open Sans 2"/>
                  <a:ea typeface="Open Sans 2"/>
                  <a:cs typeface="Open Sans 2"/>
                  <a:sym typeface="Open Sans 2"/>
                </a:rPr>
                <a:t>Identify gaps, analyze capabilities, set metrics, prioritize improvements.</a:t>
              </a:r>
            </a:p>
          </p:txBody>
        </p:sp>
      </p:grpSp>
      <p:grpSp>
        <p:nvGrpSpPr>
          <p:cNvPr id="47" name="Group 47"/>
          <p:cNvGrpSpPr/>
          <p:nvPr/>
        </p:nvGrpSpPr>
        <p:grpSpPr>
          <a:xfrm>
            <a:off x="12192000" y="3145631"/>
            <a:ext cx="5448300" cy="888302"/>
            <a:chOff x="0" y="0"/>
            <a:chExt cx="7264400" cy="1184402"/>
          </a:xfrm>
        </p:grpSpPr>
        <p:sp>
          <p:nvSpPr>
            <p:cNvPr id="48" name="TextBox 48"/>
            <p:cNvSpPr txBox="1"/>
            <p:nvPr/>
          </p:nvSpPr>
          <p:spPr>
            <a:xfrm>
              <a:off x="0" y="-28575"/>
              <a:ext cx="7264400" cy="387477"/>
            </a:xfrm>
            <a:prstGeom prst="rect">
              <a:avLst/>
            </a:prstGeom>
          </p:spPr>
          <p:txBody>
            <a:bodyPr lIns="0" tIns="0" rIns="0" bIns="0" rtlCol="0" anchor="t">
              <a:spAutoFit/>
            </a:bodyPr>
            <a:lstStyle/>
            <a:p>
              <a:pPr algn="l">
                <a:lnSpc>
                  <a:spcPts val="2488"/>
                </a:lnSpc>
                <a:spcBef>
                  <a:spcPct val="0"/>
                </a:spcBef>
              </a:pPr>
              <a:r>
                <a:rPr lang="en-US" sz="1777">
                  <a:solidFill>
                    <a:srgbClr val="000099"/>
                  </a:solidFill>
                  <a:latin typeface="Open Sans 2"/>
                  <a:ea typeface="Open Sans 2"/>
                  <a:cs typeface="Open Sans 2"/>
                  <a:sym typeface="Open Sans 2"/>
                </a:rPr>
                <a:t>Event 2</a:t>
              </a:r>
            </a:p>
          </p:txBody>
        </p:sp>
        <p:sp>
          <p:nvSpPr>
            <p:cNvPr id="49" name="TextBox 49"/>
            <p:cNvSpPr txBox="1"/>
            <p:nvPr/>
          </p:nvSpPr>
          <p:spPr>
            <a:xfrm>
              <a:off x="0" y="473414"/>
              <a:ext cx="7264400" cy="710988"/>
            </a:xfrm>
            <a:prstGeom prst="rect">
              <a:avLst/>
            </a:prstGeom>
          </p:spPr>
          <p:txBody>
            <a:bodyPr lIns="0" tIns="0" rIns="0" bIns="0" rtlCol="0" anchor="t">
              <a:spAutoFit/>
            </a:bodyPr>
            <a:lstStyle/>
            <a:p>
              <a:pPr algn="l">
                <a:lnSpc>
                  <a:spcPts val="2239"/>
                </a:lnSpc>
                <a:spcBef>
                  <a:spcPct val="0"/>
                </a:spcBef>
              </a:pPr>
              <a:r>
                <a:rPr lang="en-US" sz="1599">
                  <a:solidFill>
                    <a:srgbClr val="000099"/>
                  </a:solidFill>
                  <a:latin typeface="Open Sans 2"/>
                  <a:ea typeface="Open Sans 2"/>
                  <a:cs typeface="Open Sans 2"/>
                  <a:sym typeface="Open Sans 2"/>
                </a:rPr>
                <a:t>Identify gaps, analyze capabilities, set metrics, prioritize improvements.</a:t>
              </a:r>
            </a:p>
          </p:txBody>
        </p:sp>
      </p:grpSp>
      <p:grpSp>
        <p:nvGrpSpPr>
          <p:cNvPr id="50" name="Group 50"/>
          <p:cNvGrpSpPr/>
          <p:nvPr/>
        </p:nvGrpSpPr>
        <p:grpSpPr>
          <a:xfrm>
            <a:off x="12192000" y="5919788"/>
            <a:ext cx="5448300" cy="888302"/>
            <a:chOff x="0" y="0"/>
            <a:chExt cx="7264400" cy="1184402"/>
          </a:xfrm>
        </p:grpSpPr>
        <p:sp>
          <p:nvSpPr>
            <p:cNvPr id="51" name="TextBox 51"/>
            <p:cNvSpPr txBox="1"/>
            <p:nvPr/>
          </p:nvSpPr>
          <p:spPr>
            <a:xfrm>
              <a:off x="0" y="-28575"/>
              <a:ext cx="7264400" cy="387477"/>
            </a:xfrm>
            <a:prstGeom prst="rect">
              <a:avLst/>
            </a:prstGeom>
          </p:spPr>
          <p:txBody>
            <a:bodyPr lIns="0" tIns="0" rIns="0" bIns="0" rtlCol="0" anchor="t">
              <a:spAutoFit/>
            </a:bodyPr>
            <a:lstStyle/>
            <a:p>
              <a:pPr algn="l">
                <a:lnSpc>
                  <a:spcPts val="2488"/>
                </a:lnSpc>
                <a:spcBef>
                  <a:spcPct val="0"/>
                </a:spcBef>
              </a:pPr>
              <a:r>
                <a:rPr lang="en-US" sz="1777">
                  <a:solidFill>
                    <a:srgbClr val="000099"/>
                  </a:solidFill>
                  <a:latin typeface="Open Sans 2"/>
                  <a:ea typeface="Open Sans 2"/>
                  <a:cs typeface="Open Sans 2"/>
                  <a:sym typeface="Open Sans 2"/>
                </a:rPr>
                <a:t>Event 3</a:t>
              </a:r>
            </a:p>
          </p:txBody>
        </p:sp>
        <p:sp>
          <p:nvSpPr>
            <p:cNvPr id="52" name="TextBox 52"/>
            <p:cNvSpPr txBox="1"/>
            <p:nvPr/>
          </p:nvSpPr>
          <p:spPr>
            <a:xfrm>
              <a:off x="0" y="473414"/>
              <a:ext cx="7264400" cy="710988"/>
            </a:xfrm>
            <a:prstGeom prst="rect">
              <a:avLst/>
            </a:prstGeom>
          </p:spPr>
          <p:txBody>
            <a:bodyPr lIns="0" tIns="0" rIns="0" bIns="0" rtlCol="0" anchor="t">
              <a:spAutoFit/>
            </a:bodyPr>
            <a:lstStyle/>
            <a:p>
              <a:pPr algn="l">
                <a:lnSpc>
                  <a:spcPts val="2239"/>
                </a:lnSpc>
                <a:spcBef>
                  <a:spcPct val="0"/>
                </a:spcBef>
              </a:pPr>
              <a:r>
                <a:rPr lang="en-US" sz="1599">
                  <a:solidFill>
                    <a:srgbClr val="000099"/>
                  </a:solidFill>
                  <a:latin typeface="Open Sans 2"/>
                  <a:ea typeface="Open Sans 2"/>
                  <a:cs typeface="Open Sans 2"/>
                  <a:sym typeface="Open Sans 2"/>
                </a:rPr>
                <a:t>Identify gaps, analyze capabilities, set metrics, prioritize improvements.</a:t>
              </a:r>
            </a:p>
          </p:txBody>
        </p:sp>
      </p:grpSp>
      <p:grpSp>
        <p:nvGrpSpPr>
          <p:cNvPr id="53" name="Group 53"/>
          <p:cNvGrpSpPr/>
          <p:nvPr/>
        </p:nvGrpSpPr>
        <p:grpSpPr>
          <a:xfrm>
            <a:off x="10734675" y="8477095"/>
            <a:ext cx="5448300" cy="888302"/>
            <a:chOff x="0" y="0"/>
            <a:chExt cx="7264400" cy="1184402"/>
          </a:xfrm>
        </p:grpSpPr>
        <p:sp>
          <p:nvSpPr>
            <p:cNvPr id="54" name="TextBox 54"/>
            <p:cNvSpPr txBox="1"/>
            <p:nvPr/>
          </p:nvSpPr>
          <p:spPr>
            <a:xfrm>
              <a:off x="0" y="-28575"/>
              <a:ext cx="7264400" cy="387477"/>
            </a:xfrm>
            <a:prstGeom prst="rect">
              <a:avLst/>
            </a:prstGeom>
          </p:spPr>
          <p:txBody>
            <a:bodyPr lIns="0" tIns="0" rIns="0" bIns="0" rtlCol="0" anchor="t">
              <a:spAutoFit/>
            </a:bodyPr>
            <a:lstStyle/>
            <a:p>
              <a:pPr algn="l">
                <a:lnSpc>
                  <a:spcPts val="2488"/>
                </a:lnSpc>
                <a:spcBef>
                  <a:spcPct val="0"/>
                </a:spcBef>
              </a:pPr>
              <a:r>
                <a:rPr lang="en-US" sz="1777">
                  <a:solidFill>
                    <a:srgbClr val="000099"/>
                  </a:solidFill>
                  <a:latin typeface="Open Sans 2"/>
                  <a:ea typeface="Open Sans 2"/>
                  <a:cs typeface="Open Sans 2"/>
                  <a:sym typeface="Open Sans 2"/>
                </a:rPr>
                <a:t>Event 4</a:t>
              </a:r>
            </a:p>
          </p:txBody>
        </p:sp>
        <p:sp>
          <p:nvSpPr>
            <p:cNvPr id="55" name="TextBox 55"/>
            <p:cNvSpPr txBox="1"/>
            <p:nvPr/>
          </p:nvSpPr>
          <p:spPr>
            <a:xfrm>
              <a:off x="0" y="473414"/>
              <a:ext cx="7264400" cy="710988"/>
            </a:xfrm>
            <a:prstGeom prst="rect">
              <a:avLst/>
            </a:prstGeom>
          </p:spPr>
          <p:txBody>
            <a:bodyPr lIns="0" tIns="0" rIns="0" bIns="0" rtlCol="0" anchor="t">
              <a:spAutoFit/>
            </a:bodyPr>
            <a:lstStyle/>
            <a:p>
              <a:pPr algn="l">
                <a:lnSpc>
                  <a:spcPts val="2239"/>
                </a:lnSpc>
                <a:spcBef>
                  <a:spcPct val="0"/>
                </a:spcBef>
              </a:pPr>
              <a:r>
                <a:rPr lang="en-US" sz="1599">
                  <a:solidFill>
                    <a:srgbClr val="000099"/>
                  </a:solidFill>
                  <a:latin typeface="Open Sans 2"/>
                  <a:ea typeface="Open Sans 2"/>
                  <a:cs typeface="Open Sans 2"/>
                  <a:sym typeface="Open Sans 2"/>
                </a:rPr>
                <a:t>Identify gaps, analyze capabilities, set metrics, prioritize improvements.</a:t>
              </a:r>
            </a:p>
          </p:txBody>
        </p:sp>
      </p:gr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66750" y="666750"/>
            <a:ext cx="16954500" cy="1596389"/>
            <a:chOff x="0" y="0"/>
            <a:chExt cx="22606000" cy="2128519"/>
          </a:xfrm>
        </p:grpSpPr>
        <p:sp>
          <p:nvSpPr>
            <p:cNvPr id="4" name="TextBox 4"/>
            <p:cNvSpPr txBox="1"/>
            <p:nvPr/>
          </p:nvSpPr>
          <p:spPr>
            <a:xfrm>
              <a:off x="0" y="0"/>
              <a:ext cx="22606000" cy="1208193"/>
            </a:xfrm>
            <a:prstGeom prst="rect">
              <a:avLst/>
            </a:prstGeom>
          </p:spPr>
          <p:txBody>
            <a:bodyPr lIns="0" tIns="0" rIns="0" bIns="0" rtlCol="0" anchor="t">
              <a:spAutoFit/>
            </a:bodyPr>
            <a:lstStyle/>
            <a:p>
              <a:pPr algn="l">
                <a:lnSpc>
                  <a:spcPts val="7680"/>
                </a:lnSpc>
              </a:pPr>
              <a:r>
                <a:rPr lang="en-US" sz="5000" b="1" dirty="0">
                  <a:solidFill>
                    <a:srgbClr val="FF0000"/>
                  </a:solidFill>
                  <a:latin typeface="Open Sans 2 Bold"/>
                  <a:ea typeface="Open Sans 2 Bold"/>
                  <a:cs typeface="Open Sans 2 Bold"/>
                  <a:sym typeface="Open Sans 2 Bold"/>
                </a:rPr>
                <a:t>Table page heading</a:t>
              </a:r>
            </a:p>
          </p:txBody>
        </p:sp>
        <p:sp>
          <p:nvSpPr>
            <p:cNvPr id="5" name="TextBox 5"/>
            <p:cNvSpPr txBox="1"/>
            <p:nvPr/>
          </p:nvSpPr>
          <p:spPr>
            <a:xfrm>
              <a:off x="0" y="1537758"/>
              <a:ext cx="22606000" cy="590761"/>
            </a:xfrm>
            <a:prstGeom prst="rect">
              <a:avLst/>
            </a:prstGeom>
          </p:spPr>
          <p:txBody>
            <a:bodyPr lIns="0" tIns="0" rIns="0" bIns="0" rtlCol="0" anchor="t">
              <a:spAutoFit/>
            </a:bodyPr>
            <a:lstStyle/>
            <a:p>
              <a:pPr algn="l">
                <a:lnSpc>
                  <a:spcPts val="3640"/>
                </a:lnSpc>
              </a:pPr>
              <a:r>
                <a:rPr lang="en-US" sz="2800">
                  <a:solidFill>
                    <a:srgbClr val="000099"/>
                  </a:solidFill>
                  <a:latin typeface="Open Sans 2"/>
                  <a:ea typeface="Open Sans 2"/>
                  <a:cs typeface="Open Sans 2"/>
                  <a:sym typeface="Open Sans 2"/>
                </a:rPr>
                <a:t>Subheading that introduces the table’s contents and highlights its key metrics.</a:t>
              </a:r>
            </a:p>
          </p:txBody>
        </p:sp>
      </p:grpSp>
      <p:graphicFrame>
        <p:nvGraphicFramePr>
          <p:cNvPr id="6" name="Table 5"/>
          <p:cNvGraphicFramePr>
            <a:graphicFrameLocks noGrp="1"/>
          </p:cNvGraphicFramePr>
          <p:nvPr>
            <p:extLst>
              <p:ext uri="{D42A27DB-BD31-4B8C-83A1-F6EECF244321}">
                <p14:modId xmlns:p14="http://schemas.microsoft.com/office/powerpoint/2010/main" val="4285462487"/>
              </p:ext>
            </p:extLst>
          </p:nvPr>
        </p:nvGraphicFramePr>
        <p:xfrm>
          <a:off x="2057400" y="3086100"/>
          <a:ext cx="13182600" cy="3733800"/>
        </p:xfrm>
        <a:graphic>
          <a:graphicData uri="http://schemas.openxmlformats.org/drawingml/2006/table">
            <a:tbl>
              <a:tblPr firstRow="1" bandRow="1">
                <a:tableStyleId>{5C22544A-7EE6-4342-B048-85BDC9FD1C3A}</a:tableStyleId>
              </a:tblPr>
              <a:tblGrid>
                <a:gridCol w="4394200">
                  <a:extLst>
                    <a:ext uri="{9D8B030D-6E8A-4147-A177-3AD203B41FA5}">
                      <a16:colId xmlns:a16="http://schemas.microsoft.com/office/drawing/2014/main" val="2824650473"/>
                    </a:ext>
                  </a:extLst>
                </a:gridCol>
                <a:gridCol w="4394200">
                  <a:extLst>
                    <a:ext uri="{9D8B030D-6E8A-4147-A177-3AD203B41FA5}">
                      <a16:colId xmlns:a16="http://schemas.microsoft.com/office/drawing/2014/main" val="1751453587"/>
                    </a:ext>
                  </a:extLst>
                </a:gridCol>
                <a:gridCol w="4394200">
                  <a:extLst>
                    <a:ext uri="{9D8B030D-6E8A-4147-A177-3AD203B41FA5}">
                      <a16:colId xmlns:a16="http://schemas.microsoft.com/office/drawing/2014/main" val="689741977"/>
                    </a:ext>
                  </a:extLst>
                </a:gridCol>
              </a:tblGrid>
              <a:tr h="933450">
                <a:tc>
                  <a:txBody>
                    <a:bodyPr/>
                    <a:lstStyle/>
                    <a:p>
                      <a:pPr algn="ctr"/>
                      <a:r>
                        <a:rPr lang="vi-VN" sz="2400" b="1" dirty="0" smtClean="0">
                          <a:solidFill>
                            <a:sysClr val="windowText" lastClr="000000"/>
                          </a:solidFill>
                        </a:rPr>
                        <a:t>Column</a:t>
                      </a:r>
                      <a:r>
                        <a:rPr lang="vi-VN" sz="2400" b="1" baseline="0" dirty="0" smtClean="0">
                          <a:solidFill>
                            <a:sysClr val="windowText" lastClr="000000"/>
                          </a:solidFill>
                        </a:rPr>
                        <a:t> 1</a:t>
                      </a:r>
                      <a:endParaRPr lang="en-US" sz="2400" b="1" dirty="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400" b="1" dirty="0" smtClean="0">
                          <a:solidFill>
                            <a:sysClr val="windowText" lastClr="000000"/>
                          </a:solidFill>
                        </a:rPr>
                        <a:t>Column</a:t>
                      </a:r>
                      <a:r>
                        <a:rPr lang="vi-VN" sz="2400" b="1" baseline="0" dirty="0" smtClean="0">
                          <a:solidFill>
                            <a:sysClr val="windowText" lastClr="000000"/>
                          </a:solidFill>
                        </a:rPr>
                        <a:t> 1</a:t>
                      </a:r>
                      <a:endParaRPr lang="en-US" sz="2400" b="1" dirty="0" smtClean="0">
                        <a:solidFill>
                          <a:sysClr val="windowText" lastClr="000000"/>
                        </a:solidFill>
                      </a:endParaRPr>
                    </a:p>
                    <a:p>
                      <a:pPr algn="ctr"/>
                      <a:endParaRPr lang="en-US" sz="2400" b="1" dirty="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400" b="1" dirty="0" smtClean="0">
                          <a:solidFill>
                            <a:sysClr val="windowText" lastClr="000000"/>
                          </a:solidFill>
                        </a:rPr>
                        <a:t>Column</a:t>
                      </a:r>
                      <a:r>
                        <a:rPr lang="vi-VN" sz="2400" b="1" baseline="0" dirty="0" smtClean="0">
                          <a:solidFill>
                            <a:sysClr val="windowText" lastClr="000000"/>
                          </a:solidFill>
                        </a:rPr>
                        <a:t> 1</a:t>
                      </a:r>
                      <a:endParaRPr lang="en-US" sz="2400" b="1" dirty="0" smtClean="0">
                        <a:solidFill>
                          <a:sysClr val="windowText" lastClr="000000"/>
                        </a:solidFill>
                      </a:endParaRPr>
                    </a:p>
                    <a:p>
                      <a:pPr algn="ctr"/>
                      <a:endParaRPr lang="en-US" sz="2400" b="1" dirty="0">
                        <a:solidFill>
                          <a:sysClr val="windowText" lastClr="000000"/>
                        </a:solidFill>
                      </a:endParaRPr>
                    </a:p>
                  </a:txBody>
                  <a:tcPr anchor="ctr"/>
                </a:tc>
                <a:extLst>
                  <a:ext uri="{0D108BD9-81ED-4DB2-BD59-A6C34878D82A}">
                    <a16:rowId xmlns:a16="http://schemas.microsoft.com/office/drawing/2014/main" val="316693935"/>
                  </a:ext>
                </a:extLst>
              </a:tr>
              <a:tr h="933450">
                <a:tc>
                  <a:txBody>
                    <a:bodyPr/>
                    <a:lstStyle/>
                    <a:p>
                      <a:pPr algn="ctr"/>
                      <a:r>
                        <a:rPr lang="vi-VN" sz="2400" b="1" dirty="0" smtClean="0">
                          <a:solidFill>
                            <a:sysClr val="windowText" lastClr="000000"/>
                          </a:solidFill>
                        </a:rPr>
                        <a:t>content</a:t>
                      </a:r>
                      <a:endParaRPr lang="en-US" sz="2400" b="1" dirty="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400" b="1" dirty="0" smtClean="0">
                          <a:solidFill>
                            <a:sysClr val="windowText" lastClr="000000"/>
                          </a:solidFill>
                        </a:rPr>
                        <a:t>content</a:t>
                      </a:r>
                      <a:endParaRPr lang="en-US" sz="2400" b="1" dirty="0" smtClean="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400" b="1" dirty="0" smtClean="0">
                          <a:solidFill>
                            <a:sysClr val="windowText" lastClr="000000"/>
                          </a:solidFill>
                        </a:rPr>
                        <a:t>content</a:t>
                      </a:r>
                      <a:endParaRPr lang="en-US" sz="2400" b="1" dirty="0" smtClean="0">
                        <a:solidFill>
                          <a:sysClr val="windowText" lastClr="000000"/>
                        </a:solidFill>
                      </a:endParaRPr>
                    </a:p>
                  </a:txBody>
                  <a:tcPr anchor="ctr"/>
                </a:tc>
                <a:extLst>
                  <a:ext uri="{0D108BD9-81ED-4DB2-BD59-A6C34878D82A}">
                    <a16:rowId xmlns:a16="http://schemas.microsoft.com/office/drawing/2014/main" val="2546221398"/>
                  </a:ext>
                </a:extLst>
              </a:tr>
              <a:tr h="93345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400" b="1" dirty="0" smtClean="0">
                          <a:solidFill>
                            <a:sysClr val="windowText" lastClr="000000"/>
                          </a:solidFill>
                        </a:rPr>
                        <a:t>content</a:t>
                      </a:r>
                      <a:endParaRPr lang="en-US" sz="2400" b="1" dirty="0" smtClean="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400" b="1" dirty="0" smtClean="0">
                          <a:solidFill>
                            <a:sysClr val="windowText" lastClr="000000"/>
                          </a:solidFill>
                        </a:rPr>
                        <a:t>content</a:t>
                      </a:r>
                      <a:endParaRPr lang="en-US" sz="2400" b="1" dirty="0" smtClean="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400" b="1" dirty="0" smtClean="0">
                          <a:solidFill>
                            <a:sysClr val="windowText" lastClr="000000"/>
                          </a:solidFill>
                        </a:rPr>
                        <a:t>content</a:t>
                      </a:r>
                      <a:endParaRPr lang="en-US" sz="2400" b="1" dirty="0" smtClean="0">
                        <a:solidFill>
                          <a:sysClr val="windowText" lastClr="000000"/>
                        </a:solidFill>
                      </a:endParaRPr>
                    </a:p>
                  </a:txBody>
                  <a:tcPr anchor="ctr"/>
                </a:tc>
                <a:extLst>
                  <a:ext uri="{0D108BD9-81ED-4DB2-BD59-A6C34878D82A}">
                    <a16:rowId xmlns:a16="http://schemas.microsoft.com/office/drawing/2014/main" val="2732303399"/>
                  </a:ext>
                </a:extLst>
              </a:tr>
              <a:tr h="93345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400" b="1" dirty="0" smtClean="0">
                          <a:solidFill>
                            <a:sysClr val="windowText" lastClr="000000"/>
                          </a:solidFill>
                        </a:rPr>
                        <a:t>content</a:t>
                      </a:r>
                      <a:endParaRPr lang="en-US" sz="2400" b="1" dirty="0" smtClean="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400" b="1" dirty="0" smtClean="0">
                          <a:solidFill>
                            <a:sysClr val="windowText" lastClr="000000"/>
                          </a:solidFill>
                        </a:rPr>
                        <a:t>content</a:t>
                      </a:r>
                      <a:endParaRPr lang="en-US" sz="2400" b="1" dirty="0" smtClean="0">
                        <a:solidFill>
                          <a:sysClr val="windowText" lastClr="000000"/>
                        </a:solidFill>
                      </a:endParaRP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vi-VN" sz="2400" b="1" dirty="0" smtClean="0">
                          <a:solidFill>
                            <a:sysClr val="windowText" lastClr="000000"/>
                          </a:solidFill>
                        </a:rPr>
                        <a:t>content</a:t>
                      </a:r>
                      <a:endParaRPr lang="en-US" sz="2400" b="1" dirty="0" smtClean="0">
                        <a:solidFill>
                          <a:sysClr val="windowText" lastClr="000000"/>
                        </a:solidFill>
                      </a:endParaRPr>
                    </a:p>
                  </a:txBody>
                  <a:tcPr anchor="ctr"/>
                </a:tc>
                <a:extLst>
                  <a:ext uri="{0D108BD9-81ED-4DB2-BD59-A6C34878D82A}">
                    <a16:rowId xmlns:a16="http://schemas.microsoft.com/office/drawing/2014/main" val="2928100352"/>
                  </a:ext>
                </a:extLst>
              </a:tr>
            </a:tbl>
          </a:graphicData>
        </a:graphic>
      </p:graphicFrame>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992238" y="1040759"/>
            <a:ext cx="16303523" cy="1623422"/>
          </a:xfrm>
          <a:prstGeom prst="rect">
            <a:avLst/>
          </a:prstGeom>
        </p:spPr>
        <p:txBody>
          <a:bodyPr lIns="0" tIns="0" rIns="0" bIns="0" rtlCol="0" anchor="t">
            <a:spAutoFit/>
          </a:bodyPr>
          <a:lstStyle/>
          <a:p>
            <a:pPr algn="l">
              <a:lnSpc>
                <a:spcPts val="6249"/>
              </a:lnSpc>
            </a:pPr>
            <a:r>
              <a:rPr lang="en-US" sz="4999" b="1" dirty="0">
                <a:solidFill>
                  <a:srgbClr val="FF0000"/>
                </a:solidFill>
                <a:latin typeface="Open Sans 1 Bold"/>
                <a:ea typeface="Open Sans 1 Bold"/>
                <a:cs typeface="Open Sans 1 Bold"/>
                <a:sym typeface="Open Sans 1 Bold"/>
              </a:rPr>
              <a:t>CÁC HOẠT ĐỘNG KHÁC VÀ DỰ ÁN TRỌNG ĐIỂM THÁNG 11</a:t>
            </a:r>
          </a:p>
        </p:txBody>
      </p:sp>
      <p:grpSp>
        <p:nvGrpSpPr>
          <p:cNvPr id="4" name="Group 4"/>
          <p:cNvGrpSpPr/>
          <p:nvPr/>
        </p:nvGrpSpPr>
        <p:grpSpPr>
          <a:xfrm>
            <a:off x="1001763" y="3339703"/>
            <a:ext cx="5292176" cy="3062135"/>
            <a:chOff x="0" y="0"/>
            <a:chExt cx="7056234" cy="4082847"/>
          </a:xfrm>
        </p:grpSpPr>
        <p:sp>
          <p:nvSpPr>
            <p:cNvPr id="5" name="Freeform 5" descr="preencoded.png"/>
            <p:cNvSpPr/>
            <p:nvPr/>
          </p:nvSpPr>
          <p:spPr>
            <a:xfrm>
              <a:off x="0" y="0"/>
              <a:ext cx="7056247" cy="4082796"/>
            </a:xfrm>
            <a:custGeom>
              <a:avLst/>
              <a:gdLst/>
              <a:ahLst/>
              <a:cxnLst/>
              <a:rect l="l" t="t" r="r" b="b"/>
              <a:pathLst>
                <a:path w="7056247" h="4082796">
                  <a:moveTo>
                    <a:pt x="0" y="0"/>
                  </a:moveTo>
                  <a:lnTo>
                    <a:pt x="7056247" y="0"/>
                  </a:lnTo>
                  <a:lnTo>
                    <a:pt x="7056247" y="4082796"/>
                  </a:lnTo>
                  <a:lnTo>
                    <a:pt x="0" y="4082796"/>
                  </a:lnTo>
                  <a:lnTo>
                    <a:pt x="0" y="0"/>
                  </a:lnTo>
                  <a:close/>
                </a:path>
              </a:pathLst>
            </a:custGeom>
            <a:blipFill>
              <a:blip r:embed="rId3"/>
              <a:stretch>
                <a:fillRect l="-110" r="-110" b="-1"/>
              </a:stretch>
            </a:blipFill>
          </p:spPr>
        </p:sp>
      </p:grpSp>
      <p:grpSp>
        <p:nvGrpSpPr>
          <p:cNvPr id="6" name="Group 6"/>
          <p:cNvGrpSpPr/>
          <p:nvPr/>
        </p:nvGrpSpPr>
        <p:grpSpPr>
          <a:xfrm>
            <a:off x="6497984" y="3339703"/>
            <a:ext cx="5292176" cy="3062135"/>
            <a:chOff x="0" y="0"/>
            <a:chExt cx="7056234" cy="4082847"/>
          </a:xfrm>
        </p:grpSpPr>
        <p:sp>
          <p:nvSpPr>
            <p:cNvPr id="7" name="Freeform 7" descr="preencoded.png"/>
            <p:cNvSpPr/>
            <p:nvPr/>
          </p:nvSpPr>
          <p:spPr>
            <a:xfrm>
              <a:off x="0" y="0"/>
              <a:ext cx="7056247" cy="4082796"/>
            </a:xfrm>
            <a:custGeom>
              <a:avLst/>
              <a:gdLst/>
              <a:ahLst/>
              <a:cxnLst/>
              <a:rect l="l" t="t" r="r" b="b"/>
              <a:pathLst>
                <a:path w="7056247" h="4082796">
                  <a:moveTo>
                    <a:pt x="0" y="0"/>
                  </a:moveTo>
                  <a:lnTo>
                    <a:pt x="7056247" y="0"/>
                  </a:lnTo>
                  <a:lnTo>
                    <a:pt x="7056247" y="4082796"/>
                  </a:lnTo>
                  <a:lnTo>
                    <a:pt x="0" y="4082796"/>
                  </a:lnTo>
                  <a:lnTo>
                    <a:pt x="0" y="0"/>
                  </a:lnTo>
                  <a:close/>
                </a:path>
              </a:pathLst>
            </a:custGeom>
            <a:blipFill>
              <a:blip r:embed="rId4"/>
              <a:stretch>
                <a:fillRect l="-110" r="-110" b="-1"/>
              </a:stretch>
            </a:blipFill>
          </p:spPr>
        </p:sp>
      </p:grpSp>
      <p:grpSp>
        <p:nvGrpSpPr>
          <p:cNvPr id="8" name="Group 8"/>
          <p:cNvGrpSpPr/>
          <p:nvPr/>
        </p:nvGrpSpPr>
        <p:grpSpPr>
          <a:xfrm>
            <a:off x="11994204" y="3339703"/>
            <a:ext cx="5292176" cy="3062135"/>
            <a:chOff x="0" y="0"/>
            <a:chExt cx="7056234" cy="4082847"/>
          </a:xfrm>
        </p:grpSpPr>
        <p:sp>
          <p:nvSpPr>
            <p:cNvPr id="9" name="Freeform 9" descr="preencoded.png"/>
            <p:cNvSpPr/>
            <p:nvPr/>
          </p:nvSpPr>
          <p:spPr>
            <a:xfrm>
              <a:off x="0" y="0"/>
              <a:ext cx="7056247" cy="4082796"/>
            </a:xfrm>
            <a:custGeom>
              <a:avLst/>
              <a:gdLst/>
              <a:ahLst/>
              <a:cxnLst/>
              <a:rect l="l" t="t" r="r" b="b"/>
              <a:pathLst>
                <a:path w="7056247" h="4082796">
                  <a:moveTo>
                    <a:pt x="0" y="0"/>
                  </a:moveTo>
                  <a:lnTo>
                    <a:pt x="7056247" y="0"/>
                  </a:lnTo>
                  <a:lnTo>
                    <a:pt x="7056247" y="4082796"/>
                  </a:lnTo>
                  <a:lnTo>
                    <a:pt x="0" y="4082796"/>
                  </a:lnTo>
                  <a:lnTo>
                    <a:pt x="0" y="0"/>
                  </a:lnTo>
                  <a:close/>
                </a:path>
              </a:pathLst>
            </a:custGeom>
            <a:blipFill>
              <a:blip r:embed="rId5"/>
              <a:stretch>
                <a:fillRect l="-110" r="-110" b="-1"/>
              </a:stretch>
            </a:blipFill>
          </p:spPr>
        </p:sp>
      </p:grpSp>
      <p:sp>
        <p:nvSpPr>
          <p:cNvPr id="10" name="TextBox 10"/>
          <p:cNvSpPr txBox="1"/>
          <p:nvPr/>
        </p:nvSpPr>
        <p:spPr>
          <a:xfrm>
            <a:off x="992238" y="7090019"/>
            <a:ext cx="3189684" cy="417614"/>
          </a:xfrm>
          <a:prstGeom prst="rect">
            <a:avLst/>
          </a:prstGeom>
        </p:spPr>
        <p:txBody>
          <a:bodyPr lIns="0" tIns="0" rIns="0" bIns="0" rtlCol="0" anchor="t">
            <a:spAutoFit/>
          </a:bodyPr>
          <a:lstStyle/>
          <a:p>
            <a:pPr algn="l">
              <a:lnSpc>
                <a:spcPts val="3124"/>
              </a:lnSpc>
            </a:pPr>
            <a:r>
              <a:rPr lang="en-US" sz="2499" b="1">
                <a:solidFill>
                  <a:srgbClr val="FF0000"/>
                </a:solidFill>
                <a:latin typeface="Open Sans 1 Bold"/>
                <a:ea typeface="Open Sans 1 Bold"/>
                <a:cs typeface="Open Sans 1 Bold"/>
                <a:sym typeface="Open Sans 1 Bold"/>
              </a:rPr>
              <a:t>Dự Án QR Code</a:t>
            </a:r>
          </a:p>
        </p:txBody>
      </p:sp>
      <p:sp>
        <p:nvSpPr>
          <p:cNvPr id="11" name="TextBox 11"/>
          <p:cNvSpPr txBox="1"/>
          <p:nvPr/>
        </p:nvSpPr>
        <p:spPr>
          <a:xfrm>
            <a:off x="992238" y="7686523"/>
            <a:ext cx="5020570" cy="1301353"/>
          </a:xfrm>
          <a:prstGeom prst="rect">
            <a:avLst/>
          </a:prstGeom>
        </p:spPr>
        <p:txBody>
          <a:bodyPr lIns="0" tIns="0" rIns="0" bIns="0" rtlCol="0" anchor="t">
            <a:spAutoFit/>
          </a:bodyPr>
          <a:lstStyle/>
          <a:p>
            <a:pPr algn="l">
              <a:lnSpc>
                <a:spcPts val="3187"/>
              </a:lnSpc>
            </a:pPr>
            <a:r>
              <a:rPr lang="en-US" sz="2000">
                <a:solidFill>
                  <a:srgbClr val="000099"/>
                </a:solidFill>
                <a:latin typeface="Open Sans 1"/>
                <a:ea typeface="Open Sans 1"/>
                <a:cs typeface="Open Sans 1"/>
                <a:sym typeface="Open Sans 1"/>
              </a:rPr>
              <a:t>Đang làm Tờ trình giải trình các hạng mục </a:t>
            </a:r>
            <a:r>
              <a:rPr lang="en-US" sz="2000">
                <a:solidFill>
                  <a:srgbClr val="FF0101"/>
                </a:solidFill>
                <a:latin typeface="Open Sans 1"/>
                <a:ea typeface="Open Sans 1"/>
                <a:cs typeface="Open Sans 1"/>
                <a:sym typeface="Open Sans 1"/>
              </a:rPr>
              <a:t>ngoài phạm vi của dự án QRCODE Long An</a:t>
            </a:r>
          </a:p>
        </p:txBody>
      </p:sp>
      <p:sp>
        <p:nvSpPr>
          <p:cNvPr id="12" name="TextBox 12"/>
          <p:cNvSpPr txBox="1"/>
          <p:nvPr/>
        </p:nvSpPr>
        <p:spPr>
          <a:xfrm>
            <a:off x="6644726" y="7090019"/>
            <a:ext cx="3287763" cy="417614"/>
          </a:xfrm>
          <a:prstGeom prst="rect">
            <a:avLst/>
          </a:prstGeom>
        </p:spPr>
        <p:txBody>
          <a:bodyPr lIns="0" tIns="0" rIns="0" bIns="0" rtlCol="0" anchor="t">
            <a:spAutoFit/>
          </a:bodyPr>
          <a:lstStyle/>
          <a:p>
            <a:pPr algn="l">
              <a:lnSpc>
                <a:spcPts val="3124"/>
              </a:lnSpc>
            </a:pPr>
            <a:r>
              <a:rPr lang="en-US" sz="2499" b="1">
                <a:solidFill>
                  <a:srgbClr val="FF0000"/>
                </a:solidFill>
                <a:latin typeface="Open Sans 1 Bold"/>
                <a:ea typeface="Open Sans 1 Bold"/>
                <a:cs typeface="Open Sans 1 Bold"/>
                <a:sym typeface="Open Sans 1 Bold"/>
              </a:rPr>
              <a:t>Triển Khai Chữ Ký Số</a:t>
            </a:r>
          </a:p>
        </p:txBody>
      </p:sp>
      <p:sp>
        <p:nvSpPr>
          <p:cNvPr id="13" name="TextBox 13"/>
          <p:cNvSpPr txBox="1"/>
          <p:nvPr/>
        </p:nvSpPr>
        <p:spPr>
          <a:xfrm>
            <a:off x="6644726" y="7686523"/>
            <a:ext cx="5018932" cy="1301353"/>
          </a:xfrm>
          <a:prstGeom prst="rect">
            <a:avLst/>
          </a:prstGeom>
        </p:spPr>
        <p:txBody>
          <a:bodyPr lIns="0" tIns="0" rIns="0" bIns="0" rtlCol="0" anchor="t">
            <a:spAutoFit/>
          </a:bodyPr>
          <a:lstStyle/>
          <a:p>
            <a:pPr algn="l">
              <a:lnSpc>
                <a:spcPts val="3187"/>
              </a:lnSpc>
            </a:pPr>
            <a:r>
              <a:rPr lang="en-US" sz="2000">
                <a:solidFill>
                  <a:srgbClr val="000099"/>
                </a:solidFill>
                <a:latin typeface="Open Sans 1"/>
                <a:ea typeface="Open Sans 1"/>
                <a:cs typeface="Open Sans 1"/>
                <a:sym typeface="Open Sans 1"/>
              </a:rPr>
              <a:t>Tiến hành thống kê chi tiết các loại chứng từ đang sử dụng chữ ký số để chuẩn bị cho việc áp dụng rộng rãi và đồng bộ hóa.</a:t>
            </a:r>
          </a:p>
        </p:txBody>
      </p:sp>
      <p:sp>
        <p:nvSpPr>
          <p:cNvPr id="14" name="TextBox 14"/>
          <p:cNvSpPr txBox="1"/>
          <p:nvPr/>
        </p:nvSpPr>
        <p:spPr>
          <a:xfrm>
            <a:off x="12295584" y="7090019"/>
            <a:ext cx="3419323" cy="417614"/>
          </a:xfrm>
          <a:prstGeom prst="rect">
            <a:avLst/>
          </a:prstGeom>
        </p:spPr>
        <p:txBody>
          <a:bodyPr lIns="0" tIns="0" rIns="0" bIns="0" rtlCol="0" anchor="t">
            <a:spAutoFit/>
          </a:bodyPr>
          <a:lstStyle/>
          <a:p>
            <a:pPr algn="l">
              <a:lnSpc>
                <a:spcPts val="3124"/>
              </a:lnSpc>
            </a:pPr>
            <a:r>
              <a:rPr lang="en-US" sz="2499" b="1">
                <a:solidFill>
                  <a:srgbClr val="FF0000"/>
                </a:solidFill>
                <a:latin typeface="Open Sans 1 Bold"/>
                <a:ea typeface="Open Sans 1 Bold"/>
                <a:cs typeface="Open Sans 1 Bold"/>
                <a:sym typeface="Open Sans 1 Bold"/>
              </a:rPr>
              <a:t>Thực Hiện Lộ Trình AI</a:t>
            </a:r>
          </a:p>
        </p:txBody>
      </p:sp>
      <p:sp>
        <p:nvSpPr>
          <p:cNvPr id="15" name="TextBox 15"/>
          <p:cNvSpPr txBox="1"/>
          <p:nvPr/>
        </p:nvSpPr>
        <p:spPr>
          <a:xfrm>
            <a:off x="12295584" y="7686523"/>
            <a:ext cx="5018932" cy="892969"/>
          </a:xfrm>
          <a:prstGeom prst="rect">
            <a:avLst/>
          </a:prstGeom>
        </p:spPr>
        <p:txBody>
          <a:bodyPr lIns="0" tIns="0" rIns="0" bIns="0" rtlCol="0" anchor="t">
            <a:spAutoFit/>
          </a:bodyPr>
          <a:lstStyle/>
          <a:p>
            <a:pPr algn="l">
              <a:lnSpc>
                <a:spcPts val="3187"/>
              </a:lnSpc>
            </a:pPr>
            <a:r>
              <a:rPr lang="en-US" sz="2000">
                <a:solidFill>
                  <a:srgbClr val="000099"/>
                </a:solidFill>
                <a:latin typeface="Open Sans 1"/>
                <a:ea typeface="Open Sans 1"/>
                <a:cs typeface="Open Sans 1"/>
                <a:sym typeface="Open Sans 1"/>
              </a:rPr>
              <a:t>Bắt đầu triển khai Lộ trình tiếp cận và ứng dụng AI theo đề xuất đã được phê duyệt.</a:t>
            </a: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819150" y="3396704"/>
            <a:ext cx="5448300" cy="6375946"/>
            <a:chOff x="0" y="-28575"/>
            <a:chExt cx="1434943" cy="1679261"/>
          </a:xfrm>
        </p:grpSpPr>
        <p:sp>
          <p:nvSpPr>
            <p:cNvPr id="17" name="Freeform 16"/>
            <p:cNvSpPr/>
            <p:nvPr/>
          </p:nvSpPr>
          <p:spPr>
            <a:xfrm>
              <a:off x="0" y="0"/>
              <a:ext cx="1434943" cy="1650686"/>
            </a:xfrm>
            <a:custGeom>
              <a:avLst/>
              <a:gdLst/>
              <a:ahLst/>
              <a:cxnLst/>
              <a:rect l="l" t="t" r="r" b="b"/>
              <a:pathLst>
                <a:path w="1434943" h="1650686">
                  <a:moveTo>
                    <a:pt x="28420" y="0"/>
                  </a:moveTo>
                  <a:lnTo>
                    <a:pt x="1406524" y="0"/>
                  </a:lnTo>
                  <a:cubicBezTo>
                    <a:pt x="1422219" y="0"/>
                    <a:pt x="1434943" y="12724"/>
                    <a:pt x="1434943" y="28420"/>
                  </a:cubicBezTo>
                  <a:lnTo>
                    <a:pt x="1434943" y="1622267"/>
                  </a:lnTo>
                  <a:cubicBezTo>
                    <a:pt x="1434943" y="1637963"/>
                    <a:pt x="1422219" y="1650686"/>
                    <a:pt x="1406524" y="1650686"/>
                  </a:cubicBezTo>
                  <a:lnTo>
                    <a:pt x="28420" y="1650686"/>
                  </a:lnTo>
                  <a:cubicBezTo>
                    <a:pt x="12724" y="1650686"/>
                    <a:pt x="0" y="1637963"/>
                    <a:pt x="0" y="1622267"/>
                  </a:cubicBezTo>
                  <a:lnTo>
                    <a:pt x="0" y="28420"/>
                  </a:lnTo>
                  <a:cubicBezTo>
                    <a:pt x="0" y="12724"/>
                    <a:pt x="12724" y="0"/>
                    <a:pt x="28420" y="0"/>
                  </a:cubicBezTo>
                  <a:close/>
                </a:path>
              </a:pathLst>
            </a:custGeom>
            <a:solidFill>
              <a:srgbClr val="FDFEFE"/>
            </a:solidFill>
          </p:spPr>
          <p:txBody>
            <a:bodyPr/>
            <a:lstStyle/>
            <a:p>
              <a:endParaRPr lang="en-US"/>
            </a:p>
          </p:txBody>
        </p:sp>
        <p:sp>
          <p:nvSpPr>
            <p:cNvPr id="18" name="TextBox 5"/>
            <p:cNvSpPr txBox="1"/>
            <p:nvPr/>
          </p:nvSpPr>
          <p:spPr>
            <a:xfrm>
              <a:off x="0" y="-28575"/>
              <a:ext cx="1434943" cy="1679261"/>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1960"/>
                </a:lnSpc>
              </a:pPr>
              <a:endParaRPr/>
            </a:p>
          </p:txBody>
        </p:sp>
      </p:grpSp>
      <p:grpSp>
        <p:nvGrpSpPr>
          <p:cNvPr id="4" name="Group 3"/>
          <p:cNvGrpSpPr/>
          <p:nvPr/>
        </p:nvGrpSpPr>
        <p:grpSpPr>
          <a:xfrm>
            <a:off x="6595142" y="3396704"/>
            <a:ext cx="5448300" cy="6375946"/>
            <a:chOff x="0" y="-28575"/>
            <a:chExt cx="1434943" cy="1679261"/>
          </a:xfrm>
        </p:grpSpPr>
        <p:sp>
          <p:nvSpPr>
            <p:cNvPr id="15" name="Freeform 14"/>
            <p:cNvSpPr/>
            <p:nvPr/>
          </p:nvSpPr>
          <p:spPr>
            <a:xfrm>
              <a:off x="0" y="0"/>
              <a:ext cx="1434943" cy="1650686"/>
            </a:xfrm>
            <a:custGeom>
              <a:avLst/>
              <a:gdLst/>
              <a:ahLst/>
              <a:cxnLst/>
              <a:rect l="l" t="t" r="r" b="b"/>
              <a:pathLst>
                <a:path w="1434943" h="1650686">
                  <a:moveTo>
                    <a:pt x="28420" y="0"/>
                  </a:moveTo>
                  <a:lnTo>
                    <a:pt x="1406524" y="0"/>
                  </a:lnTo>
                  <a:cubicBezTo>
                    <a:pt x="1422219" y="0"/>
                    <a:pt x="1434943" y="12724"/>
                    <a:pt x="1434943" y="28420"/>
                  </a:cubicBezTo>
                  <a:lnTo>
                    <a:pt x="1434943" y="1622267"/>
                  </a:lnTo>
                  <a:cubicBezTo>
                    <a:pt x="1434943" y="1637963"/>
                    <a:pt x="1422219" y="1650686"/>
                    <a:pt x="1406524" y="1650686"/>
                  </a:cubicBezTo>
                  <a:lnTo>
                    <a:pt x="28420" y="1650686"/>
                  </a:lnTo>
                  <a:cubicBezTo>
                    <a:pt x="12724" y="1650686"/>
                    <a:pt x="0" y="1637963"/>
                    <a:pt x="0" y="1622267"/>
                  </a:cubicBezTo>
                  <a:lnTo>
                    <a:pt x="0" y="28420"/>
                  </a:lnTo>
                  <a:cubicBezTo>
                    <a:pt x="0" y="12724"/>
                    <a:pt x="12724" y="0"/>
                    <a:pt x="28420" y="0"/>
                  </a:cubicBezTo>
                  <a:close/>
                </a:path>
              </a:pathLst>
            </a:custGeom>
            <a:solidFill>
              <a:srgbClr val="FDFEFE"/>
            </a:solidFill>
          </p:spPr>
          <p:txBody>
            <a:bodyPr/>
            <a:lstStyle/>
            <a:p>
              <a:endParaRPr lang="en-US"/>
            </a:p>
          </p:txBody>
        </p:sp>
        <p:sp>
          <p:nvSpPr>
            <p:cNvPr id="16" name="TextBox 8"/>
            <p:cNvSpPr txBox="1"/>
            <p:nvPr/>
          </p:nvSpPr>
          <p:spPr>
            <a:xfrm>
              <a:off x="0" y="-28575"/>
              <a:ext cx="1434943" cy="1679261"/>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1960"/>
                </a:lnSpc>
              </a:pPr>
              <a:endParaRPr/>
            </a:p>
          </p:txBody>
        </p:sp>
      </p:grpSp>
      <p:grpSp>
        <p:nvGrpSpPr>
          <p:cNvPr id="5" name="Group 4"/>
          <p:cNvGrpSpPr/>
          <p:nvPr/>
        </p:nvGrpSpPr>
        <p:grpSpPr>
          <a:xfrm>
            <a:off x="12325350" y="3396704"/>
            <a:ext cx="5448300" cy="6375946"/>
            <a:chOff x="0" y="-28575"/>
            <a:chExt cx="1434943" cy="1679261"/>
          </a:xfrm>
        </p:grpSpPr>
        <p:sp>
          <p:nvSpPr>
            <p:cNvPr id="13" name="Freeform 12"/>
            <p:cNvSpPr/>
            <p:nvPr/>
          </p:nvSpPr>
          <p:spPr>
            <a:xfrm>
              <a:off x="0" y="0"/>
              <a:ext cx="1434943" cy="1650686"/>
            </a:xfrm>
            <a:custGeom>
              <a:avLst/>
              <a:gdLst/>
              <a:ahLst/>
              <a:cxnLst/>
              <a:rect l="l" t="t" r="r" b="b"/>
              <a:pathLst>
                <a:path w="1434943" h="1650686">
                  <a:moveTo>
                    <a:pt x="28420" y="0"/>
                  </a:moveTo>
                  <a:lnTo>
                    <a:pt x="1406524" y="0"/>
                  </a:lnTo>
                  <a:cubicBezTo>
                    <a:pt x="1422219" y="0"/>
                    <a:pt x="1434943" y="12724"/>
                    <a:pt x="1434943" y="28420"/>
                  </a:cubicBezTo>
                  <a:lnTo>
                    <a:pt x="1434943" y="1622267"/>
                  </a:lnTo>
                  <a:cubicBezTo>
                    <a:pt x="1434943" y="1637963"/>
                    <a:pt x="1422219" y="1650686"/>
                    <a:pt x="1406524" y="1650686"/>
                  </a:cubicBezTo>
                  <a:lnTo>
                    <a:pt x="28420" y="1650686"/>
                  </a:lnTo>
                  <a:cubicBezTo>
                    <a:pt x="12724" y="1650686"/>
                    <a:pt x="0" y="1637963"/>
                    <a:pt x="0" y="1622267"/>
                  </a:cubicBezTo>
                  <a:lnTo>
                    <a:pt x="0" y="28420"/>
                  </a:lnTo>
                  <a:cubicBezTo>
                    <a:pt x="0" y="12724"/>
                    <a:pt x="12724" y="0"/>
                    <a:pt x="28420" y="0"/>
                  </a:cubicBezTo>
                  <a:close/>
                </a:path>
              </a:pathLst>
            </a:custGeom>
            <a:solidFill>
              <a:srgbClr val="FDFEFE"/>
            </a:solidFill>
          </p:spPr>
          <p:txBody>
            <a:bodyPr/>
            <a:lstStyle/>
            <a:p>
              <a:endParaRPr lang="en-US"/>
            </a:p>
          </p:txBody>
        </p:sp>
        <p:sp>
          <p:nvSpPr>
            <p:cNvPr id="14" name="TextBox 11"/>
            <p:cNvSpPr txBox="1"/>
            <p:nvPr/>
          </p:nvSpPr>
          <p:spPr>
            <a:xfrm>
              <a:off x="0" y="-28575"/>
              <a:ext cx="1434943" cy="1679261"/>
            </a:xfrm>
            <a:prstGeom prst="rect">
              <a:avLst/>
            </a:prstGeom>
          </p:spPr>
          <p:txBody>
            <a:bodyPr lIns="50800" tIns="50800" rIns="50800" bIns="50800"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1960"/>
                </a:lnSpc>
              </a:pPr>
              <a:endParaRPr/>
            </a:p>
          </p:txBody>
        </p:sp>
      </p:grpSp>
      <p:sp>
        <p:nvSpPr>
          <p:cNvPr id="6" name="TextBox 12"/>
          <p:cNvSpPr txBox="1"/>
          <p:nvPr/>
        </p:nvSpPr>
        <p:spPr>
          <a:xfrm>
            <a:off x="1224400" y="5702300"/>
            <a:ext cx="4637800" cy="2491740"/>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ts val="3360"/>
              </a:lnSpc>
            </a:pPr>
            <a:r>
              <a:rPr lang="en-US" sz="2400">
                <a:solidFill>
                  <a:srgbClr val="000099"/>
                </a:solidFill>
                <a:latin typeface="Open Sans 2"/>
                <a:ea typeface="Open Sans 2"/>
                <a:cs typeface="Open Sans 2"/>
                <a:sym typeface="Open Sans 2"/>
              </a:rPr>
              <a:t>Paragraph 1 th</a:t>
            </a:r>
            <a:r>
              <a:rPr lang="en-US" sz="2400" u="none" strike="noStrike">
                <a:solidFill>
                  <a:srgbClr val="000099"/>
                </a:solidFill>
                <a:latin typeface="Open Sans 2"/>
                <a:ea typeface="Open Sans 2"/>
                <a:cs typeface="Open Sans 2"/>
                <a:sym typeface="Open Sans 2"/>
              </a:rPr>
              <a:t>at dives deeper into the topic or main idea of the page, expanding on key points, providing relevant details, and building a clearer understanding for the reader.</a:t>
            </a:r>
          </a:p>
        </p:txBody>
      </p:sp>
      <p:sp>
        <p:nvSpPr>
          <p:cNvPr id="7" name="TextBox 13"/>
          <p:cNvSpPr txBox="1"/>
          <p:nvPr/>
        </p:nvSpPr>
        <p:spPr>
          <a:xfrm>
            <a:off x="6977500" y="5707044"/>
            <a:ext cx="4637800" cy="2491740"/>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lvl="0" indent="0" algn="l">
              <a:lnSpc>
                <a:spcPts val="3360"/>
              </a:lnSpc>
              <a:spcBef>
                <a:spcPct val="0"/>
              </a:spcBef>
            </a:pPr>
            <a:r>
              <a:rPr lang="en-US" sz="2400" u="none" strike="noStrike">
                <a:solidFill>
                  <a:srgbClr val="000099"/>
                </a:solidFill>
                <a:latin typeface="Open Sans 2"/>
                <a:ea typeface="Open Sans 2"/>
                <a:cs typeface="Open Sans 2"/>
                <a:sym typeface="Open Sans 2"/>
              </a:rPr>
              <a:t>Paragraph 2 that dives deeper into the topic or main idea of the page, expanding on key points, providing relevant details, and building a clearer understanding for the reader.</a:t>
            </a:r>
          </a:p>
        </p:txBody>
      </p:sp>
      <p:sp>
        <p:nvSpPr>
          <p:cNvPr id="8" name="TextBox 14"/>
          <p:cNvSpPr txBox="1"/>
          <p:nvPr/>
        </p:nvSpPr>
        <p:spPr>
          <a:xfrm>
            <a:off x="819150" y="1751795"/>
            <a:ext cx="16954500" cy="971550"/>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lvl="0" indent="0" algn="ctr">
              <a:lnSpc>
                <a:spcPts val="7679"/>
              </a:lnSpc>
              <a:spcBef>
                <a:spcPct val="0"/>
              </a:spcBef>
            </a:pPr>
            <a:r>
              <a:rPr lang="en-US" sz="6399" b="1">
                <a:solidFill>
                  <a:srgbClr val="FF0000"/>
                </a:solidFill>
                <a:latin typeface="Open Sans 2 Bold"/>
                <a:ea typeface="Open Sans 2 Bold"/>
                <a:cs typeface="Open Sans 2 Bold"/>
                <a:sym typeface="Open Sans 2 Bold"/>
              </a:rPr>
              <a:t>Heading for the topic or main idea</a:t>
            </a:r>
          </a:p>
        </p:txBody>
      </p:sp>
      <p:sp>
        <p:nvSpPr>
          <p:cNvPr id="9" name="TextBox 15"/>
          <p:cNvSpPr txBox="1"/>
          <p:nvPr/>
        </p:nvSpPr>
        <p:spPr>
          <a:xfrm>
            <a:off x="1181100" y="3857625"/>
            <a:ext cx="4637800" cy="54292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ts val="4500"/>
              </a:lnSpc>
            </a:pPr>
            <a:r>
              <a:rPr lang="en-US" sz="3000" b="1">
                <a:solidFill>
                  <a:srgbClr val="000099"/>
                </a:solidFill>
                <a:latin typeface="Open Sans 2 Bold"/>
                <a:ea typeface="Open Sans 2 Bold"/>
                <a:cs typeface="Open Sans 2 Bold"/>
                <a:sym typeface="Open Sans 2 Bold"/>
              </a:rPr>
              <a:t>Main point 1</a:t>
            </a:r>
          </a:p>
        </p:txBody>
      </p:sp>
      <p:sp>
        <p:nvSpPr>
          <p:cNvPr id="10" name="TextBox 16"/>
          <p:cNvSpPr txBox="1"/>
          <p:nvPr/>
        </p:nvSpPr>
        <p:spPr>
          <a:xfrm>
            <a:off x="7000392" y="3857625"/>
            <a:ext cx="4637800" cy="54292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lvl="1" indent="0" algn="l">
              <a:lnSpc>
                <a:spcPts val="4500"/>
              </a:lnSpc>
              <a:spcBef>
                <a:spcPct val="0"/>
              </a:spcBef>
            </a:pPr>
            <a:r>
              <a:rPr lang="en-US" sz="3000" b="1" u="none" strike="noStrike">
                <a:solidFill>
                  <a:srgbClr val="000099"/>
                </a:solidFill>
                <a:latin typeface="Open Sans 2 Bold"/>
                <a:ea typeface="Open Sans 2 Bold"/>
                <a:cs typeface="Open Sans 2 Bold"/>
                <a:sym typeface="Open Sans 2 Bold"/>
              </a:rPr>
              <a:t>Main point 2</a:t>
            </a:r>
          </a:p>
        </p:txBody>
      </p:sp>
      <p:sp>
        <p:nvSpPr>
          <p:cNvPr id="11" name="TextBox 17"/>
          <p:cNvSpPr txBox="1"/>
          <p:nvPr/>
        </p:nvSpPr>
        <p:spPr>
          <a:xfrm>
            <a:off x="12776867" y="5707044"/>
            <a:ext cx="4636972" cy="2491740"/>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lvl="0" indent="0" algn="l">
              <a:lnSpc>
                <a:spcPts val="3360"/>
              </a:lnSpc>
              <a:spcBef>
                <a:spcPct val="0"/>
              </a:spcBef>
            </a:pPr>
            <a:r>
              <a:rPr lang="en-US" sz="2400" u="none" strike="noStrike">
                <a:solidFill>
                  <a:srgbClr val="000099"/>
                </a:solidFill>
                <a:latin typeface="Open Sans 2"/>
                <a:ea typeface="Open Sans 2"/>
                <a:cs typeface="Open Sans 2"/>
                <a:sym typeface="Open Sans 2"/>
              </a:rPr>
              <a:t>Paragraph 3 that dives deeper into the topic or main idea of the page, expanding on key points, providing relevant details, and building a clearer understanding for the reader.</a:t>
            </a:r>
          </a:p>
        </p:txBody>
      </p:sp>
      <p:sp>
        <p:nvSpPr>
          <p:cNvPr id="12" name="TextBox 18"/>
          <p:cNvSpPr txBox="1"/>
          <p:nvPr/>
        </p:nvSpPr>
        <p:spPr>
          <a:xfrm>
            <a:off x="12731428" y="3857625"/>
            <a:ext cx="4636144" cy="542925"/>
          </a:xfrm>
          <a:prstGeom prst="rect">
            <a:avLst/>
          </a:prstGeom>
        </p:spPr>
        <p:txBody>
          <a:bodyPr lIns="0" tIns="0" rIns="0" bIns="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lvl="1" indent="0" algn="l">
              <a:lnSpc>
                <a:spcPts val="4500"/>
              </a:lnSpc>
              <a:spcBef>
                <a:spcPct val="0"/>
              </a:spcBef>
            </a:pPr>
            <a:r>
              <a:rPr lang="en-US" sz="3000" b="1" u="none" strike="noStrike">
                <a:solidFill>
                  <a:srgbClr val="000099"/>
                </a:solidFill>
                <a:latin typeface="Open Sans 2 Bold"/>
                <a:ea typeface="Open Sans 2 Bold"/>
                <a:cs typeface="Open Sans 2 Bold"/>
                <a:sym typeface="Open Sans 2 Bold"/>
              </a:rPr>
              <a:t>Main point 3</a:t>
            </a:r>
          </a:p>
        </p:txBody>
      </p:sp>
    </p:spTree>
    <p:extLst>
      <p:ext uri="{BB962C8B-B14F-4D97-AF65-F5344CB8AC3E}">
        <p14:creationId xmlns:p14="http://schemas.microsoft.com/office/powerpoint/2010/main" val="3694111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4981575" cy="10287000"/>
            <a:chOff x="0" y="0"/>
            <a:chExt cx="1312020" cy="2709333"/>
          </a:xfrm>
        </p:grpSpPr>
        <p:sp>
          <p:nvSpPr>
            <p:cNvPr id="3" name="Freeform 3"/>
            <p:cNvSpPr/>
            <p:nvPr/>
          </p:nvSpPr>
          <p:spPr>
            <a:xfrm>
              <a:off x="0" y="0"/>
              <a:ext cx="1312020" cy="2709333"/>
            </a:xfrm>
            <a:custGeom>
              <a:avLst/>
              <a:gdLst/>
              <a:ahLst/>
              <a:cxnLst/>
              <a:rect l="l" t="t" r="r" b="b"/>
              <a:pathLst>
                <a:path w="1312020" h="2709333">
                  <a:moveTo>
                    <a:pt x="0" y="0"/>
                  </a:moveTo>
                  <a:lnTo>
                    <a:pt x="1312020" y="0"/>
                  </a:lnTo>
                  <a:lnTo>
                    <a:pt x="1312020" y="2709333"/>
                  </a:lnTo>
                  <a:lnTo>
                    <a:pt x="0" y="2709333"/>
                  </a:lnTo>
                  <a:close/>
                </a:path>
              </a:pathLst>
            </a:custGeom>
            <a:solidFill>
              <a:srgbClr val="FFFFFF"/>
            </a:solidFill>
          </p:spPr>
        </p:sp>
        <p:sp>
          <p:nvSpPr>
            <p:cNvPr id="4" name="TextBox 4"/>
            <p:cNvSpPr txBox="1"/>
            <p:nvPr/>
          </p:nvSpPr>
          <p:spPr>
            <a:xfrm>
              <a:off x="0" y="-66675"/>
              <a:ext cx="1312020" cy="2776008"/>
            </a:xfrm>
            <a:prstGeom prst="rect">
              <a:avLst/>
            </a:prstGeom>
          </p:spPr>
          <p:txBody>
            <a:bodyPr lIns="50800" tIns="50800" rIns="50800" bIns="50800" rtlCol="0" anchor="ctr"/>
            <a:lstStyle/>
            <a:p>
              <a:pPr algn="ctr">
                <a:lnSpc>
                  <a:spcPts val="3000"/>
                </a:lnSpc>
              </a:pPr>
              <a:endParaRPr/>
            </a:p>
          </p:txBody>
        </p:sp>
      </p:grpSp>
      <p:sp>
        <p:nvSpPr>
          <p:cNvPr id="5" name="TextBox 5"/>
          <p:cNvSpPr txBox="1"/>
          <p:nvPr/>
        </p:nvSpPr>
        <p:spPr>
          <a:xfrm>
            <a:off x="679447" y="7926705"/>
            <a:ext cx="3689248" cy="1693545"/>
          </a:xfrm>
          <a:prstGeom prst="rect">
            <a:avLst/>
          </a:prstGeom>
        </p:spPr>
        <p:txBody>
          <a:bodyPr lIns="0" tIns="0" rIns="0" bIns="0" rtlCol="0" anchor="t">
            <a:spAutoFit/>
          </a:bodyPr>
          <a:lstStyle/>
          <a:p>
            <a:pPr algn="l">
              <a:lnSpc>
                <a:spcPts val="2700"/>
              </a:lnSpc>
            </a:pPr>
            <a:r>
              <a:rPr lang="en-US" sz="1800">
                <a:solidFill>
                  <a:srgbClr val="000099"/>
                </a:solidFill>
                <a:latin typeface="Open Sans 2"/>
                <a:ea typeface="Open Sans 2"/>
                <a:cs typeface="Open Sans 2"/>
                <a:sym typeface="Open Sans 2"/>
              </a:rPr>
              <a:t>Paragraph that explains the data sources, outlines what the chart illustrates, and provides guidance </a:t>
            </a:r>
          </a:p>
          <a:p>
            <a:pPr marL="0" lvl="0" indent="0" algn="l">
              <a:lnSpc>
                <a:spcPts val="2700"/>
              </a:lnSpc>
              <a:spcBef>
                <a:spcPct val="0"/>
              </a:spcBef>
            </a:pPr>
            <a:r>
              <a:rPr lang="en-US" sz="1800">
                <a:solidFill>
                  <a:srgbClr val="000099"/>
                </a:solidFill>
                <a:latin typeface="Open Sans 2"/>
                <a:ea typeface="Open Sans 2"/>
                <a:cs typeface="Open Sans 2"/>
                <a:sym typeface="Open Sans 2"/>
              </a:rPr>
              <a:t>on interpreting the visualizations to inform decision-making.</a:t>
            </a:r>
          </a:p>
        </p:txBody>
      </p:sp>
      <p:grpSp>
        <p:nvGrpSpPr>
          <p:cNvPr id="6" name="Group 6"/>
          <p:cNvGrpSpPr/>
          <p:nvPr/>
        </p:nvGrpSpPr>
        <p:grpSpPr>
          <a:xfrm>
            <a:off x="666750" y="666750"/>
            <a:ext cx="3701946" cy="2889885"/>
            <a:chOff x="0" y="0"/>
            <a:chExt cx="4935928" cy="3853180"/>
          </a:xfrm>
        </p:grpSpPr>
        <p:sp>
          <p:nvSpPr>
            <p:cNvPr id="7" name="TextBox 7"/>
            <p:cNvSpPr txBox="1"/>
            <p:nvPr/>
          </p:nvSpPr>
          <p:spPr>
            <a:xfrm>
              <a:off x="0" y="0"/>
              <a:ext cx="4935928" cy="1447800"/>
            </a:xfrm>
            <a:prstGeom prst="rect">
              <a:avLst/>
            </a:prstGeom>
          </p:spPr>
          <p:txBody>
            <a:bodyPr lIns="0" tIns="0" rIns="0" bIns="0" rtlCol="0" anchor="t">
              <a:spAutoFit/>
            </a:bodyPr>
            <a:lstStyle/>
            <a:p>
              <a:pPr algn="l">
                <a:lnSpc>
                  <a:spcPts val="4319"/>
                </a:lnSpc>
              </a:pPr>
              <a:r>
                <a:rPr lang="en-US" sz="3599" b="1">
                  <a:solidFill>
                    <a:srgbClr val="FF0000"/>
                  </a:solidFill>
                  <a:latin typeface="Open Sans 2 Bold"/>
                  <a:ea typeface="Open Sans 2 Bold"/>
                  <a:cs typeface="Open Sans 2 Bold"/>
                  <a:sym typeface="Open Sans 2 Bold"/>
                </a:rPr>
                <a:t>Chart page heading</a:t>
              </a:r>
            </a:p>
          </p:txBody>
        </p:sp>
        <p:sp>
          <p:nvSpPr>
            <p:cNvPr id="8" name="TextBox 8"/>
            <p:cNvSpPr txBox="1"/>
            <p:nvPr/>
          </p:nvSpPr>
          <p:spPr>
            <a:xfrm>
              <a:off x="0" y="1769110"/>
              <a:ext cx="4935928" cy="2084070"/>
            </a:xfrm>
            <a:prstGeom prst="rect">
              <a:avLst/>
            </a:prstGeom>
          </p:spPr>
          <p:txBody>
            <a:bodyPr lIns="0" tIns="0" rIns="0" bIns="0" rtlCol="0" anchor="t">
              <a:spAutoFit/>
            </a:bodyPr>
            <a:lstStyle/>
            <a:p>
              <a:pPr algn="l">
                <a:lnSpc>
                  <a:spcPts val="3150"/>
                </a:lnSpc>
              </a:pPr>
              <a:r>
                <a:rPr lang="en-US" sz="2100" b="1">
                  <a:solidFill>
                    <a:srgbClr val="000099"/>
                  </a:solidFill>
                  <a:latin typeface="Open Sans 2 Bold"/>
                  <a:ea typeface="Open Sans 2 Bold"/>
                  <a:cs typeface="Open Sans 2 Bold"/>
                  <a:sym typeface="Open Sans 2 Bold"/>
                </a:rPr>
                <a:t>Subheading that highlights the focus of the charts </a:t>
              </a:r>
            </a:p>
            <a:p>
              <a:pPr marL="0" lvl="0" indent="0" algn="l">
                <a:lnSpc>
                  <a:spcPts val="3150"/>
                </a:lnSpc>
              </a:pPr>
              <a:r>
                <a:rPr lang="en-US" sz="2100" b="1">
                  <a:solidFill>
                    <a:srgbClr val="000099"/>
                  </a:solidFill>
                  <a:latin typeface="Open Sans 2 Bold"/>
                  <a:ea typeface="Open Sans 2 Bold"/>
                  <a:cs typeface="Open Sans 2 Bold"/>
                  <a:sym typeface="Open Sans 2 Bold"/>
                </a:rPr>
                <a:t>and sets context for the data presented. </a:t>
              </a:r>
            </a:p>
          </p:txBody>
        </p:sp>
      </p:grpSp>
      <p:graphicFrame>
        <p:nvGraphicFramePr>
          <p:cNvPr id="12" name="Chart 11"/>
          <p:cNvGraphicFramePr/>
          <p:nvPr>
            <p:extLst>
              <p:ext uri="{D42A27DB-BD31-4B8C-83A1-F6EECF244321}">
                <p14:modId xmlns:p14="http://schemas.microsoft.com/office/powerpoint/2010/main" val="3780980107"/>
              </p:ext>
            </p:extLst>
          </p:nvPr>
        </p:nvGraphicFramePr>
        <p:xfrm>
          <a:off x="4876800" y="800100"/>
          <a:ext cx="12192000" cy="8128000"/>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2796676" y="0"/>
            <a:ext cx="5491324" cy="10287000"/>
            <a:chOff x="0" y="0"/>
            <a:chExt cx="1446275" cy="2709333"/>
          </a:xfrm>
        </p:grpSpPr>
        <p:sp>
          <p:nvSpPr>
            <p:cNvPr id="3" name="Freeform 3"/>
            <p:cNvSpPr/>
            <p:nvPr/>
          </p:nvSpPr>
          <p:spPr>
            <a:xfrm>
              <a:off x="0" y="0"/>
              <a:ext cx="1446275" cy="2709333"/>
            </a:xfrm>
            <a:custGeom>
              <a:avLst/>
              <a:gdLst/>
              <a:ahLst/>
              <a:cxnLst/>
              <a:rect l="l" t="t" r="r" b="b"/>
              <a:pathLst>
                <a:path w="1446275" h="2709333">
                  <a:moveTo>
                    <a:pt x="0" y="0"/>
                  </a:moveTo>
                  <a:lnTo>
                    <a:pt x="1446275" y="0"/>
                  </a:lnTo>
                  <a:lnTo>
                    <a:pt x="1446275" y="2709333"/>
                  </a:lnTo>
                  <a:lnTo>
                    <a:pt x="0" y="2709333"/>
                  </a:lnTo>
                  <a:close/>
                </a:path>
              </a:pathLst>
            </a:custGeom>
            <a:solidFill>
              <a:srgbClr val="FFFFFF"/>
            </a:solidFill>
          </p:spPr>
        </p:sp>
        <p:sp>
          <p:nvSpPr>
            <p:cNvPr id="4" name="TextBox 4"/>
            <p:cNvSpPr txBox="1"/>
            <p:nvPr/>
          </p:nvSpPr>
          <p:spPr>
            <a:xfrm>
              <a:off x="0" y="-66675"/>
              <a:ext cx="1446275" cy="2776008"/>
            </a:xfrm>
            <a:prstGeom prst="rect">
              <a:avLst/>
            </a:prstGeom>
          </p:spPr>
          <p:txBody>
            <a:bodyPr lIns="50800" tIns="50800" rIns="50800" bIns="50800" rtlCol="0" anchor="ctr"/>
            <a:lstStyle/>
            <a:p>
              <a:pPr algn="ctr">
                <a:lnSpc>
                  <a:spcPts val="3000"/>
                </a:lnSpc>
              </a:pPr>
              <a:endParaRPr/>
            </a:p>
          </p:txBody>
        </p:sp>
      </p:grpSp>
      <p:sp>
        <p:nvSpPr>
          <p:cNvPr id="5" name="TextBox 5"/>
          <p:cNvSpPr txBox="1"/>
          <p:nvPr/>
        </p:nvSpPr>
        <p:spPr>
          <a:xfrm>
            <a:off x="13623922" y="7926705"/>
            <a:ext cx="3997328" cy="1693545"/>
          </a:xfrm>
          <a:prstGeom prst="rect">
            <a:avLst/>
          </a:prstGeom>
        </p:spPr>
        <p:txBody>
          <a:bodyPr lIns="0" tIns="0" rIns="0" bIns="0" rtlCol="0" anchor="t">
            <a:spAutoFit/>
          </a:bodyPr>
          <a:lstStyle/>
          <a:p>
            <a:pPr algn="l">
              <a:lnSpc>
                <a:spcPts val="2700"/>
              </a:lnSpc>
            </a:pPr>
            <a:r>
              <a:rPr lang="en-US" sz="1800">
                <a:solidFill>
                  <a:srgbClr val="000099"/>
                </a:solidFill>
                <a:latin typeface="Open Sans 2"/>
                <a:ea typeface="Open Sans 2"/>
                <a:cs typeface="Open Sans 2"/>
                <a:sym typeface="Open Sans 2"/>
              </a:rPr>
              <a:t>Paragraph that explains the data sources, outlines what the chart illustrates, and provides guidance </a:t>
            </a:r>
          </a:p>
          <a:p>
            <a:pPr marL="0" lvl="0" indent="0" algn="l">
              <a:lnSpc>
                <a:spcPts val="2700"/>
              </a:lnSpc>
              <a:spcBef>
                <a:spcPct val="0"/>
              </a:spcBef>
            </a:pPr>
            <a:r>
              <a:rPr lang="en-US" sz="1800">
                <a:solidFill>
                  <a:srgbClr val="000099"/>
                </a:solidFill>
                <a:latin typeface="Open Sans 2"/>
                <a:ea typeface="Open Sans 2"/>
                <a:cs typeface="Open Sans 2"/>
                <a:sym typeface="Open Sans 2"/>
              </a:rPr>
              <a:t>on interpreting the visualizations to inform decision-making.</a:t>
            </a:r>
          </a:p>
        </p:txBody>
      </p:sp>
      <p:grpSp>
        <p:nvGrpSpPr>
          <p:cNvPr id="6" name="Group 6"/>
          <p:cNvGrpSpPr/>
          <p:nvPr/>
        </p:nvGrpSpPr>
        <p:grpSpPr>
          <a:xfrm>
            <a:off x="13611225" y="666750"/>
            <a:ext cx="4010025" cy="2889885"/>
            <a:chOff x="0" y="0"/>
            <a:chExt cx="5346700" cy="3853180"/>
          </a:xfrm>
        </p:grpSpPr>
        <p:sp>
          <p:nvSpPr>
            <p:cNvPr id="7" name="TextBox 7"/>
            <p:cNvSpPr txBox="1"/>
            <p:nvPr/>
          </p:nvSpPr>
          <p:spPr>
            <a:xfrm>
              <a:off x="0" y="0"/>
              <a:ext cx="5346700" cy="1447800"/>
            </a:xfrm>
            <a:prstGeom prst="rect">
              <a:avLst/>
            </a:prstGeom>
          </p:spPr>
          <p:txBody>
            <a:bodyPr lIns="0" tIns="0" rIns="0" bIns="0" rtlCol="0" anchor="t">
              <a:spAutoFit/>
            </a:bodyPr>
            <a:lstStyle/>
            <a:p>
              <a:pPr algn="l">
                <a:lnSpc>
                  <a:spcPts val="4319"/>
                </a:lnSpc>
              </a:pPr>
              <a:r>
                <a:rPr lang="en-US" sz="3599" b="1">
                  <a:solidFill>
                    <a:srgbClr val="FF0000"/>
                  </a:solidFill>
                  <a:latin typeface="Open Sans 2 Bold"/>
                  <a:ea typeface="Open Sans 2 Bold"/>
                  <a:cs typeface="Open Sans 2 Bold"/>
                  <a:sym typeface="Open Sans 2 Bold"/>
                </a:rPr>
                <a:t>Chart page heading</a:t>
              </a:r>
            </a:p>
          </p:txBody>
        </p:sp>
        <p:sp>
          <p:nvSpPr>
            <p:cNvPr id="8" name="TextBox 8"/>
            <p:cNvSpPr txBox="1"/>
            <p:nvPr/>
          </p:nvSpPr>
          <p:spPr>
            <a:xfrm>
              <a:off x="0" y="1769110"/>
              <a:ext cx="5346700" cy="2084070"/>
            </a:xfrm>
            <a:prstGeom prst="rect">
              <a:avLst/>
            </a:prstGeom>
          </p:spPr>
          <p:txBody>
            <a:bodyPr lIns="0" tIns="0" rIns="0" bIns="0" rtlCol="0" anchor="t">
              <a:spAutoFit/>
            </a:bodyPr>
            <a:lstStyle/>
            <a:p>
              <a:pPr algn="l">
                <a:lnSpc>
                  <a:spcPts val="3150"/>
                </a:lnSpc>
              </a:pPr>
              <a:r>
                <a:rPr lang="en-US" sz="2100" b="1">
                  <a:solidFill>
                    <a:srgbClr val="000099"/>
                  </a:solidFill>
                  <a:latin typeface="Open Sans 2 Bold"/>
                  <a:ea typeface="Open Sans 2 Bold"/>
                  <a:cs typeface="Open Sans 2 Bold"/>
                  <a:sym typeface="Open Sans 2 Bold"/>
                </a:rPr>
                <a:t>Subheading that highlights the focus of the charts </a:t>
              </a:r>
            </a:p>
            <a:p>
              <a:pPr marL="0" lvl="0" indent="0" algn="l">
                <a:lnSpc>
                  <a:spcPts val="3150"/>
                </a:lnSpc>
              </a:pPr>
              <a:r>
                <a:rPr lang="en-US" sz="2100" b="1">
                  <a:solidFill>
                    <a:srgbClr val="000099"/>
                  </a:solidFill>
                  <a:latin typeface="Open Sans 2 Bold"/>
                  <a:ea typeface="Open Sans 2 Bold"/>
                  <a:cs typeface="Open Sans 2 Bold"/>
                  <a:sym typeface="Open Sans 2 Bold"/>
                </a:rPr>
                <a:t>and sets context for the data presented. </a:t>
              </a:r>
            </a:p>
          </p:txBody>
        </p:sp>
      </p:grpSp>
      <p:graphicFrame>
        <p:nvGraphicFramePr>
          <p:cNvPr id="12" name="Chart 11"/>
          <p:cNvGraphicFramePr/>
          <p:nvPr>
            <p:extLst>
              <p:ext uri="{D42A27DB-BD31-4B8C-83A1-F6EECF244321}">
                <p14:modId xmlns:p14="http://schemas.microsoft.com/office/powerpoint/2010/main" val="2086719757"/>
              </p:ext>
            </p:extLst>
          </p:nvPr>
        </p:nvGraphicFramePr>
        <p:xfrm>
          <a:off x="604676" y="800100"/>
          <a:ext cx="12192000" cy="8128000"/>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6497460" y="5174571"/>
            <a:ext cx="5293071" cy="621506"/>
          </a:xfrm>
          <a:prstGeom prst="rect">
            <a:avLst/>
          </a:prstGeom>
        </p:spPr>
        <p:txBody>
          <a:bodyPr lIns="0" tIns="0" rIns="0" bIns="0" rtlCol="0" anchor="t">
            <a:spAutoFit/>
          </a:bodyPr>
          <a:lstStyle/>
          <a:p>
            <a:pPr algn="l">
              <a:lnSpc>
                <a:spcPts val="4687"/>
              </a:lnSpc>
            </a:pPr>
            <a:r>
              <a:rPr lang="en-US" sz="3749" b="1">
                <a:solidFill>
                  <a:srgbClr val="FF0000"/>
                </a:solidFill>
                <a:latin typeface="Open Sans 1 Bold"/>
                <a:ea typeface="Open Sans 1 Bold"/>
                <a:cs typeface="Open Sans 1 Bold"/>
                <a:sym typeface="Open Sans 1 Bold"/>
              </a:rPr>
              <a:t>Trân trọng kính chào !</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TotalTime>
  <Words>1424</Words>
  <Application>Microsoft Office PowerPoint</Application>
  <PresentationFormat>Custom</PresentationFormat>
  <Paragraphs>178</Paragraphs>
  <Slides>16</Slides>
  <Notes>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vt:i4>
      </vt:variant>
    </vt:vector>
  </HeadingPairs>
  <TitlesOfParts>
    <vt:vector size="26" baseType="lpstr">
      <vt:lpstr>Arial Bold</vt:lpstr>
      <vt:lpstr>Arial</vt:lpstr>
      <vt:lpstr>Open Sans 2</vt:lpstr>
      <vt:lpstr>Calibri</vt:lpstr>
      <vt:lpstr>Open Sans 2 Bold</vt:lpstr>
      <vt:lpstr>Verdana Bold</vt:lpstr>
      <vt:lpstr>Open Sans 1</vt:lpstr>
      <vt:lpstr>Open Sans 1 Bold</vt:lpstr>
      <vt:lpstr>Canva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report-template.pptx</dc:title>
  <cp:lastModifiedBy>Nguyễn Nhật Hào</cp:lastModifiedBy>
  <cp:revision>10</cp:revision>
  <dcterms:created xsi:type="dcterms:W3CDTF">2006-08-16T00:00:00Z</dcterms:created>
  <dcterms:modified xsi:type="dcterms:W3CDTF">2026-05-08T15:54:22Z</dcterms:modified>
  <dc:identifier>DAHIqnIYDS4</dc:identifier>
</cp:coreProperties>
</file>